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a grounding reference for building the prototype, not a pitch. The confidence tags are the whole point — they tell you what you can safely assert in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201168" cy="6858000"/>
          </a:xfrm>
          <a:prstGeom prst="rect">
            <a:avLst/>
          </a:prstGeom>
          <a:solidFill>
            <a:srgbClr val="B8791F"/>
          </a:solidFill>
          <a:ln/>
        </p:spPr>
      </p:sp>
      <p:sp>
        <p:nvSpPr>
          <p:cNvPr id="4" name="Shape 2"/>
          <p:cNvSpPr/>
          <p:nvPr/>
        </p:nvSpPr>
        <p:spPr>
          <a:xfrm>
            <a:off x="402336" y="0"/>
            <a:ext cx="201168" cy="6858000"/>
          </a:xfrm>
          <a:prstGeom prst="rect">
            <a:avLst/>
          </a:prstGeom>
          <a:solidFill>
            <a:srgbClr val="9E3B32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-1554480"/>
            <a:ext cx="5303520" cy="5303520"/>
          </a:xfrm>
          <a:prstGeom prst="ellipse">
            <a:avLst/>
          </a:prstGeom>
          <a:solidFill>
            <a:srgbClr val="313C5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GROUNDING REFERENCE  ·  JULY 2026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e.l.f. Beauty: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technology stack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60120" y="3310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 an agent-orchestration prototype on — and what to leave out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4160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in this deck carries a confidence tag: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4526280"/>
            <a:ext cx="1143000" cy="21945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53085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40280" y="45354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 a primary source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" y="4846320"/>
            <a:ext cx="1143000" cy="219456"/>
          </a:xfrm>
          <a:prstGeom prst="roundRect">
            <a:avLst>
              <a:gd name="adj" fmla="val 50000"/>
            </a:avLst>
          </a:prstGeom>
          <a:solidFill>
            <a:srgbClr val="B8791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85089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40280" y="4855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inference from the stack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4526280"/>
            <a:ext cx="1143000" cy="219456"/>
          </a:xfrm>
          <a:prstGeom prst="roundRect">
            <a:avLst>
              <a:gd name="adj" fmla="val 50000"/>
            </a:avLst>
          </a:prstGeom>
          <a:solidFill>
            <a:srgbClr val="9E3B32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453085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32320" y="45354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for, not evidenced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4846320"/>
            <a:ext cx="1143000" cy="219456"/>
          </a:xfrm>
          <a:prstGeom prst="roundRect">
            <a:avLst>
              <a:gd name="adj" fmla="val 50000"/>
            </a:avLst>
          </a:prstGeom>
          <a:solidFill>
            <a:srgbClr val="5A4FCF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485089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32320" y="4855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for it, not yet in place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5852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prior assumptions corrected inside: the LLM is AWS + Copilot + Writer, not Google Gemini; and "B.F.e.l.f." is unverified.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corrections to earlier assumptions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19072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9E3B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23644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16824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is not (confirmed to be) Google Gemini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066544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has appeared in every prior deck, tracing back to the first research report. No e.l.f.-specific source supports it — the prominent "beauty brand + Gemini" partnership is Ulta Beauty, a different company. e.l.f.'s executives describe a proprietary model hosted on AWS, with Microsoft Copilot and Writer as the agent-building vendors.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011680" y="2889504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prototype:  build the agent layer on Copilot + Writer over an AWS-hosted model. If you want a Google element, label it explicitly hypothetical.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529584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F4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730752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9E3B3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35324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11680" y="36941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"B.F.e.l.f." could not be independently confirmed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4078224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four internal agents are well-evidenced — e.l.f.uencer, e.l.f.line, e.l.f.phabet, e.l.f.alytics. The specific name "B.F.e.l.f." did not surface in any source located during this research. It may be real and simply under-reported, but it should not anchor a demo.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11680" y="4901184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prototype:  feature the four confirmed agents by name. Treat any internal general assistant generically unless you can verify the name.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5559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a criticism of the earlier work — it is what a targeted stack-level search turns up that a company-and-strategy search does not.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tech stack  ·  Prototype grounding reference  ·  July 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155680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7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architecture, one 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880360" cy="768096"/>
          </a:xfrm>
          <a:prstGeom prst="roundRect">
            <a:avLst>
              <a:gd name="adj" fmla="val 7143"/>
            </a:avLst>
          </a:prstGeom>
          <a:solidFill>
            <a:srgbClr val="323C52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093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&amp; agents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" y="1938528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4310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0" y="1463040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9" name="Shape 7"/>
          <p:cNvSpPr/>
          <p:nvPr/>
        </p:nvSpPr>
        <p:spPr>
          <a:xfrm>
            <a:off x="3785616" y="1609344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3767328" y="1773936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48656" y="1463040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376672" y="1609344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3" name="Text 11"/>
          <p:cNvSpPr/>
          <p:nvPr/>
        </p:nvSpPr>
        <p:spPr>
          <a:xfrm>
            <a:off x="5358384" y="1773936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39712" y="1463040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967728" y="1609344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1773936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AWS-hosted LLM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430768" y="1463040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558784" y="1609344"/>
            <a:ext cx="128016" cy="128016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19" name="Text 17"/>
          <p:cNvSpPr/>
          <p:nvPr/>
        </p:nvSpPr>
        <p:spPr>
          <a:xfrm>
            <a:off x="8540496" y="1773936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AI (enablement)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021824" y="1463040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49840" y="1609344"/>
            <a:ext cx="128016" cy="128016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22" name="Text 20"/>
          <p:cNvSpPr/>
          <p:nvPr/>
        </p:nvSpPr>
        <p:spPr>
          <a:xfrm>
            <a:off x="10131552" y="1773936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2340864"/>
            <a:ext cx="2880360" cy="768096"/>
          </a:xfrm>
          <a:prstGeom prst="roundRect">
            <a:avLst>
              <a:gd name="adj" fmla="val 7143"/>
            </a:avLst>
          </a:prstGeom>
          <a:solidFill>
            <a:srgbClr val="323C52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2487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&amp; experience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9808" y="2816352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282092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0" y="2340864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28" name="Shape 26"/>
          <p:cNvSpPr/>
          <p:nvPr/>
        </p:nvSpPr>
        <p:spPr>
          <a:xfrm>
            <a:off x="3785616" y="2487168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9" name="Text 27"/>
          <p:cNvSpPr/>
          <p:nvPr/>
        </p:nvSpPr>
        <p:spPr>
          <a:xfrm>
            <a:off x="3767328" y="265176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Commerce Cloud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48656" y="2340864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31" name="Shape 29"/>
          <p:cNvSpPr/>
          <p:nvPr/>
        </p:nvSpPr>
        <p:spPr>
          <a:xfrm>
            <a:off x="5376672" y="2487168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2" name="Text 30"/>
          <p:cNvSpPr/>
          <p:nvPr/>
        </p:nvSpPr>
        <p:spPr>
          <a:xfrm>
            <a:off x="5358384" y="265176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(Rhode, Naturium)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39712" y="2340864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34" name="Shape 32"/>
          <p:cNvSpPr/>
          <p:nvPr/>
        </p:nvSpPr>
        <p:spPr>
          <a:xfrm>
            <a:off x="6967728" y="2487168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265176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430768" y="2340864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37" name="Shape 35"/>
          <p:cNvSpPr/>
          <p:nvPr/>
        </p:nvSpPr>
        <p:spPr>
          <a:xfrm>
            <a:off x="8558784" y="2487168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8" name="Text 36"/>
          <p:cNvSpPr/>
          <p:nvPr/>
        </p:nvSpPr>
        <p:spPr>
          <a:xfrm>
            <a:off x="8540496" y="265176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Marketing Cloud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" y="3218688"/>
            <a:ext cx="2880360" cy="768096"/>
          </a:xfrm>
          <a:prstGeom prst="roundRect">
            <a:avLst>
              <a:gd name="adj" fmla="val 7143"/>
            </a:avLst>
          </a:prstGeom>
          <a:solidFill>
            <a:srgbClr val="323C52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3364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service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49808" y="3694176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369874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657600" y="3218688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44" name="Shape 42"/>
          <p:cNvSpPr/>
          <p:nvPr/>
        </p:nvSpPr>
        <p:spPr>
          <a:xfrm>
            <a:off x="3785616" y="3364992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45" name="Text 43"/>
          <p:cNvSpPr/>
          <p:nvPr/>
        </p:nvSpPr>
        <p:spPr>
          <a:xfrm>
            <a:off x="3767328" y="3529584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Service Cloud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48656" y="3218688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47" name="Shape 45"/>
          <p:cNvSpPr/>
          <p:nvPr/>
        </p:nvSpPr>
        <p:spPr>
          <a:xfrm>
            <a:off x="5376672" y="3364992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48" name="Text 46"/>
          <p:cNvSpPr/>
          <p:nvPr/>
        </p:nvSpPr>
        <p:spPr>
          <a:xfrm>
            <a:off x="5358384" y="3529584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Squad loyalty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39712" y="3218688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50" name="Shape 48"/>
          <p:cNvSpPr/>
          <p:nvPr/>
        </p:nvSpPr>
        <p:spPr>
          <a:xfrm>
            <a:off x="6967728" y="3364992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51" name="Text 49"/>
          <p:cNvSpPr/>
          <p:nvPr/>
        </p:nvSpPr>
        <p:spPr>
          <a:xfrm>
            <a:off x="6949440" y="3529584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Einstein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66928" y="4096512"/>
            <a:ext cx="2880360" cy="768096"/>
          </a:xfrm>
          <a:prstGeom prst="roundRect">
            <a:avLst>
              <a:gd name="adj" fmla="val 7143"/>
            </a:avLst>
          </a:prstGeom>
          <a:solidFill>
            <a:srgbClr val="323C52"/>
          </a:solidFill>
          <a:ln/>
        </p:spPr>
      </p:sp>
      <p:sp>
        <p:nvSpPr>
          <p:cNvPr id="53" name="Text 51"/>
          <p:cNvSpPr/>
          <p:nvPr/>
        </p:nvSpPr>
        <p:spPr>
          <a:xfrm>
            <a:off x="749808" y="4242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49808" y="457200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55" name="Text 53"/>
          <p:cNvSpPr/>
          <p:nvPr/>
        </p:nvSpPr>
        <p:spPr>
          <a:xfrm>
            <a:off x="749808" y="457657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657600" y="4096512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57" name="Shape 55"/>
          <p:cNvSpPr/>
          <p:nvPr/>
        </p:nvSpPr>
        <p:spPr>
          <a:xfrm>
            <a:off x="3785616" y="4242816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58" name="Text 56"/>
          <p:cNvSpPr/>
          <p:nvPr/>
        </p:nvSpPr>
        <p:spPr>
          <a:xfrm>
            <a:off x="3767328" y="440740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(warehouse)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248656" y="4096512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60" name="Shape 58"/>
          <p:cNvSpPr/>
          <p:nvPr/>
        </p:nvSpPr>
        <p:spPr>
          <a:xfrm>
            <a:off x="5376672" y="4242816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61" name="Text 59"/>
          <p:cNvSpPr/>
          <p:nvPr/>
        </p:nvSpPr>
        <p:spPr>
          <a:xfrm>
            <a:off x="5358384" y="440740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/ SnapLogic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39712" y="4096512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63" name="Shape 61"/>
          <p:cNvSpPr/>
          <p:nvPr/>
        </p:nvSpPr>
        <p:spPr>
          <a:xfrm>
            <a:off x="6967728" y="4242816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64" name="Text 62"/>
          <p:cNvSpPr/>
          <p:nvPr/>
        </p:nvSpPr>
        <p:spPr>
          <a:xfrm>
            <a:off x="6949440" y="440740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· Fivetran · Airflow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430768" y="4096512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66" name="Shape 64"/>
          <p:cNvSpPr/>
          <p:nvPr/>
        </p:nvSpPr>
        <p:spPr>
          <a:xfrm>
            <a:off x="8558784" y="4242816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67" name="Text 65"/>
          <p:cNvSpPr/>
          <p:nvPr/>
        </p:nvSpPr>
        <p:spPr>
          <a:xfrm>
            <a:off x="8540496" y="440740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0021824" y="4096512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69" name="Shape 67"/>
          <p:cNvSpPr/>
          <p:nvPr/>
        </p:nvSpPr>
        <p:spPr>
          <a:xfrm>
            <a:off x="10149840" y="4242816"/>
            <a:ext cx="128016" cy="128016"/>
          </a:xfrm>
          <a:prstGeom prst="ellipse">
            <a:avLst/>
          </a:prstGeom>
          <a:solidFill>
            <a:srgbClr val="5A4FCF"/>
          </a:solidFill>
          <a:ln/>
        </p:spPr>
      </p:sp>
      <p:sp>
        <p:nvSpPr>
          <p:cNvPr id="70" name="Text 68"/>
          <p:cNvSpPr/>
          <p:nvPr/>
        </p:nvSpPr>
        <p:spPr>
          <a:xfrm>
            <a:off x="10131552" y="440740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 (Atlan)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66928" y="4974336"/>
            <a:ext cx="2880360" cy="768096"/>
          </a:xfrm>
          <a:prstGeom prst="roundRect">
            <a:avLst>
              <a:gd name="adj" fmla="val 7143"/>
            </a:avLst>
          </a:prstGeom>
          <a:solidFill>
            <a:srgbClr val="323C52"/>
          </a:solidFill>
          <a:ln/>
        </p:spPr>
      </p:sp>
      <p:sp>
        <p:nvSpPr>
          <p:cNvPr id="72" name="Text 70"/>
          <p:cNvSpPr/>
          <p:nvPr/>
        </p:nvSpPr>
        <p:spPr>
          <a:xfrm>
            <a:off x="749808" y="5120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749808" y="544982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74" name="Text 72"/>
          <p:cNvSpPr/>
          <p:nvPr/>
        </p:nvSpPr>
        <p:spPr>
          <a:xfrm>
            <a:off x="749808" y="545439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657600" y="4974336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76" name="Shape 74"/>
          <p:cNvSpPr/>
          <p:nvPr/>
        </p:nvSpPr>
        <p:spPr>
          <a:xfrm>
            <a:off x="3785616" y="5120640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77" name="Text 75"/>
          <p:cNvSpPr/>
          <p:nvPr/>
        </p:nvSpPr>
        <p:spPr>
          <a:xfrm>
            <a:off x="3767328" y="528523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ERP — cloud, live 2025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248656" y="4974336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79" name="Shape 77"/>
          <p:cNvSpPr/>
          <p:nvPr/>
        </p:nvSpPr>
        <p:spPr>
          <a:xfrm>
            <a:off x="5376672" y="5120640"/>
            <a:ext cx="128016" cy="128016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80" name="Text 78"/>
          <p:cNvSpPr/>
          <p:nvPr/>
        </p:nvSpPr>
        <p:spPr>
          <a:xfrm>
            <a:off x="5358384" y="528523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vs RISE edition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839712" y="4974336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82" name="Shape 80"/>
          <p:cNvSpPr/>
          <p:nvPr/>
        </p:nvSpPr>
        <p:spPr>
          <a:xfrm>
            <a:off x="6967728" y="5120640"/>
            <a:ext cx="128016" cy="128016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83" name="Text 81"/>
          <p:cNvSpPr/>
          <p:nvPr/>
        </p:nvSpPr>
        <p:spPr>
          <a:xfrm>
            <a:off x="6949440" y="528523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IBP (planning)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8430768" y="4974336"/>
            <a:ext cx="1517904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85" name="Shape 83"/>
          <p:cNvSpPr/>
          <p:nvPr/>
        </p:nvSpPr>
        <p:spPr>
          <a:xfrm>
            <a:off x="8558784" y="5120640"/>
            <a:ext cx="128016" cy="128016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86" name="Text 84"/>
          <p:cNvSpPr/>
          <p:nvPr/>
        </p:nvSpPr>
        <p:spPr>
          <a:xfrm>
            <a:off x="8540496" y="528523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66928" y="59253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bottom to top: SAP and Snowflake are the grounded core. Everything an agent reads should originate here.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566928" y="63825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tech stack  ·  Prototype grounding reference  ·  July 2026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11155680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8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SYSTEMS OF RECORD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ERP — the grounded core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5486400" cy="2788920"/>
          </a:xfrm>
          <a:prstGeom prst="roundRect">
            <a:avLst>
              <a:gd name="adj" fmla="val 1967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confirmed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0116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from Oracle NetSuite to SAP ERP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live summer 2025 (CIO Dive, Nov 2025)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integrating finance, manufacturing, supply chain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by the CTO/AI Officer as the data backbone for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913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CIO Dive, Fortune (Sept 2025), earnings commentary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36208" y="1499616"/>
            <a:ext cx="539496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inferred — verify before relying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10528" y="2048256"/>
            <a:ext cx="128016" cy="128016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11" name="Text 9"/>
          <p:cNvSpPr/>
          <p:nvPr/>
        </p:nvSpPr>
        <p:spPr>
          <a:xfrm>
            <a:off x="6748272" y="2011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Edition: S/4HANA Cloud vs RISE with SAP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10528" y="2450592"/>
            <a:ext cx="128016" cy="128016"/>
          </a:xfrm>
          <a:prstGeom prst="ellipse">
            <a:avLst/>
          </a:prstGeom>
          <a:solidFill>
            <a:srgbClr val="9E3B32"/>
          </a:solidFill>
          <a:ln/>
        </p:spPr>
      </p:sp>
      <p:sp>
        <p:nvSpPr>
          <p:cNvPr id="13" name="Text 11"/>
          <p:cNvSpPr/>
          <p:nvPr/>
        </p:nvSpPr>
        <p:spPr>
          <a:xfrm>
            <a:off x="6748272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integrator (Deloitte / Accenture / other)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10528" y="2852928"/>
            <a:ext cx="128016" cy="128016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15" name="Text 13"/>
          <p:cNvSpPr/>
          <p:nvPr/>
        </p:nvSpPr>
        <p:spPr>
          <a:xfrm>
            <a:off x="6748272" y="28163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SD, MM, FICO, IBP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10528" y="3255264"/>
            <a:ext cx="128016" cy="128016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17" name="Text 15"/>
          <p:cNvSpPr/>
          <p:nvPr/>
        </p:nvSpPr>
        <p:spPr>
          <a:xfrm>
            <a:off x="6748272" y="3218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/ Datasphere / Analytics Cloud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10528" y="3657600"/>
            <a:ext cx="128016" cy="128016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19" name="Text 17"/>
          <p:cNvSpPr/>
          <p:nvPr/>
        </p:nvSpPr>
        <p:spPr>
          <a:xfrm>
            <a:off x="6748272" y="36210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IBP as the demand-planning tool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041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mid-2020s cloud ERP at this scale → S/4HANA via RISE is the likely shape, but treat as inference.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4443984"/>
            <a:ext cx="11064240" cy="1060704"/>
          </a:xfrm>
          <a:prstGeom prst="roundRect">
            <a:avLst>
              <a:gd name="adj" fmla="val 5172"/>
            </a:avLst>
          </a:prstGeom>
          <a:solidFill>
            <a:srgbClr val="273043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608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implication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49194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SAP as the source of truth for finance, orders, inventory and trade. Agents read operational state from here. You do NOT need the exact edition to build a convincing demo — a labelled "SAP ERP (S/4HANA, cloud)" node is defensible. Name the module (e.g. SD for order data) only where the scenario needs it.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tech stack  ·  Prototype grounding reference  ·  July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155680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DATA &amp;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 and the pipeline around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7452360" cy="2286000"/>
          </a:xfrm>
          <a:prstGeom prst="roundRect">
            <a:avLst>
              <a:gd name="adj" fmla="val 2400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642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from job postings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9536" y="2039112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933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19933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RBAC, virtual warehouses, streams, time travel, zero-copy clone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59536" y="2386584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3408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/ SnapLogic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34086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no-code / low-code ELT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59536" y="2734056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6883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· Fivetran · Airflow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68833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 the Head of Data &amp; AI posting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9536" y="3081528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0358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03580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BI layer (DAX, Power Query)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9536" y="3429000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3832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Matillion · Azure Data Factory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3832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in other postings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02168" y="1499616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0768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49056" y="2048256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0" y="2002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— hosts the AI model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49056" y="2377440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23317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Microsoft — heavy footprint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49056" y="2871216"/>
            <a:ext cx="128016" cy="128016"/>
          </a:xfrm>
          <a:prstGeom prst="ellipse">
            <a:avLst/>
          </a:prstGeom>
          <a:solidFill>
            <a:srgbClr val="9E3B32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/ BigQuery — not confirmed in production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30768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Multi-cloud, AWS-anchored for AI.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950208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4114800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9E3B32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119372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011680" y="4078224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found: vector DB, named RAG framework, CDP, data-science platform (Databricks / Vertex / SageMaker), reverse-ETL, MDM tool. The retrieval architecture behind the internal agents is not public.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5010912"/>
            <a:ext cx="11064240" cy="950976"/>
          </a:xfrm>
          <a:prstGeom prst="roundRect">
            <a:avLst>
              <a:gd name="adj" fmla="val 5769"/>
            </a:avLst>
          </a:prstGeom>
          <a:solidFill>
            <a:srgbClr val="273043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" y="5175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implication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" y="548640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is the analytical spine — model the semantic layer and agent read-queries against it, with dbt as the definitions layer. This is the most defensible place to ground assembly-layer sub-agents. For a vector store, pick one and label it your own design choice, not an e.l.f. fact.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" y="63825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tech stack  ·  Prototype grounding reference  ·  July 2026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155680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COMMERCE, CRM &amp; MARTECH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deliberately split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5486400" cy="2432304"/>
          </a:xfrm>
          <a:prstGeom prst="roundRect">
            <a:avLst>
              <a:gd name="adj" fmla="val 2256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estate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751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is described as the only beauty company integrated across Commerce, Marketing and Service Cloud.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" y="2505456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Cloud — elfcosmetics.com, Keys Soulcare, Well People (SFRA, PWA Kit, React, Einstein)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Cloud — email / journeys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Cloud — customer care (Lightning Console)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36208" y="1499616"/>
            <a:ext cx="5394960" cy="2432304"/>
          </a:xfrm>
          <a:prstGeom prst="roundRect">
            <a:avLst>
              <a:gd name="adj" fmla="val 2256"/>
            </a:avLst>
          </a:prstGeom>
          <a:solidFill>
            <a:srgbClr val="F4F6FA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10528" y="2020824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/>
          <p:nvPr/>
        </p:nvSpPr>
        <p:spPr>
          <a:xfrm>
            <a:off x="6748272" y="19751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0" y="19751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Rhode and Naturium DTC sites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10528" y="2404872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6748272" y="2359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0" y="23591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/ app engagement (+125% MAU)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10528" y="2788920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5"/>
          <p:cNvSpPr/>
          <p:nvPr/>
        </p:nvSpPr>
        <p:spPr>
          <a:xfrm>
            <a:off x="6748272" y="2743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Squad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0" y="27432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data engine, 5.3–6M members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10528" y="3172968"/>
            <a:ext cx="128016" cy="128016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20" name="Text 18"/>
          <p:cNvSpPr/>
          <p:nvPr/>
        </p:nvSpPr>
        <p:spPr>
          <a:xfrm>
            <a:off x="6748272" y="3127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Yotpo / Smile.io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0" y="3127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loyalty — vendor conflicting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10528" y="3557016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3" name="Text 21"/>
          <p:cNvSpPr/>
          <p:nvPr/>
        </p:nvSpPr>
        <p:spPr>
          <a:xfrm>
            <a:off x="6748272" y="35112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Firefly · Midjourney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0" y="35112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genAI exploration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" y="407822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224528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9E3B32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229100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11680" y="422452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confirmed: SMS vendor (Attentive / Klaviyo), social listening (Sprinklr / Dash Hudson), influencer platform, attribution / measurement, formal CDP.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504748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273043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implication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5522976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is the interesting part: a Product or Customer agent must reconcile Salesforce (flagship brands) with Shopify (Rhode, Naturium). That cross-platform reconciliation is a genuine, realistic assembly-layer problem worth featuring in the demo.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tech stack  ·  Prototype grounding reference  ·  July 2026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155680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AI &amp;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e.l.f. actually runs today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682496"/>
            <a:ext cx="146304" cy="14630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609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e.l.f.uencer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9019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REPLIES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" y="213969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TikTok/IG comment responses. ~90% on-brand voice; every comment human-touched.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88536" y="1481328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4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07992" y="1682496"/>
            <a:ext cx="146304" cy="14630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/>
          <p:nvPr/>
        </p:nvSpPr>
        <p:spPr>
          <a:xfrm>
            <a:off x="4745736" y="1609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e.l.f.line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45736" y="19019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 DESK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26280" y="213969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IT support sidekick, ~1 FTE of deflected work.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10144" y="1481328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4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682496"/>
            <a:ext cx="146304" cy="14630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8467344" y="1609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e.l.f.phabet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67344" y="19019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47888" y="213969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research assistant.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2852928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4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" y="3054096"/>
            <a:ext cx="146304" cy="14630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" y="29809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e.l.f.alytics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32735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4672" y="351129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Data-analyst agent, in beta. Role-based guardrails.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88536" y="2852928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4F6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07992" y="3054096"/>
            <a:ext cx="146304" cy="14630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6" name="Text 24"/>
          <p:cNvSpPr/>
          <p:nvPr/>
        </p:nvSpPr>
        <p:spPr>
          <a:xfrm>
            <a:off x="4745736" y="29809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e.l.f.nalysis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45736" y="32735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26280" y="351129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Pinterest-partnered selfie colour tool (June 2025).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10144" y="2852928"/>
            <a:ext cx="3566160" cy="1243584"/>
          </a:xfrm>
          <a:prstGeom prst="roundRect">
            <a:avLst>
              <a:gd name="adj" fmla="val 4412"/>
            </a:avLst>
          </a:prstGeom>
          <a:solidFill>
            <a:srgbClr val="F4F6FA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0" y="3054096"/>
            <a:ext cx="146304" cy="146304"/>
          </a:xfrm>
          <a:prstGeom prst="ellipse">
            <a:avLst/>
          </a:prstGeom>
          <a:solidFill>
            <a:srgbClr val="9E3B32"/>
          </a:solidFill>
          <a:ln/>
        </p:spPr>
      </p:sp>
      <p:sp>
        <p:nvSpPr>
          <p:cNvPr id="31" name="Text 29"/>
          <p:cNvSpPr/>
          <p:nvPr/>
        </p:nvSpPr>
        <p:spPr>
          <a:xfrm>
            <a:off x="8467344" y="29809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"B.F.e.l.f."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67344" y="32735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ASSISTANT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47888" y="351129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cited but not independently verified in this research.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" y="4315968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462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they're built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47548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+ Writer as agent builders, over a proprietary model hosted on AWS. Section AI for enablement via the "e.l.f. you!" portal.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36208" y="4315968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4462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they're governed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92240" y="47548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agentic pilots. Cross-functional AI steering committee (legal, marketing, R&amp;D). Human-in-the-loop is a stated principle. Goal: most pilots to production within six months.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" y="543153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this in the prototype: Copilot/Writer-style agents, a human approval gate, and the four confirmed agents as the existing peers your orchestration layer would connect.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tech stack  ·  Prototype grounding reference  ·  July 2026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155680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7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confirmed ontology or semantic layer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486400" cy="2880360"/>
          </a:xfrm>
          <a:prstGeom prst="roundRect">
            <a:avLst>
              <a:gd name="adj" fmla="val 1905"/>
            </a:avLst>
          </a:prstGeom>
          <a:solidFill>
            <a:srgbClr val="323C5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007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search found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9536" y="2093976"/>
            <a:ext cx="128016" cy="128016"/>
          </a:xfrm>
          <a:prstGeom prst="ellipse">
            <a:avLst/>
          </a:prstGeom>
          <a:solidFill>
            <a:srgbClr val="9E3B3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482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enterprise ontology or knowledge graph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59536" y="2496312"/>
            <a:ext cx="128016" cy="128016"/>
          </a:xfrm>
          <a:prstGeom prst="ellipse">
            <a:avLst/>
          </a:prstGeom>
          <a:solidFill>
            <a:srgbClr val="9E3B3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450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graph DB — Neo4j, Palantir, Stardog, TopQuadrant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9536" y="2898648"/>
            <a:ext cx="128016" cy="128016"/>
          </a:xfrm>
          <a:prstGeom prst="ellipse">
            <a:avLst/>
          </a:prstGeom>
          <a:solidFill>
            <a:srgbClr val="9E3B3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852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RDF / OWL / SPARQL / semantic-layer evidence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59536" y="3300984"/>
            <a:ext cx="128016" cy="128016"/>
          </a:xfrm>
          <a:prstGeom prst="ellipse">
            <a:avLst/>
          </a:prstGeom>
          <a:solidFill>
            <a:srgbClr val="9E3B3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255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KG/Collibra posting near e.l.f. is L'Oréal's — do not attribute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" y="3703320"/>
            <a:ext cx="128016" cy="128016"/>
          </a:xfrm>
          <a:prstGeom prst="ellipse">
            <a:avLst/>
          </a:prstGeom>
          <a:solidFill>
            <a:srgbClr val="5A4FC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 (Atlan/Collibra/Alation) appears only as a hiring requirement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9536" y="4105656"/>
            <a:ext cx="128016" cy="128016"/>
          </a:xfrm>
          <a:prstGeom prst="ellipse">
            <a:avLst/>
          </a:prstGeom>
          <a:solidFill>
            <a:srgbClr val="5A4FCF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0599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/ observability (Monte Carlo / Soda) — also aspirational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36208" y="1517904"/>
            <a:ext cx="5394960" cy="2880360"/>
          </a:xfrm>
          <a:prstGeom prst="roundRect">
            <a:avLst>
              <a:gd name="adj" fmla="val 1905"/>
            </a:avLst>
          </a:prstGeom>
          <a:solidFill>
            <a:srgbClr val="F4F6FA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7007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good news for you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10528" y="2048256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 layer is the moat — and it doesn't exist yet at e.l.f.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can BE the argument for building it, not assume it away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Head of Data &amp; AI role is being hired to build exactly this on Snowflake + Atlan/Collibra + Monte Carlo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your ontology as the forward-looking capability e.l.f. is already staffing toward — authentic, not fabricated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535424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0F1420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700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implication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50109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ontology / semantic layer as YOUR proposed addition — the connective tissue e.l.f.'s stack is missing. Present it as aspirational-but-imminent (they're hiring for it), never as deployed. This is the single most defensible framing in the whole prototype.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tech stack  ·  Prototype grounding reference  ·  July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155680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8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verify before it matters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642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&amp; planning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66544"/>
            <a:ext cx="5029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Demand-planning tool (SAP IBP inferred, not confirmed)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data platforms (Luminate, Circana, NielsenIQ)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promotion management system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providers · 3PL / WMS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63056" y="1499616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6642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regulatory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19088" y="2066544"/>
            <a:ext cx="5029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PLM (Centric / SAP PLM) — none confirmed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regulatory / compliance system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tooling for product master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65760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2219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224528"/>
            <a:ext cx="5029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strongly inferred, not stated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vs Teams unknown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tooling unknown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365760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4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82219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 &amp;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19088" y="4224528"/>
            <a:ext cx="5029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— none confirmed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/ RAG framework — none public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/ marketing measurement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58704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block a prototype. Each is a place to say "assumed for the demo" out loud rather than imply certainty.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tech stack  ·  Prototype grounding reference  ·  July 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155680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ground the prototype authentically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64240" cy="859536"/>
          </a:xfrm>
          <a:prstGeom prst="roundRect">
            <a:avLst>
              <a:gd name="adj" fmla="val 6383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19072"/>
            <a:ext cx="402336" cy="402336"/>
          </a:xfrm>
          <a:prstGeom prst="ellipse">
            <a:avLst/>
          </a:prstGeom>
          <a:solidFill>
            <a:srgbClr val="27304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08176" y="16093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on the confirmed 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08176" y="190195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(finance, orders, inventory, trade) and Snowflake (analytics) as systems of record. This is the most defensible foundation and everything else hangs off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395728"/>
            <a:ext cx="1106424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633472"/>
            <a:ext cx="402336" cy="402336"/>
          </a:xfrm>
          <a:prstGeom prst="ellipse">
            <a:avLst/>
          </a:prstGeom>
          <a:solidFill>
            <a:srgbClr val="27304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08176" y="2523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 the way e.l.f. does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08176" y="281635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+ Writer over an AWS-hosted model, with a human approval gate. Reuse the four real agent names as the existing peers your orchestrator connects.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11064240" cy="859536"/>
          </a:xfrm>
          <a:prstGeom prst="roundRect">
            <a:avLst>
              <a:gd name="adj" fmla="val 6383"/>
            </a:avLst>
          </a:prstGeom>
          <a:solidFill>
            <a:srgbClr val="F4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27304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08176" y="3438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split a feature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08176" y="373075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assembly layer reconcile Salesforce (flagship brands) with Shopify (Rhode, Naturium). It's real, it's specific, and it demonstrates cross-domain value.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224528"/>
            <a:ext cx="1106424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3DA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462272"/>
            <a:ext cx="402336" cy="402336"/>
          </a:xfrm>
          <a:prstGeom prst="ellipse">
            <a:avLst/>
          </a:prstGeom>
          <a:solidFill>
            <a:srgbClr val="27304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08176" y="43525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the ontology as your addition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08176" y="464515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 layer is the missing connective tissue. Show it as the capability e.l.f. is hiring toward — aspirational, not deployed.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138928"/>
            <a:ext cx="11064240" cy="859536"/>
          </a:xfrm>
          <a:prstGeom prst="roundRect">
            <a:avLst>
              <a:gd name="adj" fmla="val 6383"/>
            </a:avLst>
          </a:prstGeom>
          <a:solidFill>
            <a:srgbClr val="F4F6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5376672"/>
            <a:ext cx="402336" cy="402336"/>
          </a:xfrm>
          <a:prstGeom prst="ellipse">
            <a:avLst/>
          </a:prstGeom>
          <a:solidFill>
            <a:srgbClr val="27304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76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08176" y="52669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every assumption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08176" y="555955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infer (SAP edition, IBP, M365), say so in the demo. Grounding credibility comes from being explicit about the seams.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63825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tech stack  ·  Prototype grounding reference  ·  July 2026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55680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A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7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201168" cy="6858000"/>
          </a:xfrm>
          <a:prstGeom prst="rect">
            <a:avLst/>
          </a:prstGeom>
          <a:solidFill>
            <a:srgbClr val="B8791F"/>
          </a:solidFill>
          <a:ln/>
        </p:spPr>
      </p:sp>
      <p:sp>
        <p:nvSpPr>
          <p:cNvPr id="4" name="Shape 2"/>
          <p:cNvSpPr/>
          <p:nvPr/>
        </p:nvSpPr>
        <p:spPr>
          <a:xfrm>
            <a:off x="402336" y="0"/>
            <a:ext cx="201168" cy="6858000"/>
          </a:xfrm>
          <a:prstGeom prst="rect">
            <a:avLst/>
          </a:prstGeom>
          <a:solidFill>
            <a:srgbClr val="9E3B32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3657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RELY ON THIS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 caveats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85216" y="1591056"/>
            <a:ext cx="310896" cy="310896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591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55448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show direction and intent strongly — but some items, especially the Atlan/Collibra catalog and Monte Carlo observability, are requirements for roles still being hired. Aspirational, not deployed.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" y="2450592"/>
            <a:ext cx="310896" cy="310896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2414016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stack aggregators (LeadIQ and similar) are low-reliability. Anaplan and some SAP module details rest partly on these and are low-confidence.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" y="3310128"/>
            <a:ext cx="310896" cy="310896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992" y="3273552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Google/Gemini LLM assumption from earlier decks appears to conflate e.l.f. with Ulta Beauty. The confirmed stack is AWS + Copilot + Writer.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" y="4169664"/>
            <a:ext cx="310896" cy="310896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413308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"B.F.e.l.f." appears in the brief but was not independently confirmed here. The verified agents are e.l.f.uencer, e.l.f.line, e.l.f.phabet, e.l.f.alytics.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" y="5029200"/>
            <a:ext cx="310896" cy="310896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" y="5029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4992624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membership (5.3–6M) and headcount figures vary by source and period. SAP edition and systems integrator remain undisclosed.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" y="59253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July 2026. Confidence tags reflect what a stack-level search surfaced — re-verify anything load-bearing before a client-facing demo.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tech stack  ·  Prototype grounding reference  ·  July 2026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55680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8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2026-07-25T06:57:55Z</dcterms:created>
  <dcterms:modified xsi:type="dcterms:W3CDTF">2026-07-25T06:57:55Z</dcterms:modified>
</cp:coreProperties>
</file>