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CADCFC"/>
                </a:solidFill>
                <a:latin typeface="Calibri"/>
              </a:defRPr>
            </a:pPr>
            <a:r>
              <a:rPr sz="1200" b="0" i="0" u="none" strike="noStrike">
                <a:solidFill>
                  <a:srgbClr val="CADCFC"/>
                </a:solidFill>
                <a:latin typeface="Calibri"/>
              </a:rPr>
              <a:t>MIT Project NANDA, July 2025</a:t>
            </a:r>
          </a:p>
        </c:rich>
      </c:tx>
      <c:layout/>
      <c:overlay val="0"/>
    </c:title>
    <c:autoTitleDeleted val="0"/>
    <c:plotArea>
      <c:layout/>
      <c:doughnutChart>
        <c:varyColors val="1"/>
        <c:ser>
          <c:idx val="0"/>
          <c:order val="0"/>
          <c:tx>
            <c:strRef>
              <c:f>Sheet1!$B$1</c:f>
              <c:strCache>
                <c:ptCount val="1"/>
                <c:pt idx="0">
                  <c:v>Integrated AI pilots</c:v>
                </c:pt>
              </c:strCache>
            </c:strRef>
          </c:tx>
          <c:spPr>
            <a:solidFill>
              <a:schemeClr val="accent1"/>
            </a:solidFill>
            <a:ln w="9525" cap="flat">
              <a:solidFill>
                <a:srgbClr val="F9F9F9"/>
              </a:solidFill>
              <a:prstDash val="solid"/>
              <a:round/>
            </a:ln>
            <a:effectLst/>
          </c:spPr>
          <c:dPt>
            <c:idx val="0"/>
            <c:bubble3D val="0"/>
            <c:spPr>
              <a:solidFill>
                <a:srgbClr val="D08C34"/>
              </a:solidFill>
              <a:effectLst/>
            </c:spPr>
          </c:dPt>
          <c:dPt>
            <c:idx val="1"/>
            <c:bubble3D val="0"/>
            <c:spPr>
              <a:solidFill>
                <a:srgbClr val="39427A"/>
              </a:solidFill>
              <a:effectLst/>
            </c:spPr>
          </c:dPt>
          <c:dLbls>
            <c:dLbl>
              <c:idx val="0"/>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Extracting real value</c:v>
                </c:pt>
                <c:pt idx="1">
                  <c:v>No measurable P&amp;L impact</c:v>
                </c:pt>
              </c:strCache>
            </c:strRef>
          </c:cat>
          <c:val>
            <c:numRef>
              <c:f>Sheet1!$B$2:$B$3</c:f>
              <c:numCache>
                <c:ptCount val="2"/>
                <c:pt idx="0">
                  <c:v>5</c:v>
                </c:pt>
                <c:pt idx="1">
                  <c:v>95</c:v>
                </c:pt>
              </c:numCache>
            </c:numRef>
          </c:val>
        </c:ser>
        <c:firstSliceAng val="0"/>
        <c:holeSize val="55"/>
      </c:doughnutChart>
      <c:spPr>
        <a:noFill/>
        <a:ln>
          <a:noFill/>
        </a:ln>
        <a:effectLst/>
      </c:spPr>
    </c:plotArea>
    <c:legend>
      <c:legendPos val="b"/>
      <c:overlay val="0"/>
      <c:txPr>
        <a:bodyPr/>
        <a:lstStyle/>
        <a:p>
          <a:pPr>
            <a:defRPr sz="1000">
              <a:solidFill>
                <a:srgbClr val="CADCF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A1F35"/>
                </a:solidFill>
                <a:latin typeface="Calibri"/>
              </a:defRPr>
            </a:pPr>
            <a:r>
              <a:rPr sz="1250" b="0" i="0" u="none" strike="noStrike">
                <a:solidFill>
                  <a:srgbClr val="1A1F35"/>
                </a:solidFill>
                <a:latin typeface="Calibri"/>
              </a:rPr>
              <a:t>Reported adoption rates across deployments (%)</a:t>
            </a:r>
          </a:p>
        </c:rich>
      </c:tx>
      <c:layout/>
      <c:overlay val="0"/>
    </c:title>
    <c:autoTitleDeleted val="0"/>
    <c:plotArea>
      <c:layout/>
      <c:barChart>
        <c:barDir val="col"/>
        <c:grouping val="clustered"/>
        <c:varyColors val="0"/>
        <c:ser>
          <c:idx val="0"/>
          <c:order val="0"/>
          <c:tx>
            <c:strRef>
              <c:f>Sheet1!$B$1</c:f>
              <c:strCache>
                <c:ptCount val="1"/>
                <c:pt idx="0">
                  <c:v>Reported adoption (%)</c:v>
                </c:pt>
              </c:strCache>
            </c:strRef>
          </c:tx>
          <c:spPr>
            <a:solidFill>
              <a:srgbClr val="1E2761"/>
            </a:solidFill>
            <a:effectLst/>
          </c:spPr>
          <c:invertIfNegative val="0"/>
          <c:dLbls>
            <c:numFmt formatCode="#,##0" sourceLinked="0"/>
            <c:txPr>
              <a:bodyPr/>
              <a:lstStyle/>
              <a:p>
                <a:pPr>
                  <a:defRPr b="0" i="0" strike="noStrike" sz="1100" u="none">
                    <a:solidFill>
                      <a:srgbClr val="1A1F35"/>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D08C34"/>
              </a:solidFill>
              <a:effectLst/>
            </c:spPr>
          </c:dPt>
          <c:dPt>
            <c:idx val="4"/>
            <c:invertIfNegative val="0"/>
            <c:bubble3D val="0"/>
            <c:spPr>
              <a:solidFill>
                <a:srgbClr val="A8B0CE"/>
              </a:solidFill>
              <a:effectLst/>
            </c:spPr>
          </c:dPt>
          <c:cat>
            <c:multiLvlStrRef>
              <c:f>Sheet1!$A$2:$A$6</c:f>
              <c:multiLvlStrCache>
                <c:ptCount val="5"/>
                <c:lvl>
                  <c:pt idx="0">
                    <c:v>Morgan Stanley
(advisor teams)</c:v>
                  </c:pt>
                  <c:pt idx="1">
                    <c:v>Moderna</c:v>
                  </c:pt>
                  <c:pt idx="2">
                    <c:v>McKinsey Lilli</c:v>
                  </c:pt>
                  <c:pt idx="3">
                    <c:v>e.l.f. B.F.e.l.f.
(today)</c:v>
                  </c:pt>
                  <c:pt idx="4">
                    <c:v>M365 Copilot
(typical plateau)</c:v>
                  </c:pt>
                </c:lvl>
              </c:multiLvlStrCache>
            </c:multiLvlStrRef>
          </c:cat>
          <c:val>
            <c:numRef>
              <c:f>Sheet1!$B$2:$B$6</c:f>
              <c:numCache>
                <c:formatCode>General</c:formatCode>
                <c:ptCount val="5"/>
                <c:pt idx="0">
                  <c:v>98</c:v>
                </c:pt>
                <c:pt idx="1">
                  <c:v>80</c:v>
                </c:pt>
                <c:pt idx="2">
                  <c:v>72</c:v>
                </c:pt>
                <c:pt idx="3">
                  <c:v>80</c:v>
                </c:pt>
                <c:pt idx="4">
                  <c:v>30</c:v>
                </c:pt>
              </c:numCache>
            </c:numRef>
          </c:val>
        </c:ser>
        <c:dLbls>
          <c:numFmt formatCode="#,##0" sourceLinked="0"/>
          <c:txPr>
            <a:bodyPr/>
            <a:lstStyle/>
            <a:p>
              <a:pPr>
                <a:defRPr b="0" i="0" strike="noStrike" sz="1100" u="none">
                  <a:solidFill>
                    <a:srgbClr val="1A1F35"/>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396"/>
                </a:solidFill>
                <a:latin typeface="Calibri"/>
              </a:defRPr>
            </a:pPr>
            <a:endParaRPr lang="en-US"/>
          </a:p>
        </c:txPr>
        <c:crossAx val="2094734552"/>
        <c:crosses val="autoZero"/>
        <c:auto val="1"/>
        <c:lblAlgn val="ctr"/>
        <c:noMultiLvlLbl val="1"/>
      </c:catAx>
      <c:valAx>
        <c:axId val="2094734552"/>
        <c:scaling>
          <c:orientation val="minMax"/>
          <c:max val="110"/>
        </c:scaling>
        <c:delete val="0"/>
        <c:axPos val="l"/>
        <c:majorGridlines>
          <c:spPr>
            <a:ln w="12700" cap="flat">
              <a:solidFill>
                <a:srgbClr val="E4E9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39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precedent is real but the base rate of failure is high. This deck argues for buy-and-integrate, narrow scope, and permissions-first.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slide when pitching internally. It pre-empts the obvious objection and establishes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plateau figure is directional — independent data shows median workplace conversion well below ChatGPT's, with Gartner putting only ~6% of enterprises beyond pilot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869680" y="-1645920"/>
            <a:ext cx="5852160" cy="5852160"/>
          </a:xfrm>
          <a:prstGeom prst="ellipse">
            <a:avLst/>
          </a:prstGeom>
          <a:solidFill>
            <a:srgbClr val="2A3573"/>
          </a:solidFill>
          <a:ln/>
        </p:spPr>
      </p:sp>
      <p:sp>
        <p:nvSpPr>
          <p:cNvPr id="3" name="Shape 1"/>
          <p:cNvSpPr/>
          <p:nvPr/>
        </p:nvSpPr>
        <p:spPr>
          <a:xfrm>
            <a:off x="10332720" y="3200400"/>
            <a:ext cx="4206240" cy="4206240"/>
          </a:xfrm>
          <a:prstGeom prst="ellipse">
            <a:avLst/>
          </a:prstGeom>
          <a:solidFill>
            <a:srgbClr val="161D4E"/>
          </a:solidFill>
          <a:ln/>
        </p:spPr>
      </p:sp>
      <p:sp>
        <p:nvSpPr>
          <p:cNvPr id="4" name="Text 2"/>
          <p:cNvSpPr/>
          <p:nvPr/>
        </p:nvSpPr>
        <p:spPr>
          <a:xfrm>
            <a:off x="777240" y="1298448"/>
            <a:ext cx="8229600"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DEEP RESEARCH BRIEFING  ·  JULY 2026</a:t>
            </a:r>
            <a:endParaRPr lang="en-US" sz="1200" dirty="0"/>
          </a:p>
        </p:txBody>
      </p:sp>
      <p:sp>
        <p:nvSpPr>
          <p:cNvPr id="5" name="Text 3"/>
          <p:cNvSpPr/>
          <p:nvPr/>
        </p:nvSpPr>
        <p:spPr>
          <a:xfrm>
            <a:off x="731520" y="1700784"/>
            <a:ext cx="841248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Corporate Second Brain</a:t>
            </a:r>
            <a:endParaRPr lang="en-US" sz="4400" dirty="0"/>
          </a:p>
        </p:txBody>
      </p:sp>
      <p:sp>
        <p:nvSpPr>
          <p:cNvPr id="6" name="Text 4"/>
          <p:cNvSpPr/>
          <p:nvPr/>
        </p:nvSpPr>
        <p:spPr>
          <a:xfrm>
            <a:off x="777240" y="2999232"/>
            <a:ext cx="7772400" cy="73152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What large enterprises have actually built, what worked, and what it means for e.l.f. Beauty</a:t>
            </a:r>
            <a:endParaRPr lang="en-US" sz="1700" dirty="0"/>
          </a:p>
        </p:txBody>
      </p:sp>
      <p:sp>
        <p:nvSpPr>
          <p:cNvPr id="7" name="Shape 5"/>
          <p:cNvSpPr/>
          <p:nvPr/>
        </p:nvSpPr>
        <p:spPr>
          <a:xfrm>
            <a:off x="777240" y="3803904"/>
            <a:ext cx="1371600" cy="27432"/>
          </a:xfrm>
          <a:prstGeom prst="rect">
            <a:avLst/>
          </a:prstGeom>
          <a:solidFill>
            <a:srgbClr val="D08C34"/>
          </a:solidFill>
          <a:ln/>
        </p:spPr>
      </p:sp>
      <p:sp>
        <p:nvSpPr>
          <p:cNvPr id="8" name="Text 6"/>
          <p:cNvSpPr/>
          <p:nvPr/>
        </p:nvSpPr>
        <p:spPr>
          <a:xfrm>
            <a:off x="777240" y="4160520"/>
            <a:ext cx="210312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9" name="Text 7"/>
          <p:cNvSpPr/>
          <p:nvPr/>
        </p:nvSpPr>
        <p:spPr>
          <a:xfrm>
            <a:off x="777240" y="4754880"/>
            <a:ext cx="2103120" cy="45720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of AI pilots deliver value</a:t>
            </a:r>
            <a:endParaRPr lang="en-US" sz="1100" dirty="0"/>
          </a:p>
        </p:txBody>
      </p:sp>
      <p:sp>
        <p:nvSpPr>
          <p:cNvPr id="10" name="Text 8"/>
          <p:cNvSpPr/>
          <p:nvPr/>
        </p:nvSpPr>
        <p:spPr>
          <a:xfrm>
            <a:off x="2990088" y="4160520"/>
            <a:ext cx="210312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1" name="Text 9"/>
          <p:cNvSpPr/>
          <p:nvPr/>
        </p:nvSpPr>
        <p:spPr>
          <a:xfrm>
            <a:off x="2990088" y="4754880"/>
            <a:ext cx="2103120" cy="45720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vendor tools beat internal builds</a:t>
            </a:r>
            <a:endParaRPr lang="en-US" sz="1100" dirty="0"/>
          </a:p>
        </p:txBody>
      </p:sp>
      <p:sp>
        <p:nvSpPr>
          <p:cNvPr id="12" name="Text 10"/>
          <p:cNvSpPr/>
          <p:nvPr/>
        </p:nvSpPr>
        <p:spPr>
          <a:xfrm>
            <a:off x="5202936" y="4160520"/>
            <a:ext cx="210312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72%</a:t>
            </a:r>
            <a:endParaRPr lang="en-US" sz="3000" dirty="0"/>
          </a:p>
        </p:txBody>
      </p:sp>
      <p:sp>
        <p:nvSpPr>
          <p:cNvPr id="13" name="Text 11"/>
          <p:cNvSpPr/>
          <p:nvPr/>
        </p:nvSpPr>
        <p:spPr>
          <a:xfrm>
            <a:off x="5202936" y="4754880"/>
            <a:ext cx="2103120" cy="45720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McKinsey Lilli adoption</a:t>
            </a:r>
            <a:endParaRPr lang="en-US" sz="1100" dirty="0"/>
          </a:p>
        </p:txBody>
      </p:sp>
      <p:sp>
        <p:nvSpPr>
          <p:cNvPr id="14" name="Text 12"/>
          <p:cNvSpPr/>
          <p:nvPr/>
        </p:nvSpPr>
        <p:spPr>
          <a:xfrm>
            <a:off x="7415784" y="4160520"/>
            <a:ext cx="210312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$7.2B</a:t>
            </a:r>
            <a:endParaRPr lang="en-US" sz="3000" dirty="0"/>
          </a:p>
        </p:txBody>
      </p:sp>
      <p:sp>
        <p:nvSpPr>
          <p:cNvPr id="15" name="Text 13"/>
          <p:cNvSpPr/>
          <p:nvPr/>
        </p:nvSpPr>
        <p:spPr>
          <a:xfrm>
            <a:off x="7415784" y="4754880"/>
            <a:ext cx="2103120" cy="45720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Glean valuation</a:t>
            </a:r>
            <a:endParaRPr lang="en-US" sz="1100" dirty="0"/>
          </a:p>
        </p:txBody>
      </p:sp>
      <p:sp>
        <p:nvSpPr>
          <p:cNvPr id="16" name="Text 14"/>
          <p:cNvSpPr/>
          <p:nvPr/>
        </p:nvSpPr>
        <p:spPr>
          <a:xfrm>
            <a:off x="777240" y="5943600"/>
            <a:ext cx="9601200" cy="457200"/>
          </a:xfrm>
          <a:prstGeom prst="rect">
            <a:avLst/>
          </a:prstGeom>
          <a:noFill/>
          <a:ln/>
        </p:spPr>
        <p:txBody>
          <a:bodyPr wrap="square" lIns="0" tIns="0" rIns="0" bIns="0" rtlCol="0" anchor="ctr"/>
          <a:lstStyle/>
          <a:p>
            <a:pPr indent="0" marL="0">
              <a:buNone/>
            </a:pPr>
            <a:r>
              <a:rPr lang="en-US" sz="950" dirty="0">
                <a:solidFill>
                  <a:srgbClr val="A8B4DE"/>
                </a:solidFill>
                <a:latin typeface="Calibri" pitchFamily="34" charset="0"/>
                <a:ea typeface="Calibri" pitchFamily="34" charset="-122"/>
                <a:cs typeface="Calibri" pitchFamily="34" charset="-120"/>
              </a:rPr>
              <a:t>Sources: MIT Project NANDA, Gartner, OpenAI and Google customer cases, McKinsey, BCG, Moderna/HBS, Nestlé, CIO Dive, Forrester TEI</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EXECUTIVE SUMMARY</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Three things the evidence says</a:t>
            </a:r>
            <a:endParaRPr lang="en-US" sz="2900" dirty="0"/>
          </a:p>
        </p:txBody>
      </p:sp>
      <p:sp>
        <p:nvSpPr>
          <p:cNvPr id="4" name="Shape 2"/>
          <p:cNvSpPr/>
          <p:nvPr/>
        </p:nvSpPr>
        <p:spPr>
          <a:xfrm>
            <a:off x="566928" y="1572768"/>
            <a:ext cx="11064240" cy="1298448"/>
          </a:xfrm>
          <a:prstGeom prst="roundRect">
            <a:avLst>
              <a:gd name="adj" fmla="val 5634"/>
            </a:avLst>
          </a:prstGeom>
          <a:solidFill>
            <a:srgbClr val="F5F7FC"/>
          </a:solidFill>
          <a:ln/>
        </p:spPr>
      </p:sp>
      <p:sp>
        <p:nvSpPr>
          <p:cNvPr id="5" name="Shape 3"/>
          <p:cNvSpPr/>
          <p:nvPr/>
        </p:nvSpPr>
        <p:spPr>
          <a:xfrm>
            <a:off x="841248" y="2011680"/>
            <a:ext cx="457200" cy="457200"/>
          </a:xfrm>
          <a:prstGeom prst="ellipse">
            <a:avLst/>
          </a:prstGeom>
          <a:solidFill>
            <a:srgbClr val="1E2761"/>
          </a:solidFill>
          <a:ln/>
        </p:spPr>
      </p:sp>
      <p:sp>
        <p:nvSpPr>
          <p:cNvPr id="6" name="Text 4"/>
          <p:cNvSpPr/>
          <p:nvPr/>
        </p:nvSpPr>
        <p:spPr>
          <a:xfrm>
            <a:off x="841248"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63040" y="1773936"/>
            <a:ext cx="5943600" cy="329184"/>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precedent is deep, but narrow</a:t>
            </a:r>
            <a:endParaRPr lang="en-US" sz="1450" dirty="0"/>
          </a:p>
        </p:txBody>
      </p:sp>
      <p:sp>
        <p:nvSpPr>
          <p:cNvPr id="8" name="Text 6"/>
          <p:cNvSpPr/>
          <p:nvPr/>
        </p:nvSpPr>
        <p:spPr>
          <a:xfrm>
            <a:off x="1463040" y="2121408"/>
            <a:ext cx="9875520" cy="603504"/>
          </a:xfrm>
          <a:prstGeom prst="rect">
            <a:avLst/>
          </a:prstGeom>
          <a:noFill/>
          <a:ln/>
        </p:spPr>
        <p:txBody>
          <a:bodyPr wrap="square" lIns="0" tIns="0" rIns="0" bIns="0" rtlCol="0" anchor="ctr"/>
          <a:lstStyle/>
          <a:p>
            <a:pPr indent="0" marL="0">
              <a:buNone/>
            </a:pPr>
            <a:r>
              <a:rPr lang="en-US" sz="1150" dirty="0">
                <a:solidFill>
                  <a:srgbClr val="1A1F35"/>
                </a:solidFill>
                <a:latin typeface="Calibri" pitchFamily="34" charset="0"/>
                <a:ea typeface="Calibri" pitchFamily="34" charset="-122"/>
                <a:cs typeface="Calibri" pitchFamily="34" charset="-120"/>
              </a:rPr>
              <a:t>The enterprises that succeeded — Morgan Stanley, McKinsey, Moderna, Nestlé, JPMorgan — built a permissions-aware retrieval layer over their own proprietary corpus, with obsessive change management. Not a chatbot project.</a:t>
            </a:r>
            <a:endParaRPr lang="en-US" sz="1150" dirty="0"/>
          </a:p>
        </p:txBody>
      </p:sp>
      <p:sp>
        <p:nvSpPr>
          <p:cNvPr id="9" name="Shape 7"/>
          <p:cNvSpPr/>
          <p:nvPr/>
        </p:nvSpPr>
        <p:spPr>
          <a:xfrm>
            <a:off x="566928" y="2999232"/>
            <a:ext cx="11064240" cy="1298448"/>
          </a:xfrm>
          <a:prstGeom prst="roundRect">
            <a:avLst>
              <a:gd name="adj" fmla="val 5634"/>
            </a:avLst>
          </a:prstGeom>
          <a:solidFill>
            <a:srgbClr val="F5F7FC"/>
          </a:solidFill>
          <a:ln/>
        </p:spPr>
      </p:sp>
      <p:sp>
        <p:nvSpPr>
          <p:cNvPr id="10" name="Shape 8"/>
          <p:cNvSpPr/>
          <p:nvPr/>
        </p:nvSpPr>
        <p:spPr>
          <a:xfrm>
            <a:off x="841248" y="3438144"/>
            <a:ext cx="457200" cy="457200"/>
          </a:xfrm>
          <a:prstGeom prst="ellipse">
            <a:avLst/>
          </a:prstGeom>
          <a:solidFill>
            <a:srgbClr val="1E2761"/>
          </a:solidFill>
          <a:ln/>
        </p:spPr>
      </p:sp>
      <p:sp>
        <p:nvSpPr>
          <p:cNvPr id="11" name="Text 9"/>
          <p:cNvSpPr/>
          <p:nvPr/>
        </p:nvSpPr>
        <p:spPr>
          <a:xfrm>
            <a:off x="841248" y="34381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63040" y="3200400"/>
            <a:ext cx="5943600" cy="329184"/>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Failure is the base rate</a:t>
            </a:r>
            <a:endParaRPr lang="en-US" sz="1450" dirty="0"/>
          </a:p>
        </p:txBody>
      </p:sp>
      <p:sp>
        <p:nvSpPr>
          <p:cNvPr id="13" name="Text 11"/>
          <p:cNvSpPr/>
          <p:nvPr/>
        </p:nvSpPr>
        <p:spPr>
          <a:xfrm>
            <a:off x="1463040" y="3547872"/>
            <a:ext cx="9875520" cy="603504"/>
          </a:xfrm>
          <a:prstGeom prst="rect">
            <a:avLst/>
          </a:prstGeom>
          <a:noFill/>
          <a:ln/>
        </p:spPr>
        <p:txBody>
          <a:bodyPr wrap="square" lIns="0" tIns="0" rIns="0" bIns="0" rtlCol="0" anchor="ctr"/>
          <a:lstStyle/>
          <a:p>
            <a:pPr indent="0" marL="0">
              <a:buNone/>
            </a:pPr>
            <a:r>
              <a:rPr lang="en-US" sz="1150" dirty="0">
                <a:solidFill>
                  <a:srgbClr val="1A1F35"/>
                </a:solidFill>
                <a:latin typeface="Calibri" pitchFamily="34" charset="0"/>
                <a:ea typeface="Calibri" pitchFamily="34" charset="-122"/>
                <a:cs typeface="Calibri" pitchFamily="34" charset="-120"/>
              </a:rPr>
              <a:t>MIT Project NANDA (July 2025): just 5% of integrated AI pilots extract real value. Gartner forecasts 40%+ of agentic AI projects cancelled by end-2027. Pre-AI knowledge management failed at ~50% for the same reasons.</a:t>
            </a:r>
            <a:endParaRPr lang="en-US" sz="1150" dirty="0"/>
          </a:p>
        </p:txBody>
      </p:sp>
      <p:sp>
        <p:nvSpPr>
          <p:cNvPr id="14" name="Shape 12"/>
          <p:cNvSpPr/>
          <p:nvPr/>
        </p:nvSpPr>
        <p:spPr>
          <a:xfrm>
            <a:off x="566928" y="4425696"/>
            <a:ext cx="11064240" cy="1298448"/>
          </a:xfrm>
          <a:prstGeom prst="roundRect">
            <a:avLst>
              <a:gd name="adj" fmla="val 5634"/>
            </a:avLst>
          </a:prstGeom>
          <a:solidFill>
            <a:srgbClr val="F5F7FC"/>
          </a:solidFill>
          <a:ln/>
        </p:spPr>
      </p:sp>
      <p:sp>
        <p:nvSpPr>
          <p:cNvPr id="15" name="Shape 13"/>
          <p:cNvSpPr/>
          <p:nvPr/>
        </p:nvSpPr>
        <p:spPr>
          <a:xfrm>
            <a:off x="841248" y="4864608"/>
            <a:ext cx="457200" cy="457200"/>
          </a:xfrm>
          <a:prstGeom prst="ellipse">
            <a:avLst/>
          </a:prstGeom>
          <a:solidFill>
            <a:srgbClr val="1E2761"/>
          </a:solidFill>
          <a:ln/>
        </p:spPr>
      </p:sp>
      <p:sp>
        <p:nvSpPr>
          <p:cNvPr id="16" name="Text 14"/>
          <p:cNvSpPr/>
          <p:nvPr/>
        </p:nvSpPr>
        <p:spPr>
          <a:xfrm>
            <a:off x="841248" y="4864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63040" y="4626864"/>
            <a:ext cx="5943600" cy="329184"/>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For e.l.f., buy beats build</a:t>
            </a:r>
            <a:endParaRPr lang="en-US" sz="1450" dirty="0"/>
          </a:p>
        </p:txBody>
      </p:sp>
      <p:sp>
        <p:nvSpPr>
          <p:cNvPr id="18" name="Text 16"/>
          <p:cNvSpPr/>
          <p:nvPr/>
        </p:nvSpPr>
        <p:spPr>
          <a:xfrm>
            <a:off x="1463040" y="4974336"/>
            <a:ext cx="9875520" cy="603504"/>
          </a:xfrm>
          <a:prstGeom prst="rect">
            <a:avLst/>
          </a:prstGeom>
          <a:noFill/>
          <a:ln/>
        </p:spPr>
        <p:txBody>
          <a:bodyPr wrap="square" lIns="0" tIns="0" rIns="0" bIns="0" rtlCol="0" anchor="ctr"/>
          <a:lstStyle/>
          <a:p>
            <a:pPr indent="0" marL="0">
              <a:buNone/>
            </a:pPr>
            <a:r>
              <a:rPr lang="en-US" sz="1150" dirty="0">
                <a:solidFill>
                  <a:srgbClr val="1A1F35"/>
                </a:solidFill>
                <a:latin typeface="Calibri" pitchFamily="34" charset="0"/>
                <a:ea typeface="Calibri" pitchFamily="34" charset="-122"/>
                <a:cs typeface="Calibri" pitchFamily="34" charset="-120"/>
              </a:rPr>
              <a:t>MIT found vendor tools succeed roughly twice as often as internal builds. At ~600–900 employees with Google already selected as LLM and SAP as backbone, e.l.f. should connect sources, not construct a Lilli.</a:t>
            </a:r>
            <a:endParaRPr lang="en-US" sz="1150" dirty="0"/>
          </a:p>
        </p:txBody>
      </p:sp>
      <p:sp>
        <p:nvSpPr>
          <p:cNvPr id="19" name="Text 17"/>
          <p:cNvSpPr/>
          <p:nvPr/>
        </p:nvSpPr>
        <p:spPr>
          <a:xfrm>
            <a:off x="566928" y="5870448"/>
            <a:ext cx="11064240" cy="310896"/>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The gap at e.l.f. is not assistants — it already has five. It is the connective layer across Slack, Workspace, SAP, tickets and meeting transcripts.</a:t>
            </a:r>
            <a:endParaRPr lang="en-US" sz="1150" dirty="0"/>
          </a:p>
        </p:txBody>
      </p:sp>
      <p:sp>
        <p:nvSpPr>
          <p:cNvPr id="20" name="Text 18"/>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1" name="Text 19"/>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DEFINITION</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What a "second brain" actually means</a:t>
            </a:r>
            <a:endParaRPr lang="en-US" sz="2900" dirty="0"/>
          </a:p>
        </p:txBody>
      </p:sp>
      <p:sp>
        <p:nvSpPr>
          <p:cNvPr id="4" name="Shape 2"/>
          <p:cNvSpPr/>
          <p:nvPr/>
        </p:nvSpPr>
        <p:spPr>
          <a:xfrm>
            <a:off x="566928" y="1517904"/>
            <a:ext cx="5394960" cy="2103120"/>
          </a:xfrm>
          <a:prstGeom prst="roundRect">
            <a:avLst>
              <a:gd name="adj" fmla="val 3478"/>
            </a:avLst>
          </a:prstGeom>
          <a:solidFill>
            <a:srgbClr val="F5F7FC"/>
          </a:solidFill>
          <a:ln/>
        </p:spPr>
      </p:sp>
      <p:sp>
        <p:nvSpPr>
          <p:cNvPr id="5" name="Text 3"/>
          <p:cNvSpPr/>
          <p:nvPr/>
        </p:nvSpPr>
        <p:spPr>
          <a:xfrm>
            <a:off x="822960" y="1700784"/>
            <a:ext cx="49377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What it is</a:t>
            </a:r>
            <a:endParaRPr lang="en-US" sz="1350" dirty="0"/>
          </a:p>
        </p:txBody>
      </p:sp>
      <p:sp>
        <p:nvSpPr>
          <p:cNvPr id="6" name="Text 4"/>
          <p:cNvSpPr/>
          <p:nvPr/>
        </p:nvSpPr>
        <p:spPr>
          <a:xfrm>
            <a:off x="822960" y="2048256"/>
            <a:ext cx="4937760" cy="1426464"/>
          </a:xfrm>
          <a:prstGeom prst="rect">
            <a:avLst/>
          </a:prstGeom>
          <a:noFill/>
          <a:ln/>
        </p:spPr>
        <p:txBody>
          <a:bodyPr wrap="square" lIns="0" tIns="0" rIns="0" bIns="0" rtlCol="0" anchor="ctr"/>
          <a:lstStyle/>
          <a:p>
            <a:pPr indent="0" marL="0">
              <a:buNone/>
            </a:pPr>
            <a:r>
              <a:rPr lang="en-US" sz="1150" dirty="0">
                <a:solidFill>
                  <a:srgbClr val="1A1F35"/>
                </a:solidFill>
                <a:latin typeface="Calibri" pitchFamily="34" charset="0"/>
                <a:ea typeface="Calibri" pitchFamily="34" charset="-122"/>
                <a:cs typeface="Calibri" pitchFamily="34" charset="-120"/>
              </a:rPr>
              <a:t>A permissions-aware retrieval layer that captures, organises and makes searchable the institutional knowledge scattered across an organisation — documents, wikis, chat, email, meeting transcripts, CRM notes, tickets, and the decision rationale that normally lives only in people's heads.</a:t>
            </a:r>
            <a:endParaRPr lang="en-US" sz="1150" dirty="0"/>
          </a:p>
        </p:txBody>
      </p:sp>
      <p:sp>
        <p:nvSpPr>
          <p:cNvPr id="7" name="Shape 5"/>
          <p:cNvSpPr/>
          <p:nvPr/>
        </p:nvSpPr>
        <p:spPr>
          <a:xfrm>
            <a:off x="6236208" y="1517904"/>
            <a:ext cx="5394960" cy="2103120"/>
          </a:xfrm>
          <a:prstGeom prst="roundRect">
            <a:avLst>
              <a:gd name="adj" fmla="val 3478"/>
            </a:avLst>
          </a:prstGeom>
          <a:solidFill>
            <a:srgbClr val="1E2761"/>
          </a:solidFill>
          <a:ln/>
        </p:spPr>
      </p:sp>
      <p:sp>
        <p:nvSpPr>
          <p:cNvPr id="8" name="Text 6"/>
          <p:cNvSpPr/>
          <p:nvPr/>
        </p:nvSpPr>
        <p:spPr>
          <a:xfrm>
            <a:off x="6492240" y="1700784"/>
            <a:ext cx="4937760" cy="274320"/>
          </a:xfrm>
          <a:prstGeom prst="rect">
            <a:avLst/>
          </a:prstGeom>
          <a:noFill/>
          <a:ln/>
        </p:spPr>
        <p:txBody>
          <a:bodyPr wrap="square" lIns="0" tIns="0" rIns="0" bIns="0" rtlCol="0" anchor="ctr"/>
          <a:lstStyle/>
          <a:p>
            <a:pPr indent="0" marL="0">
              <a:buNone/>
            </a:pPr>
            <a:r>
              <a:rPr lang="en-US" sz="1350" b="1" dirty="0">
                <a:solidFill>
                  <a:srgbClr val="CADCFC"/>
                </a:solidFill>
                <a:latin typeface="Calibri" pitchFamily="34" charset="0"/>
                <a:ea typeface="Calibri" pitchFamily="34" charset="-122"/>
                <a:cs typeface="Calibri" pitchFamily="34" charset="-120"/>
              </a:rPr>
              <a:t>What it is not</a:t>
            </a:r>
            <a:endParaRPr lang="en-US" sz="1350" dirty="0"/>
          </a:p>
        </p:txBody>
      </p:sp>
      <p:sp>
        <p:nvSpPr>
          <p:cNvPr id="9" name="Text 7"/>
          <p:cNvSpPr/>
          <p:nvPr/>
        </p:nvSpPr>
        <p:spPr>
          <a:xfrm>
            <a:off x="6510528" y="2048256"/>
            <a:ext cx="4937760" cy="1426464"/>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Not another chatbot — assistants answer, brains remember</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Not a document repository — storage is not retrieval</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Not a model problem — it is an integration and governance problem</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Not an IT project — adoption decides the outcome</a:t>
            </a:r>
            <a:endParaRPr lang="en-US" sz="1150" dirty="0"/>
          </a:p>
        </p:txBody>
      </p:sp>
      <p:sp>
        <p:nvSpPr>
          <p:cNvPr id="10" name="Text 8"/>
          <p:cNvSpPr/>
          <p:nvPr/>
        </p:nvSpPr>
        <p:spPr>
          <a:xfrm>
            <a:off x="566928" y="3858768"/>
            <a:ext cx="640080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problem it solves</a:t>
            </a:r>
            <a:endParaRPr lang="en-US" sz="1450" dirty="0"/>
          </a:p>
        </p:txBody>
      </p:sp>
      <p:sp>
        <p:nvSpPr>
          <p:cNvPr id="11" name="Shape 9"/>
          <p:cNvSpPr/>
          <p:nvPr/>
        </p:nvSpPr>
        <p:spPr>
          <a:xfrm>
            <a:off x="566928" y="4261104"/>
            <a:ext cx="2615184" cy="1572768"/>
          </a:xfrm>
          <a:prstGeom prst="roundRect">
            <a:avLst>
              <a:gd name="adj" fmla="val 4651"/>
            </a:avLst>
          </a:prstGeom>
          <a:solidFill>
            <a:srgbClr val="FFFFFF"/>
          </a:solidFill>
          <a:ln w="12700">
            <a:solidFill>
              <a:srgbClr val="D9E0F2"/>
            </a:solidFill>
            <a:prstDash val="solid"/>
          </a:ln>
        </p:spPr>
      </p:sp>
      <p:sp>
        <p:nvSpPr>
          <p:cNvPr id="12" name="Text 10"/>
          <p:cNvSpPr/>
          <p:nvPr/>
        </p:nvSpPr>
        <p:spPr>
          <a:xfrm>
            <a:off x="804672" y="4443984"/>
            <a:ext cx="2194560" cy="420624"/>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~20%</a:t>
            </a:r>
            <a:endParaRPr lang="en-US" sz="2100" dirty="0"/>
          </a:p>
        </p:txBody>
      </p:sp>
      <p:sp>
        <p:nvSpPr>
          <p:cNvPr id="13" name="Text 11"/>
          <p:cNvSpPr/>
          <p:nvPr/>
        </p:nvSpPr>
        <p:spPr>
          <a:xfrm>
            <a:off x="804672" y="4919472"/>
            <a:ext cx="2212848" cy="822960"/>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of the working week lost to searching for information (McKinsey Global Institute)</a:t>
            </a:r>
            <a:endParaRPr lang="en-US" sz="1000" dirty="0"/>
          </a:p>
        </p:txBody>
      </p:sp>
      <p:sp>
        <p:nvSpPr>
          <p:cNvPr id="14" name="Shape 12"/>
          <p:cNvSpPr/>
          <p:nvPr/>
        </p:nvSpPr>
        <p:spPr>
          <a:xfrm>
            <a:off x="3383280" y="4261104"/>
            <a:ext cx="2615184" cy="1572768"/>
          </a:xfrm>
          <a:prstGeom prst="roundRect">
            <a:avLst>
              <a:gd name="adj" fmla="val 4651"/>
            </a:avLst>
          </a:prstGeom>
          <a:solidFill>
            <a:srgbClr val="FFFFFF"/>
          </a:solidFill>
          <a:ln w="12700">
            <a:solidFill>
              <a:srgbClr val="D9E0F2"/>
            </a:solidFill>
            <a:prstDash val="solid"/>
          </a:ln>
        </p:spPr>
      </p:sp>
      <p:sp>
        <p:nvSpPr>
          <p:cNvPr id="15" name="Text 13"/>
          <p:cNvSpPr/>
          <p:nvPr/>
        </p:nvSpPr>
        <p:spPr>
          <a:xfrm>
            <a:off x="3621024" y="4443984"/>
            <a:ext cx="2194560" cy="420624"/>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1 day</a:t>
            </a:r>
            <a:endParaRPr lang="en-US" sz="2100" dirty="0"/>
          </a:p>
        </p:txBody>
      </p:sp>
      <p:sp>
        <p:nvSpPr>
          <p:cNvPr id="16" name="Text 14"/>
          <p:cNvSpPr/>
          <p:nvPr/>
        </p:nvSpPr>
        <p:spPr>
          <a:xfrm>
            <a:off x="3621024" y="4919472"/>
            <a:ext cx="2212848" cy="822960"/>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per week wasted per employee on information search (Interact)</a:t>
            </a:r>
            <a:endParaRPr lang="en-US" sz="1000" dirty="0"/>
          </a:p>
        </p:txBody>
      </p:sp>
      <p:sp>
        <p:nvSpPr>
          <p:cNvPr id="17" name="Shape 15"/>
          <p:cNvSpPr/>
          <p:nvPr/>
        </p:nvSpPr>
        <p:spPr>
          <a:xfrm>
            <a:off x="6199632" y="4261104"/>
            <a:ext cx="2615184" cy="1572768"/>
          </a:xfrm>
          <a:prstGeom prst="roundRect">
            <a:avLst>
              <a:gd name="adj" fmla="val 4651"/>
            </a:avLst>
          </a:prstGeom>
          <a:solidFill>
            <a:srgbClr val="FFFFFF"/>
          </a:solidFill>
          <a:ln w="12700">
            <a:solidFill>
              <a:srgbClr val="D9E0F2"/>
            </a:solidFill>
            <a:prstDash val="solid"/>
          </a:ln>
        </p:spPr>
      </p:sp>
      <p:sp>
        <p:nvSpPr>
          <p:cNvPr id="18" name="Text 16"/>
          <p:cNvSpPr/>
          <p:nvPr/>
        </p:nvSpPr>
        <p:spPr>
          <a:xfrm>
            <a:off x="6437376" y="4443984"/>
            <a:ext cx="2194560" cy="420624"/>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Tribal</a:t>
            </a:r>
            <a:endParaRPr lang="en-US" sz="2100" dirty="0"/>
          </a:p>
        </p:txBody>
      </p:sp>
      <p:sp>
        <p:nvSpPr>
          <p:cNvPr id="19" name="Text 17"/>
          <p:cNvSpPr/>
          <p:nvPr/>
        </p:nvSpPr>
        <p:spPr>
          <a:xfrm>
            <a:off x="6437376" y="4919472"/>
            <a:ext cx="2212848" cy="822960"/>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knowledge walks out the door — acute in fast-hiring, multi-brand companies</a:t>
            </a:r>
            <a:endParaRPr lang="en-US" sz="1000" dirty="0"/>
          </a:p>
        </p:txBody>
      </p:sp>
      <p:sp>
        <p:nvSpPr>
          <p:cNvPr id="20" name="Shape 18"/>
          <p:cNvSpPr/>
          <p:nvPr/>
        </p:nvSpPr>
        <p:spPr>
          <a:xfrm>
            <a:off x="9015984" y="4261104"/>
            <a:ext cx="2615184" cy="1572768"/>
          </a:xfrm>
          <a:prstGeom prst="roundRect">
            <a:avLst>
              <a:gd name="adj" fmla="val 4651"/>
            </a:avLst>
          </a:prstGeom>
          <a:solidFill>
            <a:srgbClr val="FFFFFF"/>
          </a:solidFill>
          <a:ln w="12700">
            <a:solidFill>
              <a:srgbClr val="D9E0F2"/>
            </a:solidFill>
            <a:prstDash val="solid"/>
          </a:ln>
        </p:spPr>
      </p:sp>
      <p:sp>
        <p:nvSpPr>
          <p:cNvPr id="21" name="Text 19"/>
          <p:cNvSpPr/>
          <p:nvPr/>
        </p:nvSpPr>
        <p:spPr>
          <a:xfrm>
            <a:off x="9253728" y="4443984"/>
            <a:ext cx="2194560" cy="420624"/>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Silos</a:t>
            </a:r>
            <a:endParaRPr lang="en-US" sz="2100" dirty="0"/>
          </a:p>
        </p:txBody>
      </p:sp>
      <p:sp>
        <p:nvSpPr>
          <p:cNvPr id="22" name="Text 20"/>
          <p:cNvSpPr/>
          <p:nvPr/>
        </p:nvSpPr>
        <p:spPr>
          <a:xfrm>
            <a:off x="9253728" y="4919472"/>
            <a:ext cx="2212848" cy="822960"/>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cross-brand and cross-function learnings never compound</a:t>
            </a:r>
            <a:endParaRPr lang="en-US" sz="1000" dirty="0"/>
          </a:p>
        </p:txBody>
      </p:sp>
      <p:sp>
        <p:nvSpPr>
          <p:cNvPr id="23" name="Text 21"/>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4" name="Text 22"/>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CADCFC"/>
                </a:solidFill>
                <a:latin typeface="Calibri" pitchFamily="34" charset="0"/>
                <a:ea typeface="Calibri" pitchFamily="34" charset="-122"/>
                <a:cs typeface="Calibri" pitchFamily="34" charset="-120"/>
              </a:rPr>
              <a:t>REALITY CHECK</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Read this before building anything</a:t>
            </a:r>
            <a:endParaRPr lang="en-US" sz="2900" dirty="0"/>
          </a:p>
        </p:txBody>
      </p:sp>
      <p:graphicFrame>
        <p:nvGraphicFramePr>
          <p:cNvPr id="4" name="Chart 0" descr=""/>
          <p:cNvGraphicFramePr/>
          <p:nvPr/>
        </p:nvGraphicFramePr>
        <p:xfrm>
          <a:off x="566928" y="1572768"/>
          <a:ext cx="411480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956048" y="1572768"/>
            <a:ext cx="6675120" cy="786384"/>
          </a:xfrm>
          <a:prstGeom prst="roundRect">
            <a:avLst>
              <a:gd name="adj" fmla="val 9302"/>
            </a:avLst>
          </a:prstGeom>
          <a:solidFill>
            <a:srgbClr val="2A3573"/>
          </a:solidFill>
          <a:ln/>
        </p:spPr>
      </p:sp>
      <p:sp>
        <p:nvSpPr>
          <p:cNvPr id="6" name="Text 3"/>
          <p:cNvSpPr/>
          <p:nvPr/>
        </p:nvSpPr>
        <p:spPr>
          <a:xfrm>
            <a:off x="5193792" y="1682496"/>
            <a:ext cx="2103120" cy="274320"/>
          </a:xfrm>
          <a:prstGeom prst="rect">
            <a:avLst/>
          </a:prstGeom>
          <a:noFill/>
          <a:ln/>
        </p:spPr>
        <p:txBody>
          <a:bodyPr wrap="square" lIns="0" tIns="0" rIns="0" bIns="0" rtlCol="0" anchor="ctr"/>
          <a:lstStyle/>
          <a:p>
            <a:pPr indent="0" marL="0">
              <a:buNone/>
            </a:pPr>
            <a:r>
              <a:rPr lang="en-US" sz="1200" b="1" dirty="0">
                <a:solidFill>
                  <a:srgbClr val="D08C34"/>
                </a:solidFill>
                <a:latin typeface="Calibri" pitchFamily="34" charset="0"/>
                <a:ea typeface="Calibri" pitchFamily="34" charset="-122"/>
                <a:cs typeface="Calibri" pitchFamily="34" charset="-120"/>
              </a:rPr>
              <a:t>MIT Project NANDA</a:t>
            </a:r>
            <a:endParaRPr lang="en-US" sz="1200" dirty="0"/>
          </a:p>
        </p:txBody>
      </p:sp>
      <p:sp>
        <p:nvSpPr>
          <p:cNvPr id="7" name="Text 4"/>
          <p:cNvSpPr/>
          <p:nvPr/>
        </p:nvSpPr>
        <p:spPr>
          <a:xfrm>
            <a:off x="5193792" y="1956816"/>
            <a:ext cx="621792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52 executive interviews, 153 survey responses, 300 public deployments. Just 5% of integrated pilots extract millions in value — despite $30–40B of enterprise GenAI investment.</a:t>
            </a:r>
            <a:endParaRPr lang="en-US" sz="1000" dirty="0"/>
          </a:p>
        </p:txBody>
      </p:sp>
      <p:sp>
        <p:nvSpPr>
          <p:cNvPr id="8" name="Shape 5"/>
          <p:cNvSpPr/>
          <p:nvPr/>
        </p:nvSpPr>
        <p:spPr>
          <a:xfrm>
            <a:off x="4956048" y="2432304"/>
            <a:ext cx="6675120" cy="786384"/>
          </a:xfrm>
          <a:prstGeom prst="roundRect">
            <a:avLst>
              <a:gd name="adj" fmla="val 9302"/>
            </a:avLst>
          </a:prstGeom>
          <a:solidFill>
            <a:srgbClr val="2A3573"/>
          </a:solidFill>
          <a:ln/>
        </p:spPr>
      </p:sp>
      <p:sp>
        <p:nvSpPr>
          <p:cNvPr id="9" name="Text 6"/>
          <p:cNvSpPr/>
          <p:nvPr/>
        </p:nvSpPr>
        <p:spPr>
          <a:xfrm>
            <a:off x="5193792" y="2542032"/>
            <a:ext cx="2103120" cy="274320"/>
          </a:xfrm>
          <a:prstGeom prst="rect">
            <a:avLst/>
          </a:prstGeom>
          <a:noFill/>
          <a:ln/>
        </p:spPr>
        <p:txBody>
          <a:bodyPr wrap="square" lIns="0" tIns="0" rIns="0" bIns="0" rtlCol="0" anchor="ctr"/>
          <a:lstStyle/>
          <a:p>
            <a:pPr indent="0" marL="0">
              <a:buNone/>
            </a:pPr>
            <a:r>
              <a:rPr lang="en-US" sz="1200" b="1" dirty="0">
                <a:solidFill>
                  <a:srgbClr val="D08C34"/>
                </a:solidFill>
                <a:latin typeface="Calibri" pitchFamily="34" charset="0"/>
                <a:ea typeface="Calibri" pitchFamily="34" charset="-122"/>
                <a:cs typeface="Calibri" pitchFamily="34" charset="-120"/>
              </a:rPr>
              <a:t>Vendor vs. internal</a:t>
            </a:r>
            <a:endParaRPr lang="en-US" sz="1200" dirty="0"/>
          </a:p>
        </p:txBody>
      </p:sp>
      <p:sp>
        <p:nvSpPr>
          <p:cNvPr id="10" name="Text 7"/>
          <p:cNvSpPr/>
          <p:nvPr/>
        </p:nvSpPr>
        <p:spPr>
          <a:xfrm>
            <a:off x="5193792" y="2816352"/>
            <a:ext cx="621792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Tools built by external vendors succeeded roughly twice as often as internal builds. The single most decision-relevant finding for a company of e.l.f.'s size.</a:t>
            </a:r>
            <a:endParaRPr lang="en-US" sz="1000" dirty="0"/>
          </a:p>
        </p:txBody>
      </p:sp>
      <p:sp>
        <p:nvSpPr>
          <p:cNvPr id="11" name="Shape 8"/>
          <p:cNvSpPr/>
          <p:nvPr/>
        </p:nvSpPr>
        <p:spPr>
          <a:xfrm>
            <a:off x="4956048" y="3291840"/>
            <a:ext cx="6675120" cy="786384"/>
          </a:xfrm>
          <a:prstGeom prst="roundRect">
            <a:avLst>
              <a:gd name="adj" fmla="val 9302"/>
            </a:avLst>
          </a:prstGeom>
          <a:solidFill>
            <a:srgbClr val="2A3573"/>
          </a:solidFill>
          <a:ln/>
        </p:spPr>
      </p:sp>
      <p:sp>
        <p:nvSpPr>
          <p:cNvPr id="12" name="Text 9"/>
          <p:cNvSpPr/>
          <p:nvPr/>
        </p:nvSpPr>
        <p:spPr>
          <a:xfrm>
            <a:off x="5193792" y="3401568"/>
            <a:ext cx="2103120" cy="274320"/>
          </a:xfrm>
          <a:prstGeom prst="rect">
            <a:avLst/>
          </a:prstGeom>
          <a:noFill/>
          <a:ln/>
        </p:spPr>
        <p:txBody>
          <a:bodyPr wrap="square" lIns="0" tIns="0" rIns="0" bIns="0" rtlCol="0" anchor="ctr"/>
          <a:lstStyle/>
          <a:p>
            <a:pPr indent="0" marL="0">
              <a:buNone/>
            </a:pPr>
            <a:r>
              <a:rPr lang="en-US" sz="1200" b="1" dirty="0">
                <a:solidFill>
                  <a:srgbClr val="D08C34"/>
                </a:solidFill>
                <a:latin typeface="Calibri" pitchFamily="34" charset="0"/>
                <a:ea typeface="Calibri" pitchFamily="34" charset="-122"/>
                <a:cs typeface="Calibri" pitchFamily="34" charset="-120"/>
              </a:rPr>
              <a:t>Gartner, June 2025</a:t>
            </a:r>
            <a:endParaRPr lang="en-US" sz="1200" dirty="0"/>
          </a:p>
        </p:txBody>
      </p:sp>
      <p:sp>
        <p:nvSpPr>
          <p:cNvPr id="13" name="Text 10"/>
          <p:cNvSpPr/>
          <p:nvPr/>
        </p:nvSpPr>
        <p:spPr>
          <a:xfrm>
            <a:off x="5193792" y="3675888"/>
            <a:ext cx="621792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Over 40% of agentic AI projects will be cancelled by end-2027 — escalating costs, unclear business value, inadequate risk controls.</a:t>
            </a:r>
            <a:endParaRPr lang="en-US" sz="1000" dirty="0"/>
          </a:p>
        </p:txBody>
      </p:sp>
      <p:sp>
        <p:nvSpPr>
          <p:cNvPr id="14" name="Shape 11"/>
          <p:cNvSpPr/>
          <p:nvPr/>
        </p:nvSpPr>
        <p:spPr>
          <a:xfrm>
            <a:off x="4956048" y="4151376"/>
            <a:ext cx="6675120" cy="786384"/>
          </a:xfrm>
          <a:prstGeom prst="roundRect">
            <a:avLst>
              <a:gd name="adj" fmla="val 9302"/>
            </a:avLst>
          </a:prstGeom>
          <a:solidFill>
            <a:srgbClr val="2A3573"/>
          </a:solidFill>
          <a:ln/>
        </p:spPr>
      </p:sp>
      <p:sp>
        <p:nvSpPr>
          <p:cNvPr id="15" name="Text 12"/>
          <p:cNvSpPr/>
          <p:nvPr/>
        </p:nvSpPr>
        <p:spPr>
          <a:xfrm>
            <a:off x="5193792" y="4261104"/>
            <a:ext cx="2103120" cy="274320"/>
          </a:xfrm>
          <a:prstGeom prst="rect">
            <a:avLst/>
          </a:prstGeom>
          <a:noFill/>
          <a:ln/>
        </p:spPr>
        <p:txBody>
          <a:bodyPr wrap="square" lIns="0" tIns="0" rIns="0" bIns="0" rtlCol="0" anchor="ctr"/>
          <a:lstStyle/>
          <a:p>
            <a:pPr indent="0" marL="0">
              <a:buNone/>
            </a:pPr>
            <a:r>
              <a:rPr lang="en-US" sz="1200" b="1" dirty="0">
                <a:solidFill>
                  <a:srgbClr val="D08C34"/>
                </a:solidFill>
                <a:latin typeface="Calibri" pitchFamily="34" charset="0"/>
                <a:ea typeface="Calibri" pitchFamily="34" charset="-122"/>
                <a:cs typeface="Calibri" pitchFamily="34" charset="-120"/>
              </a:rPr>
              <a:t>The pre-AI record</a:t>
            </a:r>
            <a:endParaRPr lang="en-US" sz="1200" dirty="0"/>
          </a:p>
        </p:txBody>
      </p:sp>
      <p:sp>
        <p:nvSpPr>
          <p:cNvPr id="16" name="Text 13"/>
          <p:cNvSpPr/>
          <p:nvPr/>
        </p:nvSpPr>
        <p:spPr>
          <a:xfrm>
            <a:off x="5193792" y="4535424"/>
            <a:ext cx="621792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~50% of knowledge management initiatives historically failed. Root causes: governance, culture, stale content, no executive sponsorship. AI does not fix any of these.</a:t>
            </a:r>
            <a:endParaRPr lang="en-US" sz="1000" dirty="0"/>
          </a:p>
        </p:txBody>
      </p:sp>
      <p:sp>
        <p:nvSpPr>
          <p:cNvPr id="17" name="Text 14"/>
          <p:cNvSpPr/>
          <p:nvPr/>
        </p:nvSpPr>
        <p:spPr>
          <a:xfrm>
            <a:off x="566928" y="5138928"/>
            <a:ext cx="11064240" cy="310896"/>
          </a:xfrm>
          <a:prstGeom prst="rect">
            <a:avLst/>
          </a:prstGeom>
          <a:noFill/>
          <a:ln/>
        </p:spPr>
        <p:txBody>
          <a:bodyPr wrap="square" lIns="0" tIns="0" rIns="0" bIns="0" rtlCol="0" anchor="ctr"/>
          <a:lstStyle/>
          <a:p>
            <a:pPr indent="0" marL="0">
              <a:buNone/>
            </a:pPr>
            <a:r>
              <a:rPr lang="en-US" sz="1200" i="1" dirty="0">
                <a:solidFill>
                  <a:srgbClr val="D08C34"/>
                </a:solidFill>
                <a:latin typeface="Calibri" pitchFamily="34" charset="0"/>
                <a:ea typeface="Calibri" pitchFamily="34" charset="-122"/>
                <a:cs typeface="Calibri" pitchFamily="34" charset="-120"/>
              </a:rPr>
              <a:t>The implication is not "don't build." It is: narrow the scope, buy rather than build, and treat adoption as the project.</a:t>
            </a:r>
            <a:endParaRPr lang="en-US" sz="1200" dirty="0"/>
          </a:p>
        </p:txBody>
      </p:sp>
      <p:sp>
        <p:nvSpPr>
          <p:cNvPr id="18" name="Text 15"/>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8891B8"/>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19" name="Text 16"/>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8891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CASE STUDIES — FINANCIAL SERVICES</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The most mature domain</a:t>
            </a:r>
            <a:endParaRPr lang="en-US" sz="2900" dirty="0"/>
          </a:p>
        </p:txBody>
      </p:sp>
      <p:sp>
        <p:nvSpPr>
          <p:cNvPr id="4" name="Shape 2"/>
          <p:cNvSpPr/>
          <p:nvPr/>
        </p:nvSpPr>
        <p:spPr>
          <a:xfrm>
            <a:off x="566928" y="1517904"/>
            <a:ext cx="11064240" cy="1444752"/>
          </a:xfrm>
          <a:prstGeom prst="roundRect">
            <a:avLst>
              <a:gd name="adj" fmla="val 5063"/>
            </a:avLst>
          </a:prstGeom>
          <a:solidFill>
            <a:srgbClr val="F5F7FC"/>
          </a:solidFill>
          <a:ln/>
        </p:spPr>
      </p:sp>
      <p:sp>
        <p:nvSpPr>
          <p:cNvPr id="5" name="Text 3"/>
          <p:cNvSpPr/>
          <p:nvPr/>
        </p:nvSpPr>
        <p:spPr>
          <a:xfrm>
            <a:off x="841248" y="1682496"/>
            <a:ext cx="2743200" cy="310896"/>
          </a:xfrm>
          <a:prstGeom prst="rect">
            <a:avLst/>
          </a:prstGeom>
          <a:noFill/>
          <a:ln/>
        </p:spPr>
        <p:txBody>
          <a:bodyPr wrap="square" lIns="0" tIns="0" rIns="0" bIns="0" rtlCol="0" anchor="ctr"/>
          <a:lstStyle/>
          <a:p>
            <a:pPr indent="0" marL="0">
              <a:buNone/>
            </a:pPr>
            <a:r>
              <a:rPr lang="en-US" sz="1600" b="1" dirty="0">
                <a:solidFill>
                  <a:srgbClr val="1A1F35"/>
                </a:solidFill>
                <a:latin typeface="Cambria" pitchFamily="34" charset="0"/>
                <a:ea typeface="Cambria" pitchFamily="34" charset="-122"/>
                <a:cs typeface="Cambria" pitchFamily="34" charset="-120"/>
              </a:rPr>
              <a:t>Morgan Stanley</a:t>
            </a:r>
            <a:endParaRPr lang="en-US" sz="1600" dirty="0"/>
          </a:p>
        </p:txBody>
      </p:sp>
      <p:sp>
        <p:nvSpPr>
          <p:cNvPr id="6" name="Text 4"/>
          <p:cNvSpPr/>
          <p:nvPr/>
        </p:nvSpPr>
        <p:spPr>
          <a:xfrm>
            <a:off x="841248" y="2011680"/>
            <a:ext cx="2743200" cy="237744"/>
          </a:xfrm>
          <a:prstGeom prst="rect">
            <a:avLst/>
          </a:prstGeom>
          <a:noFill/>
          <a:ln/>
        </p:spPr>
        <p:txBody>
          <a:bodyPr wrap="square" lIns="0" tIns="0" rIns="0" bIns="0" rtlCol="0" anchor="ctr"/>
          <a:lstStyle/>
          <a:p>
            <a:pPr indent="0" marL="0">
              <a:buNone/>
            </a:pPr>
            <a:r>
              <a:rPr lang="en-US" sz="900" b="1" spc="110" kern="0" dirty="0">
                <a:solidFill>
                  <a:srgbClr val="3A4680"/>
                </a:solidFill>
                <a:latin typeface="Calibri" pitchFamily="34" charset="0"/>
                <a:ea typeface="Calibri" pitchFamily="34" charset="-122"/>
                <a:cs typeface="Calibri" pitchFamily="34" charset="-120"/>
              </a:rPr>
              <a:t>OPENAI / GPT-4</a:t>
            </a:r>
            <a:endParaRPr lang="en-US" sz="900" dirty="0"/>
          </a:p>
        </p:txBody>
      </p:sp>
      <p:sp>
        <p:nvSpPr>
          <p:cNvPr id="7" name="Text 5"/>
          <p:cNvSpPr/>
          <p:nvPr/>
        </p:nvSpPr>
        <p:spPr>
          <a:xfrm>
            <a:off x="3749040" y="1682496"/>
            <a:ext cx="3840480" cy="1133856"/>
          </a:xfrm>
          <a:prstGeom prst="rect">
            <a:avLst/>
          </a:prstGeom>
          <a:noFill/>
          <a:ln/>
        </p:spPr>
        <p:txBody>
          <a:bodyPr wrap="square" lIns="0" tIns="0" rIns="0" bIns="0" rtlCol="0" anchor="ctr"/>
          <a:lstStyle/>
          <a:p>
            <a:pPr indent="0" marL="0">
              <a:buNone/>
            </a:pPr>
            <a:r>
              <a:rPr lang="en-US" sz="1050" dirty="0">
                <a:solidFill>
                  <a:srgbClr val="1A1F35"/>
                </a:solidFill>
                <a:latin typeface="Calibri" pitchFamily="34" charset="0"/>
                <a:ea typeface="Calibri" pitchFamily="34" charset="-122"/>
                <a:cs typeface="Calibri" pitchFamily="34" charset="-120"/>
              </a:rPr>
              <a:t>AI @ Morgan Stanley Assistant over a ~100,000-document research library for ~16,000 advisors, plus Debrief (meeting notes) and AskResearchGPT over 70,000+ annual reports.</a:t>
            </a:r>
            <a:endParaRPr lang="en-US" sz="1050" dirty="0"/>
          </a:p>
        </p:txBody>
      </p:sp>
      <p:sp>
        <p:nvSpPr>
          <p:cNvPr id="8" name="Shape 6"/>
          <p:cNvSpPr/>
          <p:nvPr/>
        </p:nvSpPr>
        <p:spPr>
          <a:xfrm>
            <a:off x="7754112" y="1664208"/>
            <a:ext cx="3712464" cy="1152144"/>
          </a:xfrm>
          <a:prstGeom prst="roundRect">
            <a:avLst>
              <a:gd name="adj" fmla="val 6349"/>
            </a:avLst>
          </a:prstGeom>
          <a:solidFill>
            <a:srgbClr val="FFFFFF"/>
          </a:solidFill>
          <a:ln w="12700">
            <a:solidFill>
              <a:srgbClr val="D9E0F2"/>
            </a:solidFill>
            <a:prstDash val="solid"/>
          </a:ln>
        </p:spPr>
      </p:sp>
      <p:sp>
        <p:nvSpPr>
          <p:cNvPr id="9" name="Text 7"/>
          <p:cNvSpPr/>
          <p:nvPr/>
        </p:nvSpPr>
        <p:spPr>
          <a:xfrm>
            <a:off x="7955280" y="1792224"/>
            <a:ext cx="3346704" cy="914400"/>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98%+ of advisor teams active. Document access rose from 20% to 80%. Governance hallmark: a rigorous internal evals framework before any use case ships.</a:t>
            </a:r>
            <a:endParaRPr lang="en-US" sz="1000" dirty="0"/>
          </a:p>
        </p:txBody>
      </p:sp>
      <p:sp>
        <p:nvSpPr>
          <p:cNvPr id="10" name="Shape 8"/>
          <p:cNvSpPr/>
          <p:nvPr/>
        </p:nvSpPr>
        <p:spPr>
          <a:xfrm>
            <a:off x="566928" y="3072384"/>
            <a:ext cx="11064240" cy="1444752"/>
          </a:xfrm>
          <a:prstGeom prst="roundRect">
            <a:avLst>
              <a:gd name="adj" fmla="val 5063"/>
            </a:avLst>
          </a:prstGeom>
          <a:solidFill>
            <a:srgbClr val="F5F7FC"/>
          </a:solidFill>
          <a:ln/>
        </p:spPr>
      </p:sp>
      <p:sp>
        <p:nvSpPr>
          <p:cNvPr id="11" name="Text 9"/>
          <p:cNvSpPr/>
          <p:nvPr/>
        </p:nvSpPr>
        <p:spPr>
          <a:xfrm>
            <a:off x="841248" y="3236976"/>
            <a:ext cx="2743200" cy="310896"/>
          </a:xfrm>
          <a:prstGeom prst="rect">
            <a:avLst/>
          </a:prstGeom>
          <a:noFill/>
          <a:ln/>
        </p:spPr>
        <p:txBody>
          <a:bodyPr wrap="square" lIns="0" tIns="0" rIns="0" bIns="0" rtlCol="0" anchor="ctr"/>
          <a:lstStyle/>
          <a:p>
            <a:pPr indent="0" marL="0">
              <a:buNone/>
            </a:pPr>
            <a:r>
              <a:rPr lang="en-US" sz="1600" b="1" dirty="0">
                <a:solidFill>
                  <a:srgbClr val="1A1F35"/>
                </a:solidFill>
                <a:latin typeface="Cambria" pitchFamily="34" charset="0"/>
                <a:ea typeface="Cambria" pitchFamily="34" charset="-122"/>
                <a:cs typeface="Cambria" pitchFamily="34" charset="-120"/>
              </a:rPr>
              <a:t>JPMorgan Chase</a:t>
            </a:r>
            <a:endParaRPr lang="en-US" sz="1600" dirty="0"/>
          </a:p>
        </p:txBody>
      </p:sp>
      <p:sp>
        <p:nvSpPr>
          <p:cNvPr id="12" name="Text 10"/>
          <p:cNvSpPr/>
          <p:nvPr/>
        </p:nvSpPr>
        <p:spPr>
          <a:xfrm>
            <a:off x="841248" y="3566160"/>
            <a:ext cx="2743200" cy="237744"/>
          </a:xfrm>
          <a:prstGeom prst="rect">
            <a:avLst/>
          </a:prstGeom>
          <a:noFill/>
          <a:ln/>
        </p:spPr>
        <p:txBody>
          <a:bodyPr wrap="square" lIns="0" tIns="0" rIns="0" bIns="0" rtlCol="0" anchor="ctr"/>
          <a:lstStyle/>
          <a:p>
            <a:pPr indent="0" marL="0">
              <a:buNone/>
            </a:pPr>
            <a:r>
              <a:rPr lang="en-US" sz="900" b="1" spc="110" kern="0" dirty="0">
                <a:solidFill>
                  <a:srgbClr val="3A4680"/>
                </a:solidFill>
                <a:latin typeface="Calibri" pitchFamily="34" charset="0"/>
                <a:ea typeface="Calibri" pitchFamily="34" charset="-122"/>
                <a:cs typeface="Calibri" pitchFamily="34" charset="-120"/>
              </a:rPr>
              <a:t>MODEL-AGNOSTIC PORTAL</a:t>
            </a:r>
            <a:endParaRPr lang="en-US" sz="900" dirty="0"/>
          </a:p>
        </p:txBody>
      </p:sp>
      <p:sp>
        <p:nvSpPr>
          <p:cNvPr id="13" name="Text 11"/>
          <p:cNvSpPr/>
          <p:nvPr/>
        </p:nvSpPr>
        <p:spPr>
          <a:xfrm>
            <a:off x="3749040" y="3236976"/>
            <a:ext cx="3840480" cy="1133856"/>
          </a:xfrm>
          <a:prstGeom prst="rect">
            <a:avLst/>
          </a:prstGeom>
          <a:noFill/>
          <a:ln/>
        </p:spPr>
        <p:txBody>
          <a:bodyPr wrap="square" lIns="0" tIns="0" rIns="0" bIns="0" rtlCol="0" anchor="ctr"/>
          <a:lstStyle/>
          <a:p>
            <a:pPr indent="0" marL="0">
              <a:buNone/>
            </a:pPr>
            <a:r>
              <a:rPr lang="en-US" sz="1050" dirty="0">
                <a:solidFill>
                  <a:srgbClr val="1A1F35"/>
                </a:solidFill>
                <a:latin typeface="Calibri" pitchFamily="34" charset="0"/>
                <a:ea typeface="Calibri" pitchFamily="34" charset="-122"/>
                <a:cs typeface="Calibri" pitchFamily="34" charset="-120"/>
              </a:rPr>
              <a:t>LLM Suite, deliberately architected so the bank is "not beholden to any one model provider" — launched with OpenAI but designed to swap models.</a:t>
            </a:r>
            <a:endParaRPr lang="en-US" sz="1050" dirty="0"/>
          </a:p>
        </p:txBody>
      </p:sp>
      <p:sp>
        <p:nvSpPr>
          <p:cNvPr id="14" name="Shape 12"/>
          <p:cNvSpPr/>
          <p:nvPr/>
        </p:nvSpPr>
        <p:spPr>
          <a:xfrm>
            <a:off x="7754112" y="3218688"/>
            <a:ext cx="3712464" cy="1152144"/>
          </a:xfrm>
          <a:prstGeom prst="roundRect">
            <a:avLst>
              <a:gd name="adj" fmla="val 6349"/>
            </a:avLst>
          </a:prstGeom>
          <a:solidFill>
            <a:srgbClr val="FFFFFF"/>
          </a:solidFill>
          <a:ln w="12700">
            <a:solidFill>
              <a:srgbClr val="D9E0F2"/>
            </a:solidFill>
            <a:prstDash val="solid"/>
          </a:ln>
        </p:spPr>
      </p:sp>
      <p:sp>
        <p:nvSpPr>
          <p:cNvPr id="15" name="Text 13"/>
          <p:cNvSpPr/>
          <p:nvPr/>
        </p:nvSpPr>
        <p:spPr>
          <a:xfrm>
            <a:off x="7955280" y="3346704"/>
            <a:ext cx="3346704" cy="914400"/>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Scaled from 60,000 employees (Aug 2024) to 200,000+ users within roughly eight months. One of the largest disclosed enterprise deployments.</a:t>
            </a:r>
            <a:endParaRPr lang="en-US" sz="1000" dirty="0"/>
          </a:p>
        </p:txBody>
      </p:sp>
      <p:sp>
        <p:nvSpPr>
          <p:cNvPr id="16" name="Shape 14"/>
          <p:cNvSpPr/>
          <p:nvPr/>
        </p:nvSpPr>
        <p:spPr>
          <a:xfrm>
            <a:off x="566928" y="4626864"/>
            <a:ext cx="11064240" cy="1444752"/>
          </a:xfrm>
          <a:prstGeom prst="roundRect">
            <a:avLst>
              <a:gd name="adj" fmla="val 5063"/>
            </a:avLst>
          </a:prstGeom>
          <a:solidFill>
            <a:srgbClr val="F5F7FC"/>
          </a:solidFill>
          <a:ln/>
        </p:spPr>
      </p:sp>
      <p:sp>
        <p:nvSpPr>
          <p:cNvPr id="17" name="Text 15"/>
          <p:cNvSpPr/>
          <p:nvPr/>
        </p:nvSpPr>
        <p:spPr>
          <a:xfrm>
            <a:off x="841248" y="4791456"/>
            <a:ext cx="2743200" cy="310896"/>
          </a:xfrm>
          <a:prstGeom prst="rect">
            <a:avLst/>
          </a:prstGeom>
          <a:noFill/>
          <a:ln/>
        </p:spPr>
        <p:txBody>
          <a:bodyPr wrap="square" lIns="0" tIns="0" rIns="0" bIns="0" rtlCol="0" anchor="ctr"/>
          <a:lstStyle/>
          <a:p>
            <a:pPr indent="0" marL="0">
              <a:buNone/>
            </a:pPr>
            <a:r>
              <a:rPr lang="en-US" sz="1600" b="1" dirty="0">
                <a:solidFill>
                  <a:srgbClr val="1A1F35"/>
                </a:solidFill>
                <a:latin typeface="Cambria" pitchFamily="34" charset="0"/>
                <a:ea typeface="Cambria" pitchFamily="34" charset="-122"/>
                <a:cs typeface="Cambria" pitchFamily="34" charset="-120"/>
              </a:rPr>
              <a:t>Goldman Sachs</a:t>
            </a:r>
            <a:endParaRPr lang="en-US" sz="1600" dirty="0"/>
          </a:p>
        </p:txBody>
      </p:sp>
      <p:sp>
        <p:nvSpPr>
          <p:cNvPr id="18" name="Text 16"/>
          <p:cNvSpPr/>
          <p:nvPr/>
        </p:nvSpPr>
        <p:spPr>
          <a:xfrm>
            <a:off x="841248" y="5120640"/>
            <a:ext cx="2743200" cy="237744"/>
          </a:xfrm>
          <a:prstGeom prst="rect">
            <a:avLst/>
          </a:prstGeom>
          <a:noFill/>
          <a:ln/>
        </p:spPr>
        <p:txBody>
          <a:bodyPr wrap="square" lIns="0" tIns="0" rIns="0" bIns="0" rtlCol="0" anchor="ctr"/>
          <a:lstStyle/>
          <a:p>
            <a:pPr indent="0" marL="0">
              <a:buNone/>
            </a:pPr>
            <a:r>
              <a:rPr lang="en-US" sz="900" b="1" spc="110" kern="0" dirty="0">
                <a:solidFill>
                  <a:srgbClr val="3A4680"/>
                </a:solidFill>
                <a:latin typeface="Calibri" pitchFamily="34" charset="0"/>
                <a:ea typeface="Calibri" pitchFamily="34" charset="-122"/>
                <a:cs typeface="Calibri" pitchFamily="34" charset="-120"/>
              </a:rPr>
              <a:t>OPENAI + GEMINI + LLAMA</a:t>
            </a:r>
            <a:endParaRPr lang="en-US" sz="900" dirty="0"/>
          </a:p>
        </p:txBody>
      </p:sp>
      <p:sp>
        <p:nvSpPr>
          <p:cNvPr id="19" name="Text 17"/>
          <p:cNvSpPr/>
          <p:nvPr/>
        </p:nvSpPr>
        <p:spPr>
          <a:xfrm>
            <a:off x="3749040" y="4791456"/>
            <a:ext cx="3840480" cy="1133856"/>
          </a:xfrm>
          <a:prstGeom prst="rect">
            <a:avLst/>
          </a:prstGeom>
          <a:noFill/>
          <a:ln/>
        </p:spPr>
        <p:txBody>
          <a:bodyPr wrap="square" lIns="0" tIns="0" rIns="0" bIns="0" rtlCol="0" anchor="ctr"/>
          <a:lstStyle/>
          <a:p>
            <a:pPr indent="0" marL="0">
              <a:buNone/>
            </a:pPr>
            <a:r>
              <a:rPr lang="en-US" sz="1050" dirty="0">
                <a:solidFill>
                  <a:srgbClr val="1A1F35"/>
                </a:solidFill>
                <a:latin typeface="Calibri" pitchFamily="34" charset="0"/>
                <a:ea typeface="Calibri" pitchFamily="34" charset="-122"/>
                <a:cs typeface="Calibri" pitchFamily="34" charset="-120"/>
              </a:rPr>
              <a:t>GS AI Assistant, rolled out early 2025 starting at ~10,000 employees with the goal of reaching all knowledge workers.</a:t>
            </a:r>
            <a:endParaRPr lang="en-US" sz="1050" dirty="0"/>
          </a:p>
        </p:txBody>
      </p:sp>
      <p:sp>
        <p:nvSpPr>
          <p:cNvPr id="20" name="Shape 18"/>
          <p:cNvSpPr/>
          <p:nvPr/>
        </p:nvSpPr>
        <p:spPr>
          <a:xfrm>
            <a:off x="7754112" y="4773168"/>
            <a:ext cx="3712464" cy="1152144"/>
          </a:xfrm>
          <a:prstGeom prst="roundRect">
            <a:avLst>
              <a:gd name="adj" fmla="val 6349"/>
            </a:avLst>
          </a:prstGeom>
          <a:solidFill>
            <a:srgbClr val="FFFFFF"/>
          </a:solidFill>
          <a:ln w="12700">
            <a:solidFill>
              <a:srgbClr val="D9E0F2"/>
            </a:solidFill>
            <a:prstDash val="solid"/>
          </a:ln>
        </p:spPr>
      </p:sp>
      <p:sp>
        <p:nvSpPr>
          <p:cNvPr id="21" name="Text 19"/>
          <p:cNvSpPr/>
          <p:nvPr/>
        </p:nvSpPr>
        <p:spPr>
          <a:xfrm>
            <a:off x="7955280" y="4901184"/>
            <a:ext cx="3346704" cy="914400"/>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CIO Marco Argenti frames it as "the ultimate librarian that knows how to find the information" — retrieval, not generation, is the value.</a:t>
            </a:r>
            <a:endParaRPr lang="en-US" sz="1000" dirty="0"/>
          </a:p>
        </p:txBody>
      </p:sp>
      <p:sp>
        <p:nvSpPr>
          <p:cNvPr id="22" name="Text 20"/>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3" name="Text 21"/>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CASE STUDIES — PROFESSIONAL SERVICES</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Knowledge as the product</a:t>
            </a:r>
            <a:endParaRPr lang="en-US" sz="2900" dirty="0"/>
          </a:p>
        </p:txBody>
      </p:sp>
      <p:sp>
        <p:nvSpPr>
          <p:cNvPr id="4" name="Shape 2"/>
          <p:cNvSpPr/>
          <p:nvPr/>
        </p:nvSpPr>
        <p:spPr>
          <a:xfrm>
            <a:off x="566928" y="1517904"/>
            <a:ext cx="11064240" cy="859536"/>
          </a:xfrm>
          <a:prstGeom prst="roundRect">
            <a:avLst>
              <a:gd name="adj" fmla="val 8511"/>
            </a:avLst>
          </a:prstGeom>
          <a:solidFill>
            <a:srgbClr val="F5F7FC"/>
          </a:solidFill>
          <a:ln/>
        </p:spPr>
      </p:sp>
      <p:sp>
        <p:nvSpPr>
          <p:cNvPr id="5" name="Shape 3"/>
          <p:cNvSpPr/>
          <p:nvPr/>
        </p:nvSpPr>
        <p:spPr>
          <a:xfrm>
            <a:off x="822960" y="1773936"/>
            <a:ext cx="310896" cy="310896"/>
          </a:xfrm>
          <a:prstGeom prst="ellipse">
            <a:avLst/>
          </a:prstGeom>
          <a:solidFill>
            <a:srgbClr val="1E2761"/>
          </a:solidFill>
          <a:ln/>
        </p:spPr>
      </p:sp>
      <p:sp>
        <p:nvSpPr>
          <p:cNvPr id="6" name="Text 4"/>
          <p:cNvSpPr/>
          <p:nvPr/>
        </p:nvSpPr>
        <p:spPr>
          <a:xfrm>
            <a:off x="1261872" y="1636776"/>
            <a:ext cx="246888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McKinsey — "Lilli"</a:t>
            </a:r>
            <a:endParaRPr lang="en-US" sz="1250" dirty="0"/>
          </a:p>
        </p:txBody>
      </p:sp>
      <p:sp>
        <p:nvSpPr>
          <p:cNvPr id="7" name="Text 5"/>
          <p:cNvSpPr/>
          <p:nvPr/>
        </p:nvSpPr>
        <p:spPr>
          <a:xfrm>
            <a:off x="1261872" y="1929384"/>
            <a:ext cx="5760720" cy="384048"/>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40+ knowledge sources, 100,000+ documents, RAG with cited artifacts plus an expert graph that routes you to a person.</a:t>
            </a:r>
            <a:endParaRPr lang="en-US" sz="950" dirty="0"/>
          </a:p>
        </p:txBody>
      </p:sp>
      <p:sp>
        <p:nvSpPr>
          <p:cNvPr id="8" name="Text 6"/>
          <p:cNvSpPr/>
          <p:nvPr/>
        </p:nvSpPr>
        <p:spPr>
          <a:xfrm>
            <a:off x="7269480" y="1773936"/>
            <a:ext cx="4160520" cy="384048"/>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72% of the firm active · 500,000+ prompts/month · up to 30% time saved</a:t>
            </a:r>
            <a:endParaRPr lang="en-US" sz="1000" dirty="0"/>
          </a:p>
        </p:txBody>
      </p:sp>
      <p:sp>
        <p:nvSpPr>
          <p:cNvPr id="9" name="Shape 7"/>
          <p:cNvSpPr/>
          <p:nvPr/>
        </p:nvSpPr>
        <p:spPr>
          <a:xfrm>
            <a:off x="566928" y="2450592"/>
            <a:ext cx="11064240" cy="859536"/>
          </a:xfrm>
          <a:prstGeom prst="roundRect">
            <a:avLst>
              <a:gd name="adj" fmla="val 8511"/>
            </a:avLst>
          </a:prstGeom>
          <a:solidFill>
            <a:srgbClr val="F5F7FC"/>
          </a:solidFill>
          <a:ln/>
        </p:spPr>
      </p:sp>
      <p:sp>
        <p:nvSpPr>
          <p:cNvPr id="10" name="Shape 8"/>
          <p:cNvSpPr/>
          <p:nvPr/>
        </p:nvSpPr>
        <p:spPr>
          <a:xfrm>
            <a:off x="822960" y="2706624"/>
            <a:ext cx="310896" cy="310896"/>
          </a:xfrm>
          <a:prstGeom prst="ellipse">
            <a:avLst/>
          </a:prstGeom>
          <a:solidFill>
            <a:srgbClr val="3A4680"/>
          </a:solidFill>
          <a:ln/>
        </p:spPr>
      </p:sp>
      <p:sp>
        <p:nvSpPr>
          <p:cNvPr id="11" name="Text 9"/>
          <p:cNvSpPr/>
          <p:nvPr/>
        </p:nvSpPr>
        <p:spPr>
          <a:xfrm>
            <a:off x="1261872" y="2569464"/>
            <a:ext cx="246888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BCG</a:t>
            </a:r>
            <a:endParaRPr lang="en-US" sz="1250" dirty="0"/>
          </a:p>
        </p:txBody>
      </p:sp>
      <p:sp>
        <p:nvSpPr>
          <p:cNvPr id="12" name="Text 10"/>
          <p:cNvSpPr/>
          <p:nvPr/>
        </p:nvSpPr>
        <p:spPr>
          <a:xfrm>
            <a:off x="1261872" y="2862072"/>
            <a:ext cx="5760720" cy="384048"/>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GPT-4o over a vectorised lake of 100,000+ sanitised project documents with a Responsible-AI guardrail layer. Now building MCP servers.</a:t>
            </a:r>
            <a:endParaRPr lang="en-US" sz="950" dirty="0"/>
          </a:p>
        </p:txBody>
      </p:sp>
      <p:sp>
        <p:nvSpPr>
          <p:cNvPr id="13" name="Text 11"/>
          <p:cNvSpPr/>
          <p:nvPr/>
        </p:nvSpPr>
        <p:spPr>
          <a:xfrm>
            <a:off x="7269480" y="2706624"/>
            <a:ext cx="4160520" cy="384048"/>
          </a:xfrm>
          <a:prstGeom prst="rect">
            <a:avLst/>
          </a:prstGeom>
          <a:noFill/>
          <a:ln/>
        </p:spPr>
        <p:txBody>
          <a:bodyPr wrap="square" lIns="0" tIns="0" rIns="0" bIns="0" rtlCol="0" anchor="ctr"/>
          <a:lstStyle/>
          <a:p>
            <a:pPr indent="0" marL="0">
              <a:buNone/>
            </a:pPr>
            <a:r>
              <a:rPr lang="en-US" sz="1000" b="1" dirty="0">
                <a:solidFill>
                  <a:srgbClr val="3A4680"/>
                </a:solidFill>
                <a:latin typeface="Calibri" pitchFamily="34" charset="0"/>
                <a:ea typeface="Calibri" pitchFamily="34" charset="-122"/>
                <a:cs typeface="Calibri" pitchFamily="34" charset="-120"/>
              </a:rPr>
              <a:t>Deckster used 450,000+ times · ~36,000 custom GPTs built by 33,000 staff</a:t>
            </a:r>
            <a:endParaRPr lang="en-US" sz="1000" dirty="0"/>
          </a:p>
        </p:txBody>
      </p:sp>
      <p:sp>
        <p:nvSpPr>
          <p:cNvPr id="14" name="Shape 12"/>
          <p:cNvSpPr/>
          <p:nvPr/>
        </p:nvSpPr>
        <p:spPr>
          <a:xfrm>
            <a:off x="566928" y="3383280"/>
            <a:ext cx="11064240" cy="859536"/>
          </a:xfrm>
          <a:prstGeom prst="roundRect">
            <a:avLst>
              <a:gd name="adj" fmla="val 8511"/>
            </a:avLst>
          </a:prstGeom>
          <a:solidFill>
            <a:srgbClr val="F5F7FC"/>
          </a:solidFill>
          <a:ln/>
        </p:spPr>
      </p:sp>
      <p:sp>
        <p:nvSpPr>
          <p:cNvPr id="15" name="Shape 13"/>
          <p:cNvSpPr/>
          <p:nvPr/>
        </p:nvSpPr>
        <p:spPr>
          <a:xfrm>
            <a:off x="822960" y="3639312"/>
            <a:ext cx="310896" cy="310896"/>
          </a:xfrm>
          <a:prstGeom prst="ellipse">
            <a:avLst/>
          </a:prstGeom>
          <a:solidFill>
            <a:srgbClr val="4E5A99"/>
          </a:solidFill>
          <a:ln/>
        </p:spPr>
      </p:sp>
      <p:sp>
        <p:nvSpPr>
          <p:cNvPr id="16" name="Text 14"/>
          <p:cNvSpPr/>
          <p:nvPr/>
        </p:nvSpPr>
        <p:spPr>
          <a:xfrm>
            <a:off x="1261872" y="3502152"/>
            <a:ext cx="246888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PwC — ChatPwC</a:t>
            </a:r>
            <a:endParaRPr lang="en-US" sz="1250" dirty="0"/>
          </a:p>
        </p:txBody>
      </p:sp>
      <p:sp>
        <p:nvSpPr>
          <p:cNvPr id="17" name="Text 15"/>
          <p:cNvSpPr/>
          <p:nvPr/>
        </p:nvSpPr>
        <p:spPr>
          <a:xfrm>
            <a:off x="1261872" y="3794760"/>
            <a:ext cx="5760720" cy="384048"/>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Private conversational assistant on OpenAI, fine-tuned for tax and regulation; part of a $1B three-year US AI roadmap.</a:t>
            </a:r>
            <a:endParaRPr lang="en-US" sz="950" dirty="0"/>
          </a:p>
        </p:txBody>
      </p:sp>
      <p:sp>
        <p:nvSpPr>
          <p:cNvPr id="18" name="Text 16"/>
          <p:cNvSpPr/>
          <p:nvPr/>
        </p:nvSpPr>
        <p:spPr>
          <a:xfrm>
            <a:off x="7269480" y="3639312"/>
            <a:ext cx="4160520" cy="384048"/>
          </a:xfrm>
          <a:prstGeom prst="rect">
            <a:avLst/>
          </a:prstGeom>
          <a:noFill/>
          <a:ln/>
        </p:spPr>
        <p:txBody>
          <a:bodyPr wrap="square" lIns="0" tIns="0" rIns="0" bIns="0" rtlCol="0" anchor="ctr"/>
          <a:lstStyle/>
          <a:p>
            <a:pPr indent="0" marL="0">
              <a:buNone/>
            </a:pPr>
            <a:r>
              <a:rPr lang="en-US" sz="1000" b="1" dirty="0">
                <a:solidFill>
                  <a:srgbClr val="4E5A99"/>
                </a:solidFill>
                <a:latin typeface="Calibri" pitchFamily="34" charset="0"/>
                <a:ea typeface="Calibri" pitchFamily="34" charset="-122"/>
                <a:cs typeface="Calibri" pitchFamily="34" charset="-120"/>
              </a:rPr>
              <a:t>1,000 pilot users scaling to 75,000 US staff · agent OS orchestrating 250+ agents</a:t>
            </a:r>
            <a:endParaRPr lang="en-US" sz="1000" dirty="0"/>
          </a:p>
        </p:txBody>
      </p:sp>
      <p:sp>
        <p:nvSpPr>
          <p:cNvPr id="19" name="Shape 17"/>
          <p:cNvSpPr/>
          <p:nvPr/>
        </p:nvSpPr>
        <p:spPr>
          <a:xfrm>
            <a:off x="566928" y="4315968"/>
            <a:ext cx="11064240" cy="859536"/>
          </a:xfrm>
          <a:prstGeom prst="roundRect">
            <a:avLst>
              <a:gd name="adj" fmla="val 8511"/>
            </a:avLst>
          </a:prstGeom>
          <a:solidFill>
            <a:srgbClr val="F5F7FC"/>
          </a:solidFill>
          <a:ln/>
        </p:spPr>
      </p:sp>
      <p:sp>
        <p:nvSpPr>
          <p:cNvPr id="20" name="Shape 18"/>
          <p:cNvSpPr/>
          <p:nvPr/>
        </p:nvSpPr>
        <p:spPr>
          <a:xfrm>
            <a:off x="822960" y="4572000"/>
            <a:ext cx="310896" cy="310896"/>
          </a:xfrm>
          <a:prstGeom prst="ellipse">
            <a:avLst/>
          </a:prstGeom>
          <a:solidFill>
            <a:srgbClr val="5E69A6"/>
          </a:solidFill>
          <a:ln/>
        </p:spPr>
      </p:sp>
      <p:sp>
        <p:nvSpPr>
          <p:cNvPr id="21" name="Text 19"/>
          <p:cNvSpPr/>
          <p:nvPr/>
        </p:nvSpPr>
        <p:spPr>
          <a:xfrm>
            <a:off x="1261872" y="4434840"/>
            <a:ext cx="246888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Deloitte — Sidekick</a:t>
            </a:r>
            <a:endParaRPr lang="en-US" sz="1250" dirty="0"/>
          </a:p>
        </p:txBody>
      </p:sp>
      <p:sp>
        <p:nvSpPr>
          <p:cNvPr id="22" name="Text 20"/>
          <p:cNvSpPr/>
          <p:nvPr/>
        </p:nvSpPr>
        <p:spPr>
          <a:xfrm>
            <a:off x="1261872" y="4727448"/>
            <a:ext cx="5760720" cy="384048"/>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Enterprise GenAI assistant and workflow platform, plus PairD across EMEA and the agentic Zora AI built on NVIDIA.</a:t>
            </a:r>
            <a:endParaRPr lang="en-US" sz="950" dirty="0"/>
          </a:p>
        </p:txBody>
      </p:sp>
      <p:sp>
        <p:nvSpPr>
          <p:cNvPr id="23" name="Text 21"/>
          <p:cNvSpPr/>
          <p:nvPr/>
        </p:nvSpPr>
        <p:spPr>
          <a:xfrm>
            <a:off x="7269480" y="4572000"/>
            <a:ext cx="4160520" cy="384048"/>
          </a:xfrm>
          <a:prstGeom prst="rect">
            <a:avLst/>
          </a:prstGeom>
          <a:noFill/>
          <a:ln/>
        </p:spPr>
        <p:txBody>
          <a:bodyPr wrap="square" lIns="0" tIns="0" rIns="0" bIns="0" rtlCol="0" anchor="ctr"/>
          <a:lstStyle/>
          <a:p>
            <a:pPr indent="0" marL="0">
              <a:buNone/>
            </a:pPr>
            <a:r>
              <a:rPr lang="en-US" sz="1000" b="1" dirty="0">
                <a:solidFill>
                  <a:srgbClr val="5E69A6"/>
                </a:solidFill>
                <a:latin typeface="Calibri" pitchFamily="34" charset="0"/>
                <a:ea typeface="Calibri" pitchFamily="34" charset="-122"/>
                <a:cs typeface="Calibri" pitchFamily="34" charset="-120"/>
              </a:rPr>
              <a:t>170,000+ users · 110M+ uses to date (self-reported)</a:t>
            </a:r>
            <a:endParaRPr lang="en-US" sz="1000" dirty="0"/>
          </a:p>
        </p:txBody>
      </p:sp>
      <p:sp>
        <p:nvSpPr>
          <p:cNvPr id="24" name="Shape 22"/>
          <p:cNvSpPr/>
          <p:nvPr/>
        </p:nvSpPr>
        <p:spPr>
          <a:xfrm>
            <a:off x="566928" y="5248656"/>
            <a:ext cx="11064240" cy="859536"/>
          </a:xfrm>
          <a:prstGeom prst="roundRect">
            <a:avLst>
              <a:gd name="adj" fmla="val 8511"/>
            </a:avLst>
          </a:prstGeom>
          <a:solidFill>
            <a:srgbClr val="F5F7FC"/>
          </a:solidFill>
          <a:ln/>
        </p:spPr>
      </p:sp>
      <p:sp>
        <p:nvSpPr>
          <p:cNvPr id="25" name="Shape 23"/>
          <p:cNvSpPr/>
          <p:nvPr/>
        </p:nvSpPr>
        <p:spPr>
          <a:xfrm>
            <a:off x="822960" y="5504688"/>
            <a:ext cx="310896" cy="310896"/>
          </a:xfrm>
          <a:prstGeom prst="ellipse">
            <a:avLst/>
          </a:prstGeom>
          <a:solidFill>
            <a:srgbClr val="6E78B2"/>
          </a:solidFill>
          <a:ln/>
        </p:spPr>
      </p:sp>
      <p:sp>
        <p:nvSpPr>
          <p:cNvPr id="26" name="Text 24"/>
          <p:cNvSpPr/>
          <p:nvPr/>
        </p:nvSpPr>
        <p:spPr>
          <a:xfrm>
            <a:off x="1261872" y="5367528"/>
            <a:ext cx="246888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KPMG</a:t>
            </a:r>
            <a:endParaRPr lang="en-US" sz="1250" dirty="0"/>
          </a:p>
        </p:txBody>
      </p:sp>
      <p:sp>
        <p:nvSpPr>
          <p:cNvPr id="27" name="Text 25"/>
          <p:cNvSpPr/>
          <p:nvPr/>
        </p:nvSpPr>
        <p:spPr>
          <a:xfrm>
            <a:off x="1261872" y="5660136"/>
            <a:ext cx="5760720" cy="384048"/>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Deployed Google Agentspace (now Gemini Enterprise) plus NotebookLM Enterprise — the clearest large-firm choice of buy over build.</a:t>
            </a:r>
            <a:endParaRPr lang="en-US" sz="950" dirty="0"/>
          </a:p>
        </p:txBody>
      </p:sp>
      <p:sp>
        <p:nvSpPr>
          <p:cNvPr id="28" name="Text 26"/>
          <p:cNvSpPr/>
          <p:nvPr/>
        </p:nvSpPr>
        <p:spPr>
          <a:xfrm>
            <a:off x="7269480" y="5504688"/>
            <a:ext cx="4160520" cy="384048"/>
          </a:xfrm>
          <a:prstGeom prst="rect">
            <a:avLst/>
          </a:prstGeom>
          <a:noFill/>
          <a:ln/>
        </p:spPr>
        <p:txBody>
          <a:bodyPr wrap="square" lIns="0" tIns="0" rIns="0" bIns="0" rtlCol="0" anchor="ctr"/>
          <a:lstStyle/>
          <a:p>
            <a:pPr indent="0" marL="0">
              <a:buNone/>
            </a:pPr>
            <a:r>
              <a:rPr lang="en-US" sz="1000" b="1" dirty="0">
                <a:solidFill>
                  <a:srgbClr val="6E78B2"/>
                </a:solidFill>
                <a:latin typeface="Calibri" pitchFamily="34" charset="0"/>
                <a:ea typeface="Calibri" pitchFamily="34" charset="-122"/>
                <a:cs typeface="Calibri" pitchFamily="34" charset="-120"/>
              </a:rPr>
              <a:t>Explicitly to unify "fragmented enterprise knowledge systems"</a:t>
            </a:r>
            <a:endParaRPr lang="en-US" sz="1000" dirty="0"/>
          </a:p>
        </p:txBody>
      </p:sp>
      <p:sp>
        <p:nvSpPr>
          <p:cNvPr id="29" name="Text 27"/>
          <p:cNvSpPr/>
          <p:nvPr/>
        </p:nvSpPr>
        <p:spPr>
          <a:xfrm>
            <a:off x="566928" y="5943600"/>
            <a:ext cx="10972800" cy="274320"/>
          </a:xfrm>
          <a:prstGeom prst="rect">
            <a:avLst/>
          </a:prstGeom>
          <a:noFill/>
          <a:ln/>
        </p:spPr>
        <p:txBody>
          <a:bodyPr wrap="square" lIns="0" tIns="0" rIns="0" bIns="0" rtlCol="0" anchor="ctr"/>
          <a:lstStyle/>
          <a:p>
            <a:pPr indent="0" marL="0">
              <a:buNone/>
            </a:pPr>
            <a:r>
              <a:rPr lang="en-US" sz="1050" i="1" dirty="0">
                <a:solidFill>
                  <a:srgbClr val="6B7396"/>
                </a:solidFill>
                <a:latin typeface="Calibri" pitchFamily="34" charset="0"/>
                <a:ea typeface="Calibri" pitchFamily="34" charset="-122"/>
                <a:cs typeface="Calibri" pitchFamily="34" charset="-120"/>
              </a:rPr>
              <a:t>Lilli is named after Lillian Dombrowski, McKinsey's first professional woman hire — who started the firm's archives.</a:t>
            </a:r>
            <a:endParaRPr lang="en-US" sz="1050" dirty="0"/>
          </a:p>
        </p:txBody>
      </p:sp>
      <p:sp>
        <p:nvSpPr>
          <p:cNvPr id="30" name="Text 28"/>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31" name="Text 29"/>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CASE STUDIES — THE CLOSEST ANALOGUES</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CPG, pharma and industrial</a:t>
            </a:r>
            <a:endParaRPr lang="en-US" sz="2900" dirty="0"/>
          </a:p>
        </p:txBody>
      </p:sp>
      <p:sp>
        <p:nvSpPr>
          <p:cNvPr id="4" name="Shape 2"/>
          <p:cNvSpPr/>
          <p:nvPr/>
        </p:nvSpPr>
        <p:spPr>
          <a:xfrm>
            <a:off x="566928" y="1499616"/>
            <a:ext cx="5486400" cy="2395728"/>
          </a:xfrm>
          <a:prstGeom prst="roundRect">
            <a:avLst>
              <a:gd name="adj" fmla="val 3053"/>
            </a:avLst>
          </a:prstGeom>
          <a:solidFill>
            <a:srgbClr val="F5F7FC"/>
          </a:solidFill>
          <a:ln/>
        </p:spPr>
      </p:sp>
      <p:sp>
        <p:nvSpPr>
          <p:cNvPr id="5" name="Text 3"/>
          <p:cNvSpPr/>
          <p:nvPr/>
        </p:nvSpPr>
        <p:spPr>
          <a:xfrm>
            <a:off x="822960" y="1682496"/>
            <a:ext cx="5029200" cy="310896"/>
          </a:xfrm>
          <a:prstGeom prst="rect">
            <a:avLst/>
          </a:prstGeom>
          <a:noFill/>
          <a:ln/>
        </p:spPr>
        <p:txBody>
          <a:bodyPr wrap="square" lIns="0" tIns="0" rIns="0" bIns="0" rtlCol="0" anchor="ctr"/>
          <a:lstStyle/>
          <a:p>
            <a:pPr indent="0" marL="0">
              <a:buNone/>
            </a:pPr>
            <a:r>
              <a:rPr lang="en-US" sz="1700" b="1" dirty="0">
                <a:solidFill>
                  <a:srgbClr val="1A1F35"/>
                </a:solidFill>
                <a:latin typeface="Cambria" pitchFamily="34" charset="0"/>
                <a:ea typeface="Cambria" pitchFamily="34" charset="-122"/>
                <a:cs typeface="Cambria" pitchFamily="34" charset="-120"/>
              </a:rPr>
              <a:t>Nestlé — NesGPT</a:t>
            </a:r>
            <a:endParaRPr lang="en-US" sz="1700" dirty="0"/>
          </a:p>
        </p:txBody>
      </p:sp>
      <p:sp>
        <p:nvSpPr>
          <p:cNvPr id="6" name="Text 4"/>
          <p:cNvSpPr/>
          <p:nvPr/>
        </p:nvSpPr>
        <p:spPr>
          <a:xfrm>
            <a:off x="822960" y="2011680"/>
            <a:ext cx="5029200" cy="237744"/>
          </a:xfrm>
          <a:prstGeom prst="rect">
            <a:avLst/>
          </a:prstGeom>
          <a:noFill/>
          <a:ln/>
        </p:spPr>
        <p:txBody>
          <a:bodyPr wrap="square" lIns="0" tIns="0" rIns="0" bIns="0" rtlCol="0" anchor="ctr"/>
          <a:lstStyle/>
          <a:p>
            <a:pPr indent="0" marL="0">
              <a:buNone/>
            </a:pPr>
            <a:r>
              <a:rPr lang="en-US" sz="900" b="1" spc="120" kern="0" dirty="0">
                <a:solidFill>
                  <a:srgbClr val="D08C34"/>
                </a:solidFill>
                <a:latin typeface="Calibri" pitchFamily="34" charset="0"/>
                <a:ea typeface="Calibri" pitchFamily="34" charset="-122"/>
                <a:cs typeface="Calibri" pitchFamily="34" charset="-120"/>
              </a:rPr>
              <a:t>THE BEST CPG ANALOGUE</a:t>
            </a:r>
            <a:endParaRPr lang="en-US" sz="900" dirty="0"/>
          </a:p>
        </p:txBody>
      </p:sp>
      <p:sp>
        <p:nvSpPr>
          <p:cNvPr id="7" name="Text 5"/>
          <p:cNvSpPr/>
          <p:nvPr/>
        </p:nvSpPr>
        <p:spPr>
          <a:xfrm>
            <a:off x="822960" y="2322576"/>
            <a:ext cx="5029200" cy="566928"/>
          </a:xfrm>
          <a:prstGeom prst="rect">
            <a:avLst/>
          </a:prstGeom>
          <a:noFill/>
          <a:ln/>
        </p:spPr>
        <p:txBody>
          <a:bodyPr wrap="square" lIns="0" tIns="0" rIns="0" bIns="0" rtlCol="0" anchor="ctr"/>
          <a:lstStyle/>
          <a:p>
            <a:pPr indent="0" marL="0">
              <a:buNone/>
            </a:pPr>
            <a:r>
              <a:rPr lang="en-US" sz="1100" dirty="0">
                <a:solidFill>
                  <a:srgbClr val="6B7396"/>
                </a:solidFill>
                <a:latin typeface="Calibri" pitchFamily="34" charset="0"/>
                <a:ea typeface="Calibri" pitchFamily="34" charset="-122"/>
                <a:cs typeface="Calibri" pitchFamily="34" charset="-120"/>
              </a:rPr>
              <a:t>Built on ChatGPT / Azure OpenAI. Framed explicitly as an anti-"shadow AI" governance play as much as a productivity one.</a:t>
            </a:r>
            <a:endParaRPr lang="en-US" sz="1100" dirty="0"/>
          </a:p>
        </p:txBody>
      </p:sp>
      <p:sp>
        <p:nvSpPr>
          <p:cNvPr id="8" name="Text 6"/>
          <p:cNvSpPr/>
          <p:nvPr/>
        </p:nvSpPr>
        <p:spPr>
          <a:xfrm>
            <a:off x="822960" y="2980944"/>
            <a:ext cx="1143000" cy="29260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7,000+</a:t>
            </a:r>
            <a:endParaRPr lang="en-US" sz="1400" dirty="0"/>
          </a:p>
        </p:txBody>
      </p:sp>
      <p:sp>
        <p:nvSpPr>
          <p:cNvPr id="9" name="Text 7"/>
          <p:cNvSpPr/>
          <p:nvPr/>
        </p:nvSpPr>
        <p:spPr>
          <a:xfrm>
            <a:off x="1993392" y="3017520"/>
            <a:ext cx="1280160" cy="256032"/>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US employees</a:t>
            </a:r>
            <a:endParaRPr lang="en-US" sz="950" dirty="0"/>
          </a:p>
        </p:txBody>
      </p:sp>
      <p:sp>
        <p:nvSpPr>
          <p:cNvPr id="10" name="Text 8"/>
          <p:cNvSpPr/>
          <p:nvPr/>
        </p:nvSpPr>
        <p:spPr>
          <a:xfrm>
            <a:off x="3337560" y="2980944"/>
            <a:ext cx="1143000" cy="29260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230k</a:t>
            </a:r>
            <a:endParaRPr lang="en-US" sz="1400" dirty="0"/>
          </a:p>
        </p:txBody>
      </p:sp>
      <p:sp>
        <p:nvSpPr>
          <p:cNvPr id="11" name="Text 9"/>
          <p:cNvSpPr/>
          <p:nvPr/>
        </p:nvSpPr>
        <p:spPr>
          <a:xfrm>
            <a:off x="4507992" y="3017520"/>
            <a:ext cx="1280160" cy="256032"/>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prompts in 3 months</a:t>
            </a:r>
            <a:endParaRPr lang="en-US" sz="950" dirty="0"/>
          </a:p>
        </p:txBody>
      </p:sp>
      <p:sp>
        <p:nvSpPr>
          <p:cNvPr id="12" name="Text 10"/>
          <p:cNvSpPr/>
          <p:nvPr/>
        </p:nvSpPr>
        <p:spPr>
          <a:xfrm>
            <a:off x="822960" y="3456432"/>
            <a:ext cx="1143000" cy="29260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45 min</a:t>
            </a:r>
            <a:endParaRPr lang="en-US" sz="1400" dirty="0"/>
          </a:p>
        </p:txBody>
      </p:sp>
      <p:sp>
        <p:nvSpPr>
          <p:cNvPr id="13" name="Text 11"/>
          <p:cNvSpPr/>
          <p:nvPr/>
        </p:nvSpPr>
        <p:spPr>
          <a:xfrm>
            <a:off x="1993392" y="3493008"/>
            <a:ext cx="1280160" cy="256032"/>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saved per week</a:t>
            </a:r>
            <a:endParaRPr lang="en-US" sz="950" dirty="0"/>
          </a:p>
        </p:txBody>
      </p:sp>
      <p:sp>
        <p:nvSpPr>
          <p:cNvPr id="14" name="Text 12"/>
          <p:cNvSpPr/>
          <p:nvPr/>
        </p:nvSpPr>
        <p:spPr>
          <a:xfrm>
            <a:off x="3337560" y="3456432"/>
            <a:ext cx="1143000" cy="29260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6mo → 6wk</a:t>
            </a:r>
            <a:endParaRPr lang="en-US" sz="1400" dirty="0"/>
          </a:p>
        </p:txBody>
      </p:sp>
      <p:sp>
        <p:nvSpPr>
          <p:cNvPr id="15" name="Text 13"/>
          <p:cNvSpPr/>
          <p:nvPr/>
        </p:nvSpPr>
        <p:spPr>
          <a:xfrm>
            <a:off x="4507992" y="3493008"/>
            <a:ext cx="1280160" cy="256032"/>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product ideation</a:t>
            </a:r>
            <a:endParaRPr lang="en-US" sz="950" dirty="0"/>
          </a:p>
        </p:txBody>
      </p:sp>
      <p:sp>
        <p:nvSpPr>
          <p:cNvPr id="16" name="Shape 14"/>
          <p:cNvSpPr/>
          <p:nvPr/>
        </p:nvSpPr>
        <p:spPr>
          <a:xfrm>
            <a:off x="6236208" y="1499616"/>
            <a:ext cx="5394960" cy="2395728"/>
          </a:xfrm>
          <a:prstGeom prst="roundRect">
            <a:avLst>
              <a:gd name="adj" fmla="val 3053"/>
            </a:avLst>
          </a:prstGeom>
          <a:solidFill>
            <a:srgbClr val="1E2761"/>
          </a:solidFill>
          <a:ln/>
        </p:spPr>
      </p:sp>
      <p:sp>
        <p:nvSpPr>
          <p:cNvPr id="17" name="Text 15"/>
          <p:cNvSpPr/>
          <p:nvPr/>
        </p:nvSpPr>
        <p:spPr>
          <a:xfrm>
            <a:off x="6492240" y="1682496"/>
            <a:ext cx="493776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Moderna — mChat</a:t>
            </a:r>
            <a:endParaRPr lang="en-US" sz="1700" dirty="0"/>
          </a:p>
        </p:txBody>
      </p:sp>
      <p:sp>
        <p:nvSpPr>
          <p:cNvPr id="18" name="Text 16"/>
          <p:cNvSpPr/>
          <p:nvPr/>
        </p:nvSpPr>
        <p:spPr>
          <a:xfrm>
            <a:off x="6492240" y="2011680"/>
            <a:ext cx="4937760" cy="237744"/>
          </a:xfrm>
          <a:prstGeom prst="rect">
            <a:avLst/>
          </a:prstGeom>
          <a:noFill/>
          <a:ln/>
        </p:spPr>
        <p:txBody>
          <a:bodyPr wrap="square" lIns="0" tIns="0" rIns="0" bIns="0" rtlCol="0" anchor="ctr"/>
          <a:lstStyle/>
          <a:p>
            <a:pPr indent="0" marL="0">
              <a:buNone/>
            </a:pPr>
            <a:r>
              <a:rPr lang="en-US" sz="900" b="1" spc="120" kern="0" dirty="0">
                <a:solidFill>
                  <a:srgbClr val="D08C34"/>
                </a:solidFill>
                <a:latin typeface="Calibri" pitchFamily="34" charset="0"/>
                <a:ea typeface="Calibri" pitchFamily="34" charset="-122"/>
                <a:cs typeface="Calibri" pitchFamily="34" charset="-120"/>
              </a:rPr>
              <a:t>THE MID-COMPLEXITY BLUEPRINT</a:t>
            </a:r>
            <a:endParaRPr lang="en-US" sz="900" dirty="0"/>
          </a:p>
        </p:txBody>
      </p:sp>
      <p:sp>
        <p:nvSpPr>
          <p:cNvPr id="19" name="Text 17"/>
          <p:cNvSpPr/>
          <p:nvPr/>
        </p:nvSpPr>
        <p:spPr>
          <a:xfrm>
            <a:off x="6510528" y="2322576"/>
            <a:ext cx="4937760" cy="146304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CADCFC"/>
                </a:solidFill>
                <a:latin typeface="Calibri" pitchFamily="34" charset="0"/>
                <a:ea typeface="Calibri" pitchFamily="34" charset="-122"/>
                <a:cs typeface="Calibri" pitchFamily="34" charset="-120"/>
              </a:rPr>
              <a:t>Built on OpenAI's API in ~two weeks — enabled by a decade of standardised data infrastructure</a:t>
            </a:r>
            <a:endParaRPr lang="en-US" sz="1000" dirty="0"/>
          </a:p>
          <a:p>
            <a:pPr marL="342900" indent="-342900">
              <a:spcAft>
                <a:spcPts val="500"/>
              </a:spcAft>
              <a:buSzPct val="100000"/>
              <a:buChar char="•"/>
            </a:pPr>
            <a:r>
              <a:rPr lang="en-US" sz="1000" dirty="0">
                <a:solidFill>
                  <a:srgbClr val="CADCFC"/>
                </a:solidFill>
                <a:latin typeface="Calibri" pitchFamily="34" charset="0"/>
                <a:ea typeface="Calibri" pitchFamily="34" charset="-122"/>
                <a:cs typeface="Calibri" pitchFamily="34" charset="-120"/>
              </a:rPr>
              <a:t>80%+ employee adoption; ran a bake-off of mChat vs. Copilot vs. ChatGPT Enterprise and chose on employee NPS</a:t>
            </a:r>
            <a:endParaRPr lang="en-US" sz="1000" dirty="0"/>
          </a:p>
          <a:p>
            <a:pPr marL="342900" indent="-342900">
              <a:spcAft>
                <a:spcPts val="500"/>
              </a:spcAft>
              <a:buSzPct val="100000"/>
              <a:buChar char="•"/>
            </a:pPr>
            <a:r>
              <a:rPr lang="en-US" sz="1000" dirty="0">
                <a:solidFill>
                  <a:srgbClr val="CADCFC"/>
                </a:solidFill>
                <a:latin typeface="Calibri" pitchFamily="34" charset="0"/>
                <a:ea typeface="Calibri" pitchFamily="34" charset="-122"/>
                <a:cs typeface="Calibri" pitchFamily="34" charset="-120"/>
              </a:rPr>
              <a:t>750+ custom GPTs within ~two months, including Dose ID for vaccine dosing</a:t>
            </a:r>
            <a:endParaRPr lang="en-US" sz="1000" dirty="0"/>
          </a:p>
          <a:p>
            <a:pPr marL="342900" indent="-342900">
              <a:spcAft>
                <a:spcPts val="500"/>
              </a:spcAft>
              <a:buSzPct val="100000"/>
              <a:buChar char="•"/>
            </a:pPr>
            <a:r>
              <a:rPr lang="en-US" sz="1000" dirty="0">
                <a:solidFill>
                  <a:srgbClr val="CADCFC"/>
                </a:solidFill>
                <a:latin typeface="Calibri" pitchFamily="34" charset="0"/>
                <a:ea typeface="Calibri" pitchFamily="34" charset="-122"/>
                <a:cs typeface="Calibri" pitchFamily="34" charset="-120"/>
              </a:rPr>
              <a:t>HBS case flags the tension: hallucination risk in sensitive processes</a:t>
            </a:r>
            <a:endParaRPr lang="en-US" sz="1000" dirty="0"/>
          </a:p>
        </p:txBody>
      </p:sp>
      <p:sp>
        <p:nvSpPr>
          <p:cNvPr id="20" name="Shape 18"/>
          <p:cNvSpPr/>
          <p:nvPr/>
        </p:nvSpPr>
        <p:spPr>
          <a:xfrm>
            <a:off x="566928" y="4133088"/>
            <a:ext cx="2615184" cy="1700784"/>
          </a:xfrm>
          <a:prstGeom prst="roundRect">
            <a:avLst>
              <a:gd name="adj" fmla="val 4301"/>
            </a:avLst>
          </a:prstGeom>
          <a:solidFill>
            <a:srgbClr val="FFFFFF"/>
          </a:solidFill>
          <a:ln w="12700">
            <a:solidFill>
              <a:srgbClr val="D9E0F2"/>
            </a:solidFill>
            <a:prstDash val="solid"/>
          </a:ln>
        </p:spPr>
      </p:sp>
      <p:sp>
        <p:nvSpPr>
          <p:cNvPr id="21" name="Text 19"/>
          <p:cNvSpPr/>
          <p:nvPr/>
        </p:nvSpPr>
        <p:spPr>
          <a:xfrm>
            <a:off x="786384" y="4334256"/>
            <a:ext cx="219456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Coca-Cola</a:t>
            </a:r>
            <a:endParaRPr lang="en-US" sz="1200" dirty="0"/>
          </a:p>
        </p:txBody>
      </p:sp>
      <p:sp>
        <p:nvSpPr>
          <p:cNvPr id="22" name="Text 20"/>
          <p:cNvSpPr/>
          <p:nvPr/>
        </p:nvSpPr>
        <p:spPr>
          <a:xfrm>
            <a:off x="786384" y="4773168"/>
            <a:ext cx="2212848" cy="969264"/>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$1.1B five-year Microsoft cloud/AI commitment; piloting Azure OpenAI and Copilot to cut "time-to-answer."</a:t>
            </a:r>
            <a:endParaRPr lang="en-US" sz="950" dirty="0"/>
          </a:p>
        </p:txBody>
      </p:sp>
      <p:sp>
        <p:nvSpPr>
          <p:cNvPr id="23" name="Shape 21"/>
          <p:cNvSpPr/>
          <p:nvPr/>
        </p:nvSpPr>
        <p:spPr>
          <a:xfrm>
            <a:off x="3383280" y="4133088"/>
            <a:ext cx="2615184" cy="1700784"/>
          </a:xfrm>
          <a:prstGeom prst="roundRect">
            <a:avLst>
              <a:gd name="adj" fmla="val 4301"/>
            </a:avLst>
          </a:prstGeom>
          <a:solidFill>
            <a:srgbClr val="FFFFFF"/>
          </a:solidFill>
          <a:ln w="12700">
            <a:solidFill>
              <a:srgbClr val="D9E0F2"/>
            </a:solidFill>
            <a:prstDash val="solid"/>
          </a:ln>
        </p:spPr>
      </p:sp>
      <p:sp>
        <p:nvSpPr>
          <p:cNvPr id="24" name="Text 22"/>
          <p:cNvSpPr/>
          <p:nvPr/>
        </p:nvSpPr>
        <p:spPr>
          <a:xfrm>
            <a:off x="3602736" y="4334256"/>
            <a:ext cx="219456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PepsiCo</a:t>
            </a:r>
            <a:endParaRPr lang="en-US" sz="1200" dirty="0"/>
          </a:p>
        </p:txBody>
      </p:sp>
      <p:sp>
        <p:nvSpPr>
          <p:cNvPr id="25" name="Text 23"/>
          <p:cNvSpPr/>
          <p:nvPr/>
        </p:nvSpPr>
        <p:spPr>
          <a:xfrm>
            <a:off x="3602736" y="4773168"/>
            <a:ext cx="2212848" cy="969264"/>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PepGenX on Amazon Bedrock as an internal sandbox; deploying Salesforce Agentforce.</a:t>
            </a:r>
            <a:endParaRPr lang="en-US" sz="950" dirty="0"/>
          </a:p>
        </p:txBody>
      </p:sp>
      <p:sp>
        <p:nvSpPr>
          <p:cNvPr id="26" name="Shape 24"/>
          <p:cNvSpPr/>
          <p:nvPr/>
        </p:nvSpPr>
        <p:spPr>
          <a:xfrm>
            <a:off x="6199632" y="4133088"/>
            <a:ext cx="2615184" cy="1700784"/>
          </a:xfrm>
          <a:prstGeom prst="roundRect">
            <a:avLst>
              <a:gd name="adj" fmla="val 4301"/>
            </a:avLst>
          </a:prstGeom>
          <a:solidFill>
            <a:srgbClr val="FFFFFF"/>
          </a:solidFill>
          <a:ln w="12700">
            <a:solidFill>
              <a:srgbClr val="D9E0F2"/>
            </a:solidFill>
            <a:prstDash val="solid"/>
          </a:ln>
        </p:spPr>
      </p:sp>
      <p:sp>
        <p:nvSpPr>
          <p:cNvPr id="27" name="Text 25"/>
          <p:cNvSpPr/>
          <p:nvPr/>
        </p:nvSpPr>
        <p:spPr>
          <a:xfrm>
            <a:off x="6419088" y="4334256"/>
            <a:ext cx="219456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Siemens</a:t>
            </a:r>
            <a:endParaRPr lang="en-US" sz="1200" dirty="0"/>
          </a:p>
        </p:txBody>
      </p:sp>
      <p:sp>
        <p:nvSpPr>
          <p:cNvPr id="28" name="Text 26"/>
          <p:cNvSpPr/>
          <p:nvPr/>
        </p:nvSpPr>
        <p:spPr>
          <a:xfrm>
            <a:off x="6419088" y="4773168"/>
            <a:ext cx="2212848" cy="969264"/>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Industrial Copilot translates machine error codes and surfaces decades of shop-floor engineering expertise.</a:t>
            </a:r>
            <a:endParaRPr lang="en-US" sz="950" dirty="0"/>
          </a:p>
        </p:txBody>
      </p:sp>
      <p:sp>
        <p:nvSpPr>
          <p:cNvPr id="29" name="Shape 27"/>
          <p:cNvSpPr/>
          <p:nvPr/>
        </p:nvSpPr>
        <p:spPr>
          <a:xfrm>
            <a:off x="9015984" y="4133088"/>
            <a:ext cx="2615184" cy="1700784"/>
          </a:xfrm>
          <a:prstGeom prst="roundRect">
            <a:avLst>
              <a:gd name="adj" fmla="val 4301"/>
            </a:avLst>
          </a:prstGeom>
          <a:solidFill>
            <a:srgbClr val="FFFFFF"/>
          </a:solidFill>
          <a:ln w="12700">
            <a:solidFill>
              <a:srgbClr val="D9E0F2"/>
            </a:solidFill>
            <a:prstDash val="solid"/>
          </a:ln>
        </p:spPr>
      </p:sp>
      <p:sp>
        <p:nvSpPr>
          <p:cNvPr id="30" name="Text 28"/>
          <p:cNvSpPr/>
          <p:nvPr/>
        </p:nvSpPr>
        <p:spPr>
          <a:xfrm>
            <a:off x="9235440" y="4334256"/>
            <a:ext cx="219456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Unilever, Mars, Colgate</a:t>
            </a:r>
            <a:endParaRPr lang="en-US" sz="1200" dirty="0"/>
          </a:p>
        </p:txBody>
      </p:sp>
      <p:sp>
        <p:nvSpPr>
          <p:cNvPr id="31" name="Text 29"/>
          <p:cNvSpPr/>
          <p:nvPr/>
        </p:nvSpPr>
        <p:spPr>
          <a:xfrm>
            <a:off x="9235440" y="4773168"/>
            <a:ext cx="2212848" cy="969264"/>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Still at the productivity-assistant and marketing-content stage — not enterprise-wide knowledge capture.</a:t>
            </a:r>
            <a:endParaRPr lang="en-US" sz="950" dirty="0"/>
          </a:p>
        </p:txBody>
      </p:sp>
      <p:sp>
        <p:nvSpPr>
          <p:cNvPr id="32" name="Text 30"/>
          <p:cNvSpPr/>
          <p:nvPr/>
        </p:nvSpPr>
        <p:spPr>
          <a:xfrm>
            <a:off x="566928" y="5961888"/>
            <a:ext cx="10972800" cy="274320"/>
          </a:xfrm>
          <a:prstGeom prst="rect">
            <a:avLst/>
          </a:prstGeom>
          <a:noFill/>
          <a:ln/>
        </p:spPr>
        <p:txBody>
          <a:bodyPr wrap="square" lIns="0" tIns="0" rIns="0" bIns="0"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CPG peers are mostly running assistants, not knowledge graphs. That is both e.l.f.'s opportunity and its caution.</a:t>
            </a:r>
            <a:endParaRPr lang="en-US" sz="1100" dirty="0"/>
          </a:p>
        </p:txBody>
      </p:sp>
      <p:sp>
        <p:nvSpPr>
          <p:cNvPr id="33" name="Text 31"/>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34" name="Text 32"/>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THE PATTERN</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Adoption — not technology — separates winners</a:t>
            </a:r>
            <a:endParaRPr lang="en-US" sz="2900" dirty="0"/>
          </a:p>
        </p:txBody>
      </p:sp>
      <p:graphicFrame>
        <p:nvGraphicFramePr>
          <p:cNvPr id="4" name="Chart 0" descr=""/>
          <p:cNvGraphicFramePr/>
          <p:nvPr/>
        </p:nvGraphicFramePr>
        <p:xfrm>
          <a:off x="566928" y="1554480"/>
          <a:ext cx="685800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99248" y="1554480"/>
            <a:ext cx="3931920" cy="1773936"/>
          </a:xfrm>
          <a:prstGeom prst="roundRect">
            <a:avLst>
              <a:gd name="adj" fmla="val 4124"/>
            </a:avLst>
          </a:prstGeom>
          <a:solidFill>
            <a:srgbClr val="1E2761"/>
          </a:solidFill>
          <a:ln/>
        </p:spPr>
      </p:sp>
      <p:sp>
        <p:nvSpPr>
          <p:cNvPr id="6" name="Text 3"/>
          <p:cNvSpPr/>
          <p:nvPr/>
        </p:nvSpPr>
        <p:spPr>
          <a:xfrm>
            <a:off x="7936992" y="1737360"/>
            <a:ext cx="347472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What drives usage</a:t>
            </a:r>
            <a:endParaRPr lang="en-US" sz="1300" dirty="0"/>
          </a:p>
        </p:txBody>
      </p:sp>
      <p:sp>
        <p:nvSpPr>
          <p:cNvPr id="7" name="Text 4"/>
          <p:cNvSpPr/>
          <p:nvPr/>
        </p:nvSpPr>
        <p:spPr>
          <a:xfrm>
            <a:off x="7955280" y="2084832"/>
            <a:ext cx="3474720" cy="1152144"/>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Evangelist / champion networks</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Leadership role-modelling</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Prompt contests and embedded training</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Integration into daily workflow</a:t>
            </a:r>
            <a:endParaRPr lang="en-US" sz="1050" dirty="0"/>
          </a:p>
        </p:txBody>
      </p:sp>
      <p:sp>
        <p:nvSpPr>
          <p:cNvPr id="8" name="Shape 5"/>
          <p:cNvSpPr/>
          <p:nvPr/>
        </p:nvSpPr>
        <p:spPr>
          <a:xfrm>
            <a:off x="7699248" y="3474720"/>
            <a:ext cx="3931920" cy="1691640"/>
          </a:xfrm>
          <a:prstGeom prst="roundRect">
            <a:avLst>
              <a:gd name="adj" fmla="val 4324"/>
            </a:avLst>
          </a:prstGeom>
          <a:solidFill>
            <a:srgbClr val="F5F7FC"/>
          </a:solidFill>
          <a:ln/>
        </p:spPr>
      </p:sp>
      <p:sp>
        <p:nvSpPr>
          <p:cNvPr id="9" name="Text 6"/>
          <p:cNvSpPr/>
          <p:nvPr/>
        </p:nvSpPr>
        <p:spPr>
          <a:xfrm>
            <a:off x="7936992" y="3657600"/>
            <a:ext cx="3474720" cy="274320"/>
          </a:xfrm>
          <a:prstGeom prst="rect">
            <a:avLst/>
          </a:prstGeom>
          <a:noFill/>
          <a:ln/>
        </p:spPr>
        <p:txBody>
          <a:bodyPr wrap="square" lIns="0" tIns="0" rIns="0" bIns="0" rtlCol="0" anchor="ctr"/>
          <a:lstStyle/>
          <a:p>
            <a:pPr indent="0" marL="0">
              <a:buNone/>
            </a:pPr>
            <a:r>
              <a:rPr lang="en-US" sz="1300" b="1" dirty="0">
                <a:solidFill>
                  <a:srgbClr val="9E2A2B"/>
                </a:solidFill>
                <a:latin typeface="Calibri" pitchFamily="34" charset="0"/>
                <a:ea typeface="Calibri" pitchFamily="34" charset="-122"/>
                <a:cs typeface="Calibri" pitchFamily="34" charset="-120"/>
              </a:rPr>
              <a:t>What causes stalls</a:t>
            </a:r>
            <a:endParaRPr lang="en-US" sz="1300" dirty="0"/>
          </a:p>
        </p:txBody>
      </p:sp>
      <p:sp>
        <p:nvSpPr>
          <p:cNvPr id="10" name="Text 7"/>
          <p:cNvSpPr/>
          <p:nvPr/>
        </p:nvSpPr>
        <p:spPr>
          <a:xfrm>
            <a:off x="7955280" y="4005072"/>
            <a:ext cx="3474720" cy="109728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A1F35"/>
                </a:solidFill>
                <a:latin typeface="Calibri" pitchFamily="34" charset="0"/>
                <a:ea typeface="Calibri" pitchFamily="34" charset="-122"/>
                <a:cs typeface="Calibri" pitchFamily="34" charset="-120"/>
              </a:rPr>
              <a:t>"If we build it they will come"</a:t>
            </a:r>
            <a:endParaRPr lang="en-US" sz="1050" dirty="0"/>
          </a:p>
          <a:p>
            <a:pPr marL="342900" indent="-342900">
              <a:spcAft>
                <a:spcPts val="500"/>
              </a:spcAft>
              <a:buSzPct val="100000"/>
              <a:buChar char="•"/>
            </a:pPr>
            <a:r>
              <a:rPr lang="en-US" sz="1050" dirty="0">
                <a:solidFill>
                  <a:srgbClr val="1A1F35"/>
                </a:solidFill>
                <a:latin typeface="Calibri" pitchFamily="34" charset="0"/>
                <a:ea typeface="Calibri" pitchFamily="34" charset="-122"/>
                <a:cs typeface="Calibri" pitchFamily="34" charset="-120"/>
              </a:rPr>
              <a:t>No executive sponsorship</a:t>
            </a:r>
            <a:endParaRPr lang="en-US" sz="1050" dirty="0"/>
          </a:p>
          <a:p>
            <a:pPr marL="342900" indent="-342900">
              <a:spcAft>
                <a:spcPts val="500"/>
              </a:spcAft>
              <a:buSzPct val="100000"/>
              <a:buChar char="•"/>
            </a:pPr>
            <a:r>
              <a:rPr lang="en-US" sz="1050" dirty="0">
                <a:solidFill>
                  <a:srgbClr val="1A1F35"/>
                </a:solidFill>
                <a:latin typeface="Calibri" pitchFamily="34" charset="0"/>
                <a:ea typeface="Calibri" pitchFamily="34" charset="-122"/>
                <a:cs typeface="Calibri" pitchFamily="34" charset="-120"/>
              </a:rPr>
              <a:t>Unclear ROI measurement</a:t>
            </a:r>
            <a:endParaRPr lang="en-US" sz="1050" dirty="0"/>
          </a:p>
          <a:p>
            <a:pPr marL="342900" indent="-342900">
              <a:spcAft>
                <a:spcPts val="500"/>
              </a:spcAft>
              <a:buSzPct val="100000"/>
              <a:buChar char="•"/>
            </a:pPr>
            <a:r>
              <a:rPr lang="en-US" sz="1050" dirty="0">
                <a:solidFill>
                  <a:srgbClr val="1A1F35"/>
                </a:solidFill>
                <a:latin typeface="Calibri" pitchFamily="34" charset="0"/>
                <a:ea typeface="Calibri" pitchFamily="34" charset="-122"/>
                <a:cs typeface="Calibri" pitchFamily="34" charset="-120"/>
              </a:rPr>
              <a:t>Stale, ungoverned content</a:t>
            </a:r>
            <a:endParaRPr lang="en-US" sz="1050" dirty="0"/>
          </a:p>
        </p:txBody>
      </p:sp>
      <p:sp>
        <p:nvSpPr>
          <p:cNvPr id="11" name="Text 8"/>
          <p:cNvSpPr/>
          <p:nvPr/>
        </p:nvSpPr>
        <p:spPr>
          <a:xfrm>
            <a:off x="566928" y="5504688"/>
            <a:ext cx="11064240" cy="310896"/>
          </a:xfrm>
          <a:prstGeom prst="rect">
            <a:avLst/>
          </a:prstGeom>
          <a:noFill/>
          <a:ln/>
        </p:spPr>
        <p:txBody>
          <a:bodyPr wrap="square" lIns="0" tIns="0" rIns="0" bIns="0" rtlCol="0" anchor="ctr"/>
          <a:lstStyle/>
          <a:p>
            <a:pPr indent="0" marL="0">
              <a:buNone/>
            </a:pPr>
            <a:r>
              <a:rPr lang="en-US" sz="1100" i="1" dirty="0">
                <a:solidFill>
                  <a:srgbClr val="6B7396"/>
                </a:solidFill>
                <a:latin typeface="Calibri" pitchFamily="34" charset="0"/>
                <a:ea typeface="Calibri" pitchFamily="34" charset="-122"/>
                <a:cs typeface="Calibri" pitchFamily="34" charset="-120"/>
              </a:rPr>
              <a:t>McKinsey rolled out to a controlled group of 2,500 first, then scaled through "Lilli evangelists" and leaders asking "Have you asked Lilli?"</a:t>
            </a:r>
            <a:endParaRPr lang="en-US" sz="1100" dirty="0"/>
          </a:p>
        </p:txBody>
      </p:sp>
      <p:sp>
        <p:nvSpPr>
          <p:cNvPr id="12" name="Text 9"/>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13" name="Text 10"/>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VENDOR LANDSCAPE</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Three archetypes, one shortlist</a:t>
            </a:r>
            <a:endParaRPr lang="en-US" sz="2900" dirty="0"/>
          </a:p>
        </p:txBody>
      </p:sp>
      <p:sp>
        <p:nvSpPr>
          <p:cNvPr id="4" name="Shape 2"/>
          <p:cNvSpPr/>
          <p:nvPr/>
        </p:nvSpPr>
        <p:spPr>
          <a:xfrm>
            <a:off x="566928" y="1499616"/>
            <a:ext cx="3566160" cy="2139696"/>
          </a:xfrm>
          <a:prstGeom prst="roundRect">
            <a:avLst>
              <a:gd name="adj" fmla="val 3419"/>
            </a:avLst>
          </a:prstGeom>
          <a:solidFill>
            <a:srgbClr val="F5F7FC"/>
          </a:solidFill>
          <a:ln/>
        </p:spPr>
      </p:sp>
      <p:sp>
        <p:nvSpPr>
          <p:cNvPr id="5" name="Text 3"/>
          <p:cNvSpPr/>
          <p:nvPr/>
        </p:nvSpPr>
        <p:spPr>
          <a:xfrm>
            <a:off x="804672" y="1682496"/>
            <a:ext cx="310896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1 · Horizontal work-AI</a:t>
            </a:r>
            <a:endParaRPr lang="en-US" sz="1250" dirty="0"/>
          </a:p>
        </p:txBody>
      </p:sp>
      <p:sp>
        <p:nvSpPr>
          <p:cNvPr id="6" name="Text 4"/>
          <p:cNvSpPr/>
          <p:nvPr/>
        </p:nvSpPr>
        <p:spPr>
          <a:xfrm>
            <a:off x="804672" y="2029968"/>
            <a:ext cx="3108960" cy="1481328"/>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Glean · Microsoft 365 Copilot · Google Gemini Enterprise · Guru · Dropbox Dash · Box AI · Notion AI · Slack AI · Atlassian Rovo · Coveo · Elastic · Sinequa · Hebbia · Moveworks · Writer</a:t>
            </a:r>
            <a:endParaRPr lang="en-US" sz="1000" dirty="0"/>
          </a:p>
        </p:txBody>
      </p:sp>
      <p:sp>
        <p:nvSpPr>
          <p:cNvPr id="7" name="Shape 5"/>
          <p:cNvSpPr/>
          <p:nvPr/>
        </p:nvSpPr>
        <p:spPr>
          <a:xfrm>
            <a:off x="4315968" y="1499616"/>
            <a:ext cx="3566160" cy="2139696"/>
          </a:xfrm>
          <a:prstGeom prst="roundRect">
            <a:avLst>
              <a:gd name="adj" fmla="val 3419"/>
            </a:avLst>
          </a:prstGeom>
          <a:solidFill>
            <a:srgbClr val="F5F7FC"/>
          </a:solidFill>
          <a:ln/>
        </p:spPr>
      </p:sp>
      <p:sp>
        <p:nvSpPr>
          <p:cNvPr id="8" name="Text 6"/>
          <p:cNvSpPr/>
          <p:nvPr/>
        </p:nvSpPr>
        <p:spPr>
          <a:xfrm>
            <a:off x="4553712" y="1682496"/>
            <a:ext cx="310896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2 · Hyperscaler / data</a:t>
            </a:r>
            <a:endParaRPr lang="en-US" sz="1250" dirty="0"/>
          </a:p>
        </p:txBody>
      </p:sp>
      <p:sp>
        <p:nvSpPr>
          <p:cNvPr id="9" name="Text 7"/>
          <p:cNvSpPr/>
          <p:nvPr/>
        </p:nvSpPr>
        <p:spPr>
          <a:xfrm>
            <a:off x="4553712" y="2029968"/>
            <a:ext cx="3108960" cy="1481328"/>
          </a:xfrm>
          <a:prstGeom prst="rect">
            <a:avLst/>
          </a:prstGeom>
          <a:noFill/>
          <a:ln/>
        </p:spPr>
        <p:txBody>
          <a:bodyPr wrap="square" lIns="0" tIns="0" rIns="0" bIns="0" rtlCol="0" anchor="ctr"/>
          <a:lstStyle/>
          <a:p>
            <a:pPr indent="0" marL="0">
              <a:buNone/>
            </a:pPr>
            <a:r>
              <a:rPr lang="en-US" sz="1000" dirty="0">
                <a:solidFill>
                  <a:srgbClr val="6B7396"/>
                </a:solidFill>
                <a:latin typeface="Calibri" pitchFamily="34" charset="0"/>
                <a:ea typeface="Calibri" pitchFamily="34" charset="-122"/>
                <a:cs typeface="Calibri" pitchFamily="34" charset="-120"/>
              </a:rPr>
              <a:t>AWS Q Business · Snowflake Cortex · Databricks · Palantir Foundry/AIP · IBM watsonx Orchestrate · Salesforce Agentforce · ServiceNow AI · SAP AI (relevant to e.l.f.'s backbone)</a:t>
            </a:r>
            <a:endParaRPr lang="en-US" sz="1000" dirty="0"/>
          </a:p>
        </p:txBody>
      </p:sp>
      <p:sp>
        <p:nvSpPr>
          <p:cNvPr id="10" name="Shape 8"/>
          <p:cNvSpPr/>
          <p:nvPr/>
        </p:nvSpPr>
        <p:spPr>
          <a:xfrm>
            <a:off x="8065008" y="1499616"/>
            <a:ext cx="3566160" cy="2139696"/>
          </a:xfrm>
          <a:prstGeom prst="roundRect">
            <a:avLst>
              <a:gd name="adj" fmla="val 3419"/>
            </a:avLst>
          </a:prstGeom>
          <a:solidFill>
            <a:srgbClr val="1E2761"/>
          </a:solidFill>
          <a:ln/>
        </p:spPr>
      </p:sp>
      <p:sp>
        <p:nvSpPr>
          <p:cNvPr id="11" name="Text 9"/>
          <p:cNvSpPr/>
          <p:nvPr/>
        </p:nvSpPr>
        <p:spPr>
          <a:xfrm>
            <a:off x="8302752" y="1682496"/>
            <a:ext cx="310896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3 · Connective plumbing</a:t>
            </a:r>
            <a:endParaRPr lang="en-US" sz="1250" dirty="0"/>
          </a:p>
        </p:txBody>
      </p:sp>
      <p:sp>
        <p:nvSpPr>
          <p:cNvPr id="12" name="Text 10"/>
          <p:cNvSpPr/>
          <p:nvPr/>
        </p:nvSpPr>
        <p:spPr>
          <a:xfrm>
            <a:off x="8302752" y="2029968"/>
            <a:ext cx="3108960" cy="1481328"/>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Model Context Protocol (MCP) — Anthropic's "USB-C for AI," now adopted by OpenAI, Google, Microsoft, AWS and IBM, donated to the Linux Foundation. Plus Neo4j, Stardog, Alation, Collibra, Atlan.</a:t>
            </a:r>
            <a:endParaRPr lang="en-US" sz="1000" dirty="0"/>
          </a:p>
        </p:txBody>
      </p:sp>
      <p:sp>
        <p:nvSpPr>
          <p:cNvPr id="13" name="Text 11"/>
          <p:cNvSpPr/>
          <p:nvPr/>
        </p:nvSpPr>
        <p:spPr>
          <a:xfrm>
            <a:off x="566928" y="3877056"/>
            <a:ext cx="640080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realistic shortlist for e.l.f.</a:t>
            </a:r>
            <a:endParaRPr lang="en-US" sz="1450" dirty="0"/>
          </a:p>
        </p:txBody>
      </p:sp>
      <p:sp>
        <p:nvSpPr>
          <p:cNvPr id="14" name="Shape 12"/>
          <p:cNvSpPr/>
          <p:nvPr/>
        </p:nvSpPr>
        <p:spPr>
          <a:xfrm>
            <a:off x="566928" y="4279392"/>
            <a:ext cx="3529584" cy="1700784"/>
          </a:xfrm>
          <a:prstGeom prst="roundRect">
            <a:avLst>
              <a:gd name="adj" fmla="val 4301"/>
            </a:avLst>
          </a:prstGeom>
          <a:solidFill>
            <a:srgbClr val="FFFFFF"/>
          </a:solidFill>
          <a:ln w="12700">
            <a:solidFill>
              <a:srgbClr val="D9E0F2"/>
            </a:solidFill>
            <a:prstDash val="solid"/>
          </a:ln>
        </p:spPr>
      </p:sp>
      <p:sp>
        <p:nvSpPr>
          <p:cNvPr id="15" name="Text 13"/>
          <p:cNvSpPr/>
          <p:nvPr/>
        </p:nvSpPr>
        <p:spPr>
          <a:xfrm>
            <a:off x="804672" y="4443984"/>
            <a:ext cx="301752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Google Gemini Enterprise</a:t>
            </a:r>
            <a:endParaRPr lang="en-US" sz="1250" dirty="0"/>
          </a:p>
        </p:txBody>
      </p:sp>
      <p:sp>
        <p:nvSpPr>
          <p:cNvPr id="16" name="Text 14"/>
          <p:cNvSpPr/>
          <p:nvPr/>
        </p:nvSpPr>
        <p:spPr>
          <a:xfrm>
            <a:off x="804672" y="4745736"/>
            <a:ext cx="3017520" cy="219456"/>
          </a:xfrm>
          <a:prstGeom prst="rect">
            <a:avLst/>
          </a:prstGeom>
          <a:noFill/>
          <a:ln/>
        </p:spPr>
        <p:txBody>
          <a:bodyPr wrap="square" lIns="0" tIns="0" rIns="0" bIns="0" rtlCol="0" anchor="ctr"/>
          <a:lstStyle/>
          <a:p>
            <a:pPr indent="0" marL="0">
              <a:buNone/>
            </a:pPr>
            <a:r>
              <a:rPr lang="en-US" sz="850" b="1" spc="110" kern="0" dirty="0">
                <a:solidFill>
                  <a:srgbClr val="D08C34"/>
                </a:solidFill>
                <a:latin typeface="Calibri" pitchFamily="34" charset="0"/>
                <a:ea typeface="Calibri" pitchFamily="34" charset="-122"/>
                <a:cs typeface="Calibri" pitchFamily="34" charset="-120"/>
              </a:rPr>
              <a:t>NATURAL ADJACENCY</a:t>
            </a:r>
            <a:endParaRPr lang="en-US" sz="850" dirty="0"/>
          </a:p>
        </p:txBody>
      </p:sp>
      <p:sp>
        <p:nvSpPr>
          <p:cNvPr id="17" name="Text 15"/>
          <p:cNvSpPr/>
          <p:nvPr/>
        </p:nvSpPr>
        <p:spPr>
          <a:xfrm>
            <a:off x="804672" y="5010912"/>
            <a:ext cx="3054096" cy="896112"/>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Google is already e.l.f.'s LLM. Renamed from Agentspace Oct 2025; pre-built connectors for Salesforce, ServiceNow, SharePoint, Confluence, Jira, Box, Workday. KPMG chose it.</a:t>
            </a:r>
            <a:endParaRPr lang="en-US" sz="950" dirty="0"/>
          </a:p>
        </p:txBody>
      </p:sp>
      <p:sp>
        <p:nvSpPr>
          <p:cNvPr id="18" name="Shape 16"/>
          <p:cNvSpPr/>
          <p:nvPr/>
        </p:nvSpPr>
        <p:spPr>
          <a:xfrm>
            <a:off x="4315968" y="4279392"/>
            <a:ext cx="3529584" cy="1700784"/>
          </a:xfrm>
          <a:prstGeom prst="roundRect">
            <a:avLst>
              <a:gd name="adj" fmla="val 4301"/>
            </a:avLst>
          </a:prstGeom>
          <a:solidFill>
            <a:srgbClr val="FFFFFF"/>
          </a:solidFill>
          <a:ln w="12700">
            <a:solidFill>
              <a:srgbClr val="D9E0F2"/>
            </a:solidFill>
            <a:prstDash val="solid"/>
          </a:ln>
        </p:spPr>
      </p:sp>
      <p:sp>
        <p:nvSpPr>
          <p:cNvPr id="19" name="Text 17"/>
          <p:cNvSpPr/>
          <p:nvPr/>
        </p:nvSpPr>
        <p:spPr>
          <a:xfrm>
            <a:off x="4553712" y="4443984"/>
            <a:ext cx="301752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Glean</a:t>
            </a:r>
            <a:endParaRPr lang="en-US" sz="1250" dirty="0"/>
          </a:p>
        </p:txBody>
      </p:sp>
      <p:sp>
        <p:nvSpPr>
          <p:cNvPr id="20" name="Text 18"/>
          <p:cNvSpPr/>
          <p:nvPr/>
        </p:nvSpPr>
        <p:spPr>
          <a:xfrm>
            <a:off x="4553712" y="4745736"/>
            <a:ext cx="3017520" cy="219456"/>
          </a:xfrm>
          <a:prstGeom prst="rect">
            <a:avLst/>
          </a:prstGeom>
          <a:noFill/>
          <a:ln/>
        </p:spPr>
        <p:txBody>
          <a:bodyPr wrap="square" lIns="0" tIns="0" rIns="0" bIns="0" rtlCol="0" anchor="ctr"/>
          <a:lstStyle/>
          <a:p>
            <a:pPr indent="0" marL="0">
              <a:buNone/>
            </a:pPr>
            <a:r>
              <a:rPr lang="en-US" sz="850" b="1" spc="110" kern="0" dirty="0">
                <a:solidFill>
                  <a:srgbClr val="1E2761"/>
                </a:solidFill>
                <a:latin typeface="Calibri" pitchFamily="34" charset="0"/>
                <a:ea typeface="Calibri" pitchFamily="34" charset="-122"/>
                <a:cs typeface="Calibri" pitchFamily="34" charset="-120"/>
              </a:rPr>
              <a:t>CATEGORY LEADER</a:t>
            </a:r>
            <a:endParaRPr lang="en-US" sz="850" dirty="0"/>
          </a:p>
        </p:txBody>
      </p:sp>
      <p:sp>
        <p:nvSpPr>
          <p:cNvPr id="21" name="Text 19"/>
          <p:cNvSpPr/>
          <p:nvPr/>
        </p:nvSpPr>
        <p:spPr>
          <a:xfrm>
            <a:off x="4553712" y="5010912"/>
            <a:ext cx="3054096" cy="896112"/>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Purpose-built permissions-aware knowledge graph, 100+ connectors. $7.2B valuation, ~$300M ARR. Sized precisely for 500–2,000 employee companies.</a:t>
            </a:r>
            <a:endParaRPr lang="en-US" sz="950" dirty="0"/>
          </a:p>
        </p:txBody>
      </p:sp>
      <p:sp>
        <p:nvSpPr>
          <p:cNvPr id="22" name="Shape 20"/>
          <p:cNvSpPr/>
          <p:nvPr/>
        </p:nvSpPr>
        <p:spPr>
          <a:xfrm>
            <a:off x="8065008" y="4279392"/>
            <a:ext cx="3529584" cy="1700784"/>
          </a:xfrm>
          <a:prstGeom prst="roundRect">
            <a:avLst>
              <a:gd name="adj" fmla="val 4301"/>
            </a:avLst>
          </a:prstGeom>
          <a:solidFill>
            <a:srgbClr val="FFFFFF"/>
          </a:solidFill>
          <a:ln w="12700">
            <a:solidFill>
              <a:srgbClr val="D9E0F2"/>
            </a:solidFill>
            <a:prstDash val="solid"/>
          </a:ln>
        </p:spPr>
      </p:sp>
      <p:sp>
        <p:nvSpPr>
          <p:cNvPr id="23" name="Text 21"/>
          <p:cNvSpPr/>
          <p:nvPr/>
        </p:nvSpPr>
        <p:spPr>
          <a:xfrm>
            <a:off x="8302752" y="4443984"/>
            <a:ext cx="301752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Microsoft 365 Copilot</a:t>
            </a:r>
            <a:endParaRPr lang="en-US" sz="1250" dirty="0"/>
          </a:p>
        </p:txBody>
      </p:sp>
      <p:sp>
        <p:nvSpPr>
          <p:cNvPr id="24" name="Text 22"/>
          <p:cNvSpPr/>
          <p:nvPr/>
        </p:nvSpPr>
        <p:spPr>
          <a:xfrm>
            <a:off x="8302752" y="4745736"/>
            <a:ext cx="3017520" cy="219456"/>
          </a:xfrm>
          <a:prstGeom prst="rect">
            <a:avLst/>
          </a:prstGeom>
          <a:noFill/>
          <a:ln/>
        </p:spPr>
        <p:txBody>
          <a:bodyPr wrap="square" lIns="0" tIns="0" rIns="0" bIns="0" rtlCol="0" anchor="ctr"/>
          <a:lstStyle/>
          <a:p>
            <a:pPr indent="0" marL="0">
              <a:buNone/>
            </a:pPr>
            <a:r>
              <a:rPr lang="en-US" sz="850" b="1" spc="110" kern="0" dirty="0">
                <a:solidFill>
                  <a:srgbClr val="6E78B2"/>
                </a:solidFill>
                <a:latin typeface="Calibri" pitchFamily="34" charset="0"/>
                <a:ea typeface="Calibri" pitchFamily="34" charset="-122"/>
                <a:cs typeface="Calibri" pitchFamily="34" charset="-120"/>
              </a:rPr>
              <a:t>IF M365-NATIVE</a:t>
            </a:r>
            <a:endParaRPr lang="en-US" sz="850" dirty="0"/>
          </a:p>
        </p:txBody>
      </p:sp>
      <p:sp>
        <p:nvSpPr>
          <p:cNvPr id="25" name="Text 23"/>
          <p:cNvSpPr/>
          <p:nvPr/>
        </p:nvSpPr>
        <p:spPr>
          <a:xfrm>
            <a:off x="8302752" y="5010912"/>
            <a:ext cx="3054096" cy="896112"/>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15M+ paid seats. Forrester TEI models 116% ROI — but commissioned by Microsoft. Adoption plateaus and permission-debt risk are well documented.</a:t>
            </a:r>
            <a:endParaRPr lang="en-US" sz="950" dirty="0"/>
          </a:p>
        </p:txBody>
      </p:sp>
      <p:sp>
        <p:nvSpPr>
          <p:cNvPr id="26" name="Text 24"/>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7" name="Text 25"/>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CADCFC"/>
                </a:solidFill>
                <a:latin typeface="Calibri" pitchFamily="34" charset="0"/>
                <a:ea typeface="Calibri" pitchFamily="34" charset="-122"/>
                <a:cs typeface="Calibri" pitchFamily="34" charset="-120"/>
              </a:rPr>
              <a:t>REFERENCE ARCHITECTURE</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RAG → GraphRAG → agentic retrieval</a:t>
            </a:r>
            <a:endParaRPr lang="en-US" sz="2900" dirty="0"/>
          </a:p>
        </p:txBody>
      </p:sp>
      <p:sp>
        <p:nvSpPr>
          <p:cNvPr id="4" name="Shape 2"/>
          <p:cNvSpPr/>
          <p:nvPr/>
        </p:nvSpPr>
        <p:spPr>
          <a:xfrm>
            <a:off x="566928" y="1554480"/>
            <a:ext cx="3529584" cy="2084832"/>
          </a:xfrm>
          <a:prstGeom prst="roundRect">
            <a:avLst>
              <a:gd name="adj" fmla="val 3509"/>
            </a:avLst>
          </a:prstGeom>
          <a:solidFill>
            <a:srgbClr val="2A3573"/>
          </a:solidFill>
          <a:ln/>
        </p:spPr>
      </p:sp>
      <p:sp>
        <p:nvSpPr>
          <p:cNvPr id="5" name="Shape 3"/>
          <p:cNvSpPr/>
          <p:nvPr/>
        </p:nvSpPr>
        <p:spPr>
          <a:xfrm>
            <a:off x="804672" y="1755648"/>
            <a:ext cx="384048" cy="384048"/>
          </a:xfrm>
          <a:prstGeom prst="ellipse">
            <a:avLst/>
          </a:prstGeom>
          <a:solidFill>
            <a:srgbClr val="D08C34"/>
          </a:solidFill>
          <a:ln/>
        </p:spPr>
      </p:sp>
      <p:sp>
        <p:nvSpPr>
          <p:cNvPr id="6" name="Text 4"/>
          <p:cNvSpPr/>
          <p:nvPr/>
        </p:nvSpPr>
        <p:spPr>
          <a:xfrm>
            <a:off x="804672" y="1755648"/>
            <a:ext cx="384048" cy="384048"/>
          </a:xfrm>
          <a:prstGeom prst="rect">
            <a:avLst/>
          </a:prstGeom>
          <a:noFill/>
          <a:ln/>
        </p:spPr>
        <p:txBody>
          <a:bodyPr wrap="square" lIns="0" tIns="0" rIns="0" bIns="0" rtlCol="0" anchor="ctr"/>
          <a:lstStyle/>
          <a:p>
            <a:pPr algn="ctr" indent="0" marL="0">
              <a:buNone/>
            </a:pPr>
            <a:r>
              <a:rPr lang="en-US" sz="1300" b="1" dirty="0">
                <a:solidFill>
                  <a:srgbClr val="141A46"/>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04672" y="2231136"/>
            <a:ext cx="30175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RAG</a:t>
            </a:r>
            <a:endParaRPr lang="en-US" sz="1700" dirty="0"/>
          </a:p>
        </p:txBody>
      </p:sp>
      <p:sp>
        <p:nvSpPr>
          <p:cNvPr id="8" name="Text 6"/>
          <p:cNvSpPr/>
          <p:nvPr/>
        </p:nvSpPr>
        <p:spPr>
          <a:xfrm>
            <a:off x="804672" y="2560320"/>
            <a:ext cx="3017520" cy="219456"/>
          </a:xfrm>
          <a:prstGeom prst="rect">
            <a:avLst/>
          </a:prstGeom>
          <a:noFill/>
          <a:ln/>
        </p:spPr>
        <p:txBody>
          <a:bodyPr wrap="square" lIns="0" tIns="0" rIns="0" bIns="0" rtlCol="0" anchor="ctr"/>
          <a:lstStyle/>
          <a:p>
            <a:pPr indent="0" marL="0">
              <a:buNone/>
            </a:pPr>
            <a:r>
              <a:rPr lang="en-US" sz="850" b="1" spc="110" kern="0" dirty="0">
                <a:solidFill>
                  <a:srgbClr val="D08C34"/>
                </a:solidFill>
                <a:latin typeface="Calibri" pitchFamily="34" charset="0"/>
                <a:ea typeface="Calibri" pitchFamily="34" charset="-122"/>
                <a:cs typeface="Calibri" pitchFamily="34" charset="-120"/>
              </a:rPr>
              <a:t>THE DEFAULT</a:t>
            </a:r>
            <a:endParaRPr lang="en-US" sz="850" dirty="0"/>
          </a:p>
        </p:txBody>
      </p:sp>
      <p:sp>
        <p:nvSpPr>
          <p:cNvPr id="9" name="Text 7"/>
          <p:cNvSpPr/>
          <p:nvPr/>
        </p:nvSpPr>
        <p:spPr>
          <a:xfrm>
            <a:off x="804672" y="2816352"/>
            <a:ext cx="3072384" cy="74980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Vector search over chunked documents plus an LLM. Used by Lilli, Morgan Stanley, BCG and Moderna. Best for retrieval and Q&amp;A. Start here.</a:t>
            </a:r>
            <a:endParaRPr lang="en-US" sz="950" dirty="0"/>
          </a:p>
        </p:txBody>
      </p:sp>
      <p:sp>
        <p:nvSpPr>
          <p:cNvPr id="10" name="Text 8"/>
          <p:cNvSpPr/>
          <p:nvPr/>
        </p:nvSpPr>
        <p:spPr>
          <a:xfrm>
            <a:off x="4133088" y="2395728"/>
            <a:ext cx="274320" cy="365760"/>
          </a:xfrm>
          <a:prstGeom prst="rect">
            <a:avLst/>
          </a:prstGeom>
          <a:noFill/>
          <a:ln/>
        </p:spPr>
        <p:txBody>
          <a:bodyPr wrap="square" lIns="0" tIns="0" rIns="0" bIns="0" rtlCol="0" anchor="ctr"/>
          <a:lstStyle/>
          <a:p>
            <a:pPr algn="ctr" indent="0" marL="0">
              <a:buNone/>
            </a:pPr>
            <a:r>
              <a:rPr lang="en-US" sz="2000" b="1" dirty="0">
                <a:solidFill>
                  <a:srgbClr val="D08C34"/>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352544" y="1554480"/>
            <a:ext cx="3529584" cy="2084832"/>
          </a:xfrm>
          <a:prstGeom prst="roundRect">
            <a:avLst>
              <a:gd name="adj" fmla="val 3509"/>
            </a:avLst>
          </a:prstGeom>
          <a:solidFill>
            <a:srgbClr val="2A3573"/>
          </a:solidFill>
          <a:ln/>
        </p:spPr>
      </p:sp>
      <p:sp>
        <p:nvSpPr>
          <p:cNvPr id="12" name="Shape 10"/>
          <p:cNvSpPr/>
          <p:nvPr/>
        </p:nvSpPr>
        <p:spPr>
          <a:xfrm>
            <a:off x="4590288" y="1755648"/>
            <a:ext cx="384048" cy="384048"/>
          </a:xfrm>
          <a:prstGeom prst="ellipse">
            <a:avLst/>
          </a:prstGeom>
          <a:solidFill>
            <a:srgbClr val="D08C34"/>
          </a:solidFill>
          <a:ln/>
        </p:spPr>
      </p:sp>
      <p:sp>
        <p:nvSpPr>
          <p:cNvPr id="13" name="Text 11"/>
          <p:cNvSpPr/>
          <p:nvPr/>
        </p:nvSpPr>
        <p:spPr>
          <a:xfrm>
            <a:off x="4590288" y="1755648"/>
            <a:ext cx="384048" cy="384048"/>
          </a:xfrm>
          <a:prstGeom prst="rect">
            <a:avLst/>
          </a:prstGeom>
          <a:noFill/>
          <a:ln/>
        </p:spPr>
        <p:txBody>
          <a:bodyPr wrap="square" lIns="0" tIns="0" rIns="0" bIns="0" rtlCol="0" anchor="ctr"/>
          <a:lstStyle/>
          <a:p>
            <a:pPr algn="ctr" indent="0" marL="0">
              <a:buNone/>
            </a:pPr>
            <a:r>
              <a:rPr lang="en-US" sz="1300" b="1" dirty="0">
                <a:solidFill>
                  <a:srgbClr val="141A46"/>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590288" y="2231136"/>
            <a:ext cx="30175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GraphRAG</a:t>
            </a:r>
            <a:endParaRPr lang="en-US" sz="1700" dirty="0"/>
          </a:p>
        </p:txBody>
      </p:sp>
      <p:sp>
        <p:nvSpPr>
          <p:cNvPr id="15" name="Text 13"/>
          <p:cNvSpPr/>
          <p:nvPr/>
        </p:nvSpPr>
        <p:spPr>
          <a:xfrm>
            <a:off x="4590288" y="2560320"/>
            <a:ext cx="3017520" cy="219456"/>
          </a:xfrm>
          <a:prstGeom prst="rect">
            <a:avLst/>
          </a:prstGeom>
          <a:noFill/>
          <a:ln/>
        </p:spPr>
        <p:txBody>
          <a:bodyPr wrap="square" lIns="0" tIns="0" rIns="0" bIns="0" rtlCol="0" anchor="ctr"/>
          <a:lstStyle/>
          <a:p>
            <a:pPr indent="0" marL="0">
              <a:buNone/>
            </a:pPr>
            <a:r>
              <a:rPr lang="en-US" sz="850" b="1" spc="110" kern="0" dirty="0">
                <a:solidFill>
                  <a:srgbClr val="D08C34"/>
                </a:solidFill>
                <a:latin typeface="Calibri" pitchFamily="34" charset="0"/>
                <a:ea typeface="Calibri" pitchFamily="34" charset="-122"/>
                <a:cs typeface="Calibri" pitchFamily="34" charset="-120"/>
              </a:rPr>
              <a:t>THE UPGRADE</a:t>
            </a:r>
            <a:endParaRPr lang="en-US" sz="850" dirty="0"/>
          </a:p>
        </p:txBody>
      </p:sp>
      <p:sp>
        <p:nvSpPr>
          <p:cNvPr id="16" name="Text 14"/>
          <p:cNvSpPr/>
          <p:nvPr/>
        </p:nvSpPr>
        <p:spPr>
          <a:xfrm>
            <a:off x="4590288" y="2816352"/>
            <a:ext cx="3072384" cy="74980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Knowledge as a graph — entities and relationships as first-class citizens. Enables multi-hop queries and explainable, auditable reasoning. Gains depend on graph maintenance.</a:t>
            </a:r>
            <a:endParaRPr lang="en-US" sz="950" dirty="0"/>
          </a:p>
        </p:txBody>
      </p:sp>
      <p:sp>
        <p:nvSpPr>
          <p:cNvPr id="17" name="Text 15"/>
          <p:cNvSpPr/>
          <p:nvPr/>
        </p:nvSpPr>
        <p:spPr>
          <a:xfrm>
            <a:off x="7918704" y="2395728"/>
            <a:ext cx="274320" cy="365760"/>
          </a:xfrm>
          <a:prstGeom prst="rect">
            <a:avLst/>
          </a:prstGeom>
          <a:noFill/>
          <a:ln/>
        </p:spPr>
        <p:txBody>
          <a:bodyPr wrap="square" lIns="0" tIns="0" rIns="0" bIns="0" rtlCol="0" anchor="ctr"/>
          <a:lstStyle/>
          <a:p>
            <a:pPr algn="ctr" indent="0" marL="0">
              <a:buNone/>
            </a:pPr>
            <a:r>
              <a:rPr lang="en-US" sz="2000" b="1" dirty="0">
                <a:solidFill>
                  <a:srgbClr val="D08C34"/>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8138160" y="1554480"/>
            <a:ext cx="3529584" cy="2084832"/>
          </a:xfrm>
          <a:prstGeom prst="roundRect">
            <a:avLst>
              <a:gd name="adj" fmla="val 3509"/>
            </a:avLst>
          </a:prstGeom>
          <a:solidFill>
            <a:srgbClr val="2A3573"/>
          </a:solidFill>
          <a:ln/>
        </p:spPr>
      </p:sp>
      <p:sp>
        <p:nvSpPr>
          <p:cNvPr id="19" name="Shape 17"/>
          <p:cNvSpPr/>
          <p:nvPr/>
        </p:nvSpPr>
        <p:spPr>
          <a:xfrm>
            <a:off x="8375904" y="1755648"/>
            <a:ext cx="384048" cy="384048"/>
          </a:xfrm>
          <a:prstGeom prst="ellipse">
            <a:avLst/>
          </a:prstGeom>
          <a:solidFill>
            <a:srgbClr val="D08C34"/>
          </a:solidFill>
          <a:ln/>
        </p:spPr>
      </p:sp>
      <p:sp>
        <p:nvSpPr>
          <p:cNvPr id="20" name="Text 18"/>
          <p:cNvSpPr/>
          <p:nvPr/>
        </p:nvSpPr>
        <p:spPr>
          <a:xfrm>
            <a:off x="8375904" y="1755648"/>
            <a:ext cx="384048" cy="384048"/>
          </a:xfrm>
          <a:prstGeom prst="rect">
            <a:avLst/>
          </a:prstGeom>
          <a:noFill/>
          <a:ln/>
        </p:spPr>
        <p:txBody>
          <a:bodyPr wrap="square" lIns="0" tIns="0" rIns="0" bIns="0" rtlCol="0" anchor="ctr"/>
          <a:lstStyle/>
          <a:p>
            <a:pPr algn="ctr" indent="0" marL="0">
              <a:buNone/>
            </a:pPr>
            <a:r>
              <a:rPr lang="en-US" sz="1300" b="1" dirty="0">
                <a:solidFill>
                  <a:srgbClr val="141A46"/>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375904" y="2231136"/>
            <a:ext cx="30175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Agentic retrieval</a:t>
            </a:r>
            <a:endParaRPr lang="en-US" sz="1700" dirty="0"/>
          </a:p>
        </p:txBody>
      </p:sp>
      <p:sp>
        <p:nvSpPr>
          <p:cNvPr id="22" name="Text 20"/>
          <p:cNvSpPr/>
          <p:nvPr/>
        </p:nvSpPr>
        <p:spPr>
          <a:xfrm>
            <a:off x="8375904" y="2560320"/>
            <a:ext cx="3017520" cy="219456"/>
          </a:xfrm>
          <a:prstGeom prst="rect">
            <a:avLst/>
          </a:prstGeom>
          <a:noFill/>
          <a:ln/>
        </p:spPr>
        <p:txBody>
          <a:bodyPr wrap="square" lIns="0" tIns="0" rIns="0" bIns="0" rtlCol="0" anchor="ctr"/>
          <a:lstStyle/>
          <a:p>
            <a:pPr indent="0" marL="0">
              <a:buNone/>
            </a:pPr>
            <a:r>
              <a:rPr lang="en-US" sz="850" b="1" spc="110" kern="0" dirty="0">
                <a:solidFill>
                  <a:srgbClr val="D08C34"/>
                </a:solidFill>
                <a:latin typeface="Calibri" pitchFamily="34" charset="0"/>
                <a:ea typeface="Calibri" pitchFamily="34" charset="-122"/>
                <a:cs typeface="Calibri" pitchFamily="34" charset="-120"/>
              </a:rPr>
              <a:t>THE FRONTIER</a:t>
            </a:r>
            <a:endParaRPr lang="en-US" sz="850" dirty="0"/>
          </a:p>
        </p:txBody>
      </p:sp>
      <p:sp>
        <p:nvSpPr>
          <p:cNvPr id="23" name="Text 21"/>
          <p:cNvSpPr/>
          <p:nvPr/>
        </p:nvSpPr>
        <p:spPr>
          <a:xfrm>
            <a:off x="8375904" y="2816352"/>
            <a:ext cx="3072384" cy="74980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The agent decides whether, what and where to retrieve; chains multi-step reasoning; calls tools; self-corrects. Where the market moved in 2026.</a:t>
            </a:r>
            <a:endParaRPr lang="en-US" sz="950" dirty="0"/>
          </a:p>
        </p:txBody>
      </p:sp>
      <p:sp>
        <p:nvSpPr>
          <p:cNvPr id="24" name="Text 22"/>
          <p:cNvSpPr/>
          <p:nvPr/>
        </p:nvSpPr>
        <p:spPr>
          <a:xfrm>
            <a:off x="566928" y="3913632"/>
            <a:ext cx="7315200" cy="310896"/>
          </a:xfrm>
          <a:prstGeom prst="rect">
            <a:avLst/>
          </a:prstGeom>
          <a:noFill/>
          <a:ln/>
        </p:spPr>
        <p:txBody>
          <a:bodyPr wrap="square" lIns="0" tIns="0" rIns="0" bIns="0" rtlCol="0" anchor="ctr"/>
          <a:lstStyle/>
          <a:p>
            <a:pPr indent="0" marL="0">
              <a:buNone/>
            </a:pPr>
            <a:r>
              <a:rPr lang="en-US" sz="1450" b="1" dirty="0">
                <a:solidFill>
                  <a:srgbClr val="CADCFC"/>
                </a:solidFill>
                <a:latin typeface="Calibri" pitchFamily="34" charset="0"/>
                <a:ea typeface="Calibri" pitchFamily="34" charset="-122"/>
                <a:cs typeface="Calibri" pitchFamily="34" charset="-120"/>
              </a:rPr>
              <a:t>The non-negotiable: permission-mirroring</a:t>
            </a:r>
            <a:endParaRPr lang="en-US" sz="1450" dirty="0"/>
          </a:p>
        </p:txBody>
      </p:sp>
      <p:sp>
        <p:nvSpPr>
          <p:cNvPr id="25" name="Shape 23"/>
          <p:cNvSpPr/>
          <p:nvPr/>
        </p:nvSpPr>
        <p:spPr>
          <a:xfrm>
            <a:off x="566928" y="4315968"/>
            <a:ext cx="5394960" cy="1572768"/>
          </a:xfrm>
          <a:prstGeom prst="roundRect">
            <a:avLst>
              <a:gd name="adj" fmla="val 4651"/>
            </a:avLst>
          </a:prstGeom>
          <a:solidFill>
            <a:srgbClr val="2A3573"/>
          </a:solidFill>
          <a:ln/>
        </p:spPr>
      </p:sp>
      <p:sp>
        <p:nvSpPr>
          <p:cNvPr id="26" name="Text 24"/>
          <p:cNvSpPr/>
          <p:nvPr/>
        </p:nvSpPr>
        <p:spPr>
          <a:xfrm>
            <a:off x="822960" y="4480560"/>
            <a:ext cx="4937760" cy="256032"/>
          </a:xfrm>
          <a:prstGeom prst="rect">
            <a:avLst/>
          </a:prstGeom>
          <a:noFill/>
          <a:ln/>
        </p:spPr>
        <p:txBody>
          <a:bodyPr wrap="square" lIns="0" tIns="0" rIns="0" bIns="0" rtlCol="0" anchor="ctr"/>
          <a:lstStyle/>
          <a:p>
            <a:pPr indent="0" marL="0">
              <a:buNone/>
            </a:pPr>
            <a:r>
              <a:rPr lang="en-US" sz="1200" b="1" dirty="0">
                <a:solidFill>
                  <a:srgbClr val="D08C34"/>
                </a:solidFill>
                <a:latin typeface="Calibri" pitchFamily="34" charset="0"/>
                <a:ea typeface="Calibri" pitchFamily="34" charset="-122"/>
                <a:cs typeface="Calibri" pitchFamily="34" charset="-120"/>
              </a:rPr>
              <a:t>The rule</a:t>
            </a:r>
            <a:endParaRPr lang="en-US" sz="1200" dirty="0"/>
          </a:p>
        </p:txBody>
      </p:sp>
      <p:sp>
        <p:nvSpPr>
          <p:cNvPr id="27" name="Text 25"/>
          <p:cNvSpPr/>
          <p:nvPr/>
        </p:nvSpPr>
        <p:spPr>
          <a:xfrm>
            <a:off x="822960" y="4754880"/>
            <a:ext cx="4937760" cy="98755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The agent must be constrained to exactly the same data permissions as the querying user — inherited from source-system ACLs at retrieval time, never enforced at the interface layer.</a:t>
            </a:r>
            <a:endParaRPr lang="en-US" sz="1050" dirty="0"/>
          </a:p>
        </p:txBody>
      </p:sp>
      <p:sp>
        <p:nvSpPr>
          <p:cNvPr id="28" name="Shape 26"/>
          <p:cNvSpPr/>
          <p:nvPr/>
        </p:nvSpPr>
        <p:spPr>
          <a:xfrm>
            <a:off x="6236208" y="4315968"/>
            <a:ext cx="5394960" cy="1572768"/>
          </a:xfrm>
          <a:prstGeom prst="roundRect">
            <a:avLst>
              <a:gd name="adj" fmla="val 4651"/>
            </a:avLst>
          </a:prstGeom>
          <a:solidFill>
            <a:srgbClr val="2A3573"/>
          </a:solidFill>
          <a:ln/>
        </p:spPr>
      </p:sp>
      <p:sp>
        <p:nvSpPr>
          <p:cNvPr id="29" name="Text 27"/>
          <p:cNvSpPr/>
          <p:nvPr/>
        </p:nvSpPr>
        <p:spPr>
          <a:xfrm>
            <a:off x="6492240" y="4480560"/>
            <a:ext cx="4937760" cy="256032"/>
          </a:xfrm>
          <a:prstGeom prst="rect">
            <a:avLst/>
          </a:prstGeom>
          <a:noFill/>
          <a:ln/>
        </p:spPr>
        <p:txBody>
          <a:bodyPr wrap="square" lIns="0" tIns="0" rIns="0" bIns="0" rtlCol="0" anchor="ctr"/>
          <a:lstStyle/>
          <a:p>
            <a:pPr indent="0" marL="0">
              <a:buNone/>
            </a:pPr>
            <a:r>
              <a:rPr lang="en-US" sz="1200" b="1" dirty="0">
                <a:solidFill>
                  <a:srgbClr val="D08C34"/>
                </a:solidFill>
                <a:latin typeface="Calibri" pitchFamily="34" charset="0"/>
                <a:ea typeface="Calibri" pitchFamily="34" charset="-122"/>
                <a:cs typeface="Calibri" pitchFamily="34" charset="-120"/>
              </a:rPr>
              <a:t>The risk</a:t>
            </a:r>
            <a:endParaRPr lang="en-US" sz="1200" dirty="0"/>
          </a:p>
        </p:txBody>
      </p:sp>
      <p:sp>
        <p:nvSpPr>
          <p:cNvPr id="30" name="Text 28"/>
          <p:cNvSpPr/>
          <p:nvPr/>
        </p:nvSpPr>
        <p:spPr>
          <a:xfrm>
            <a:off x="6492240" y="4754880"/>
            <a:ext cx="4937760" cy="98755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AI search is a magnifying glass on legacy access misconfiguration. Copilot rollouts repeatedly surfaced "permission debt" — an HR folder shared with Everyone years ago suddenly becomes searchable by all.</a:t>
            </a:r>
            <a:endParaRPr lang="en-US" sz="1050" dirty="0"/>
          </a:p>
        </p:txBody>
      </p:sp>
      <p:sp>
        <p:nvSpPr>
          <p:cNvPr id="31" name="Text 29"/>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8891B8"/>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32" name="Text 30"/>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8891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STARTING POSITION</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e.l.f. already has the hard part</a:t>
            </a:r>
            <a:endParaRPr lang="en-US" sz="2900" dirty="0"/>
          </a:p>
        </p:txBody>
      </p:sp>
      <p:sp>
        <p:nvSpPr>
          <p:cNvPr id="4" name="Text 2"/>
          <p:cNvSpPr/>
          <p:nvPr/>
        </p:nvSpPr>
        <p:spPr>
          <a:xfrm>
            <a:off x="566928" y="1463040"/>
            <a:ext cx="548640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Six tools already live</a:t>
            </a:r>
            <a:endParaRPr lang="en-US" sz="1400" dirty="0"/>
          </a:p>
        </p:txBody>
      </p:sp>
      <p:sp>
        <p:nvSpPr>
          <p:cNvPr id="5" name="Shape 3"/>
          <p:cNvSpPr/>
          <p:nvPr/>
        </p:nvSpPr>
        <p:spPr>
          <a:xfrm>
            <a:off x="566928" y="1847088"/>
            <a:ext cx="2606040" cy="603504"/>
          </a:xfrm>
          <a:prstGeom prst="roundRect">
            <a:avLst>
              <a:gd name="adj" fmla="val 12121"/>
            </a:avLst>
          </a:prstGeom>
          <a:solidFill>
            <a:srgbClr val="F5F7FC"/>
          </a:solidFill>
          <a:ln/>
        </p:spPr>
      </p:sp>
      <p:sp>
        <p:nvSpPr>
          <p:cNvPr id="6" name="Text 4"/>
          <p:cNvSpPr/>
          <p:nvPr/>
        </p:nvSpPr>
        <p:spPr>
          <a:xfrm>
            <a:off x="749808" y="1920240"/>
            <a:ext cx="2286000" cy="237744"/>
          </a:xfrm>
          <a:prstGeom prst="rect">
            <a:avLst/>
          </a:prstGeom>
          <a:noFill/>
          <a:ln/>
        </p:spPr>
        <p:txBody>
          <a:bodyPr wrap="square" lIns="0" tIns="0" rIns="0" bIns="0" rtlCol="0" anchor="ctr"/>
          <a:lstStyle/>
          <a:p>
            <a:pPr indent="0" marL="0">
              <a:buNone/>
            </a:pPr>
            <a:r>
              <a:rPr lang="en-US" sz="1150" b="1" dirty="0">
                <a:solidFill>
                  <a:srgbClr val="1A1F35"/>
                </a:solidFill>
                <a:latin typeface="Calibri" pitchFamily="34" charset="0"/>
                <a:ea typeface="Calibri" pitchFamily="34" charset="-122"/>
                <a:cs typeface="Calibri" pitchFamily="34" charset="-120"/>
              </a:rPr>
              <a:t>B.F.e.l.f.</a:t>
            </a:r>
            <a:endParaRPr lang="en-US" sz="1150" dirty="0"/>
          </a:p>
        </p:txBody>
      </p:sp>
      <p:sp>
        <p:nvSpPr>
          <p:cNvPr id="7" name="Text 5"/>
          <p:cNvSpPr/>
          <p:nvPr/>
        </p:nvSpPr>
        <p:spPr>
          <a:xfrm>
            <a:off x="749808" y="2157984"/>
            <a:ext cx="2331720" cy="237744"/>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Internal assistant, ~80% of employees</a:t>
            </a:r>
            <a:endParaRPr lang="en-US" sz="900" dirty="0"/>
          </a:p>
        </p:txBody>
      </p:sp>
      <p:sp>
        <p:nvSpPr>
          <p:cNvPr id="8" name="Shape 6"/>
          <p:cNvSpPr/>
          <p:nvPr/>
        </p:nvSpPr>
        <p:spPr>
          <a:xfrm>
            <a:off x="3355848" y="1847088"/>
            <a:ext cx="2606040" cy="603504"/>
          </a:xfrm>
          <a:prstGeom prst="roundRect">
            <a:avLst>
              <a:gd name="adj" fmla="val 12121"/>
            </a:avLst>
          </a:prstGeom>
          <a:solidFill>
            <a:srgbClr val="F5F7FC"/>
          </a:solidFill>
          <a:ln/>
        </p:spPr>
      </p:sp>
      <p:sp>
        <p:nvSpPr>
          <p:cNvPr id="9" name="Text 7"/>
          <p:cNvSpPr/>
          <p:nvPr/>
        </p:nvSpPr>
        <p:spPr>
          <a:xfrm>
            <a:off x="3538728" y="1920240"/>
            <a:ext cx="2286000" cy="237744"/>
          </a:xfrm>
          <a:prstGeom prst="rect">
            <a:avLst/>
          </a:prstGeom>
          <a:noFill/>
          <a:ln/>
        </p:spPr>
        <p:txBody>
          <a:bodyPr wrap="square" lIns="0" tIns="0" rIns="0" bIns="0" rtlCol="0" anchor="ctr"/>
          <a:lstStyle/>
          <a:p>
            <a:pPr indent="0" marL="0">
              <a:buNone/>
            </a:pPr>
            <a:r>
              <a:rPr lang="en-US" sz="1150" b="1" dirty="0">
                <a:solidFill>
                  <a:srgbClr val="1A1F35"/>
                </a:solidFill>
                <a:latin typeface="Calibri" pitchFamily="34" charset="0"/>
                <a:ea typeface="Calibri" pitchFamily="34" charset="-122"/>
                <a:cs typeface="Calibri" pitchFamily="34" charset="-120"/>
              </a:rPr>
              <a:t>e.l.f.uencer</a:t>
            </a:r>
            <a:endParaRPr lang="en-US" sz="1150" dirty="0"/>
          </a:p>
        </p:txBody>
      </p:sp>
      <p:sp>
        <p:nvSpPr>
          <p:cNvPr id="10" name="Text 8"/>
          <p:cNvSpPr/>
          <p:nvPr/>
        </p:nvSpPr>
        <p:spPr>
          <a:xfrm>
            <a:off x="3538728" y="2157984"/>
            <a:ext cx="2331720" cy="237744"/>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Community mgmt, ~90% voice accuracy</a:t>
            </a:r>
            <a:endParaRPr lang="en-US" sz="900" dirty="0"/>
          </a:p>
        </p:txBody>
      </p:sp>
      <p:sp>
        <p:nvSpPr>
          <p:cNvPr id="11" name="Shape 9"/>
          <p:cNvSpPr/>
          <p:nvPr/>
        </p:nvSpPr>
        <p:spPr>
          <a:xfrm>
            <a:off x="566928" y="2560320"/>
            <a:ext cx="2606040" cy="603504"/>
          </a:xfrm>
          <a:prstGeom prst="roundRect">
            <a:avLst>
              <a:gd name="adj" fmla="val 12121"/>
            </a:avLst>
          </a:prstGeom>
          <a:solidFill>
            <a:srgbClr val="F5F7FC"/>
          </a:solidFill>
          <a:ln/>
        </p:spPr>
      </p:sp>
      <p:sp>
        <p:nvSpPr>
          <p:cNvPr id="12" name="Text 10"/>
          <p:cNvSpPr/>
          <p:nvPr/>
        </p:nvSpPr>
        <p:spPr>
          <a:xfrm>
            <a:off x="749808" y="2633472"/>
            <a:ext cx="2286000" cy="237744"/>
          </a:xfrm>
          <a:prstGeom prst="rect">
            <a:avLst/>
          </a:prstGeom>
          <a:noFill/>
          <a:ln/>
        </p:spPr>
        <p:txBody>
          <a:bodyPr wrap="square" lIns="0" tIns="0" rIns="0" bIns="0" rtlCol="0" anchor="ctr"/>
          <a:lstStyle/>
          <a:p>
            <a:pPr indent="0" marL="0">
              <a:buNone/>
            </a:pPr>
            <a:r>
              <a:rPr lang="en-US" sz="1150" b="1" dirty="0">
                <a:solidFill>
                  <a:srgbClr val="1A1F35"/>
                </a:solidFill>
                <a:latin typeface="Calibri" pitchFamily="34" charset="0"/>
                <a:ea typeface="Calibri" pitchFamily="34" charset="-122"/>
                <a:cs typeface="Calibri" pitchFamily="34" charset="-120"/>
              </a:rPr>
              <a:t>e.l.f.line</a:t>
            </a:r>
            <a:endParaRPr lang="en-US" sz="1150" dirty="0"/>
          </a:p>
        </p:txBody>
      </p:sp>
      <p:sp>
        <p:nvSpPr>
          <p:cNvPr id="13" name="Text 11"/>
          <p:cNvSpPr/>
          <p:nvPr/>
        </p:nvSpPr>
        <p:spPr>
          <a:xfrm>
            <a:off x="749808" y="2871216"/>
            <a:ext cx="2331720" cy="237744"/>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IT helpdesk, ~1 FTE of work</a:t>
            </a:r>
            <a:endParaRPr lang="en-US" sz="900" dirty="0"/>
          </a:p>
        </p:txBody>
      </p:sp>
      <p:sp>
        <p:nvSpPr>
          <p:cNvPr id="14" name="Shape 12"/>
          <p:cNvSpPr/>
          <p:nvPr/>
        </p:nvSpPr>
        <p:spPr>
          <a:xfrm>
            <a:off x="3355848" y="2560320"/>
            <a:ext cx="2606040" cy="603504"/>
          </a:xfrm>
          <a:prstGeom prst="roundRect">
            <a:avLst>
              <a:gd name="adj" fmla="val 12121"/>
            </a:avLst>
          </a:prstGeom>
          <a:solidFill>
            <a:srgbClr val="F5F7FC"/>
          </a:solidFill>
          <a:ln/>
        </p:spPr>
      </p:sp>
      <p:sp>
        <p:nvSpPr>
          <p:cNvPr id="15" name="Text 13"/>
          <p:cNvSpPr/>
          <p:nvPr/>
        </p:nvSpPr>
        <p:spPr>
          <a:xfrm>
            <a:off x="3538728" y="2633472"/>
            <a:ext cx="2286000" cy="237744"/>
          </a:xfrm>
          <a:prstGeom prst="rect">
            <a:avLst/>
          </a:prstGeom>
          <a:noFill/>
          <a:ln/>
        </p:spPr>
        <p:txBody>
          <a:bodyPr wrap="square" lIns="0" tIns="0" rIns="0" bIns="0" rtlCol="0" anchor="ctr"/>
          <a:lstStyle/>
          <a:p>
            <a:pPr indent="0" marL="0">
              <a:buNone/>
            </a:pPr>
            <a:r>
              <a:rPr lang="en-US" sz="1150" b="1" dirty="0">
                <a:solidFill>
                  <a:srgbClr val="1A1F35"/>
                </a:solidFill>
                <a:latin typeface="Calibri" pitchFamily="34" charset="0"/>
                <a:ea typeface="Calibri" pitchFamily="34" charset="-122"/>
                <a:cs typeface="Calibri" pitchFamily="34" charset="-120"/>
              </a:rPr>
              <a:t>e.l.f.alytics</a:t>
            </a:r>
            <a:endParaRPr lang="en-US" sz="1150" dirty="0"/>
          </a:p>
        </p:txBody>
      </p:sp>
      <p:sp>
        <p:nvSpPr>
          <p:cNvPr id="16" name="Text 14"/>
          <p:cNvSpPr/>
          <p:nvPr/>
        </p:nvSpPr>
        <p:spPr>
          <a:xfrm>
            <a:off x="3538728" y="2871216"/>
            <a:ext cx="2331720" cy="237744"/>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Data analyst, role-based guardrails</a:t>
            </a:r>
            <a:endParaRPr lang="en-US" sz="900" dirty="0"/>
          </a:p>
        </p:txBody>
      </p:sp>
      <p:sp>
        <p:nvSpPr>
          <p:cNvPr id="17" name="Shape 15"/>
          <p:cNvSpPr/>
          <p:nvPr/>
        </p:nvSpPr>
        <p:spPr>
          <a:xfrm>
            <a:off x="566928" y="3273552"/>
            <a:ext cx="2606040" cy="603504"/>
          </a:xfrm>
          <a:prstGeom prst="roundRect">
            <a:avLst>
              <a:gd name="adj" fmla="val 12121"/>
            </a:avLst>
          </a:prstGeom>
          <a:solidFill>
            <a:srgbClr val="F5F7FC"/>
          </a:solidFill>
          <a:ln/>
        </p:spPr>
      </p:sp>
      <p:sp>
        <p:nvSpPr>
          <p:cNvPr id="18" name="Text 16"/>
          <p:cNvSpPr/>
          <p:nvPr/>
        </p:nvSpPr>
        <p:spPr>
          <a:xfrm>
            <a:off x="749808" y="3346704"/>
            <a:ext cx="2286000" cy="237744"/>
          </a:xfrm>
          <a:prstGeom prst="rect">
            <a:avLst/>
          </a:prstGeom>
          <a:noFill/>
          <a:ln/>
        </p:spPr>
        <p:txBody>
          <a:bodyPr wrap="square" lIns="0" tIns="0" rIns="0" bIns="0" rtlCol="0" anchor="ctr"/>
          <a:lstStyle/>
          <a:p>
            <a:pPr indent="0" marL="0">
              <a:buNone/>
            </a:pPr>
            <a:r>
              <a:rPr lang="en-US" sz="1150" b="1" dirty="0">
                <a:solidFill>
                  <a:srgbClr val="1A1F35"/>
                </a:solidFill>
                <a:latin typeface="Calibri" pitchFamily="34" charset="0"/>
                <a:ea typeface="Calibri" pitchFamily="34" charset="-122"/>
                <a:cs typeface="Calibri" pitchFamily="34" charset="-120"/>
              </a:rPr>
              <a:t>e.l.f.phabet</a:t>
            </a:r>
            <a:endParaRPr lang="en-US" sz="1150" dirty="0"/>
          </a:p>
        </p:txBody>
      </p:sp>
      <p:sp>
        <p:nvSpPr>
          <p:cNvPr id="19" name="Text 17"/>
          <p:cNvSpPr/>
          <p:nvPr/>
        </p:nvSpPr>
        <p:spPr>
          <a:xfrm>
            <a:off x="749808" y="3584448"/>
            <a:ext cx="2331720" cy="237744"/>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Research assistant</a:t>
            </a:r>
            <a:endParaRPr lang="en-US" sz="900" dirty="0"/>
          </a:p>
        </p:txBody>
      </p:sp>
      <p:sp>
        <p:nvSpPr>
          <p:cNvPr id="20" name="Shape 18"/>
          <p:cNvSpPr/>
          <p:nvPr/>
        </p:nvSpPr>
        <p:spPr>
          <a:xfrm>
            <a:off x="3355848" y="3273552"/>
            <a:ext cx="2606040" cy="603504"/>
          </a:xfrm>
          <a:prstGeom prst="roundRect">
            <a:avLst>
              <a:gd name="adj" fmla="val 12121"/>
            </a:avLst>
          </a:prstGeom>
          <a:solidFill>
            <a:srgbClr val="F5F7FC"/>
          </a:solidFill>
          <a:ln/>
        </p:spPr>
      </p:sp>
      <p:sp>
        <p:nvSpPr>
          <p:cNvPr id="21" name="Text 19"/>
          <p:cNvSpPr/>
          <p:nvPr/>
        </p:nvSpPr>
        <p:spPr>
          <a:xfrm>
            <a:off x="3538728" y="3346704"/>
            <a:ext cx="2286000" cy="237744"/>
          </a:xfrm>
          <a:prstGeom prst="rect">
            <a:avLst/>
          </a:prstGeom>
          <a:noFill/>
          <a:ln/>
        </p:spPr>
        <p:txBody>
          <a:bodyPr wrap="square" lIns="0" tIns="0" rIns="0" bIns="0" rtlCol="0" anchor="ctr"/>
          <a:lstStyle/>
          <a:p>
            <a:pPr indent="0" marL="0">
              <a:buNone/>
            </a:pPr>
            <a:r>
              <a:rPr lang="en-US" sz="1150" b="1" dirty="0">
                <a:solidFill>
                  <a:srgbClr val="1A1F35"/>
                </a:solidFill>
                <a:latin typeface="Calibri" pitchFamily="34" charset="0"/>
                <a:ea typeface="Calibri" pitchFamily="34" charset="-122"/>
                <a:cs typeface="Calibri" pitchFamily="34" charset="-120"/>
              </a:rPr>
              <a:t>e.l.f. you!</a:t>
            </a:r>
            <a:endParaRPr lang="en-US" sz="1150" dirty="0"/>
          </a:p>
        </p:txBody>
      </p:sp>
      <p:sp>
        <p:nvSpPr>
          <p:cNvPr id="22" name="Text 20"/>
          <p:cNvSpPr/>
          <p:nvPr/>
        </p:nvSpPr>
        <p:spPr>
          <a:xfrm>
            <a:off x="3538728" y="3584448"/>
            <a:ext cx="2331720" cy="237744"/>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AI learning and enablement portal</a:t>
            </a:r>
            <a:endParaRPr lang="en-US" sz="900" dirty="0"/>
          </a:p>
        </p:txBody>
      </p:sp>
      <p:sp>
        <p:nvSpPr>
          <p:cNvPr id="23" name="Shape 21"/>
          <p:cNvSpPr/>
          <p:nvPr/>
        </p:nvSpPr>
        <p:spPr>
          <a:xfrm>
            <a:off x="6327648" y="1463040"/>
            <a:ext cx="5303520" cy="2578608"/>
          </a:xfrm>
          <a:prstGeom prst="roundRect">
            <a:avLst>
              <a:gd name="adj" fmla="val 2837"/>
            </a:avLst>
          </a:prstGeom>
          <a:solidFill>
            <a:srgbClr val="1E2761"/>
          </a:solidFill>
          <a:ln/>
        </p:spPr>
      </p:sp>
      <p:sp>
        <p:nvSpPr>
          <p:cNvPr id="24" name="Text 22"/>
          <p:cNvSpPr/>
          <p:nvPr/>
        </p:nvSpPr>
        <p:spPr>
          <a:xfrm>
            <a:off x="6583680" y="1645920"/>
            <a:ext cx="484632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Plus the foundations</a:t>
            </a:r>
            <a:endParaRPr lang="en-US" sz="1300" dirty="0"/>
          </a:p>
        </p:txBody>
      </p:sp>
      <p:sp>
        <p:nvSpPr>
          <p:cNvPr id="25" name="Text 23"/>
          <p:cNvSpPr/>
          <p:nvPr/>
        </p:nvSpPr>
        <p:spPr>
          <a:xfrm>
            <a:off x="6601968" y="1993392"/>
            <a:ext cx="4846320" cy="19202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Chief Technology &amp; AI Officer (Ekta Chopra)</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Cross-functional AI steering committee — legal, marketing, R&amp;D</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85 agentic AI pilots underway</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Google selected as LLM; proprietary data on an AWS-hosted model</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Microsoft Copilot and Writer as agent-building vendors</a:t>
            </a:r>
            <a:endParaRPr lang="en-US" sz="1050" dirty="0"/>
          </a:p>
          <a:p>
            <a:pPr marL="342900" indent="-342900">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SAP ERP backbone (migrated off Oracle NetSuite)</a:t>
            </a:r>
            <a:endParaRPr lang="en-US" sz="1050" dirty="0"/>
          </a:p>
        </p:txBody>
      </p:sp>
      <p:sp>
        <p:nvSpPr>
          <p:cNvPr id="26" name="Shape 24"/>
          <p:cNvSpPr/>
          <p:nvPr/>
        </p:nvSpPr>
        <p:spPr>
          <a:xfrm>
            <a:off x="566928" y="4279392"/>
            <a:ext cx="11064240" cy="1572768"/>
          </a:xfrm>
          <a:prstGeom prst="roundRect">
            <a:avLst>
              <a:gd name="adj" fmla="val 4651"/>
            </a:avLst>
          </a:prstGeom>
          <a:solidFill>
            <a:srgbClr val="F5F7FC"/>
          </a:solidFill>
          <a:ln/>
        </p:spPr>
      </p:sp>
      <p:sp>
        <p:nvSpPr>
          <p:cNvPr id="27" name="Text 25"/>
          <p:cNvSpPr/>
          <p:nvPr/>
        </p:nvSpPr>
        <p:spPr>
          <a:xfrm>
            <a:off x="841248" y="4462272"/>
            <a:ext cx="457200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So what is actually missing?</a:t>
            </a:r>
            <a:endParaRPr lang="en-US" sz="1350" dirty="0"/>
          </a:p>
        </p:txBody>
      </p:sp>
      <p:sp>
        <p:nvSpPr>
          <p:cNvPr id="28" name="Text 26"/>
          <p:cNvSpPr/>
          <p:nvPr/>
        </p:nvSpPr>
        <p:spPr>
          <a:xfrm>
            <a:off x="841248" y="4791456"/>
            <a:ext cx="10607040" cy="932688"/>
          </a:xfrm>
          <a:prstGeom prst="rect">
            <a:avLst/>
          </a:prstGeom>
          <a:noFill/>
          <a:ln/>
        </p:spPr>
        <p:txBody>
          <a:bodyPr wrap="square" lIns="0" tIns="0" rIns="0" bIns="0" rtlCol="0" anchor="ctr"/>
          <a:lstStyle/>
          <a:p>
            <a:pPr indent="0" marL="0">
              <a:buNone/>
            </a:pPr>
            <a:r>
              <a:rPr lang="en-US" sz="1150" dirty="0">
                <a:solidFill>
                  <a:srgbClr val="1A1F35"/>
                </a:solidFill>
                <a:latin typeface="Calibri" pitchFamily="34" charset="0"/>
                <a:ea typeface="Calibri" pitchFamily="34" charset="-122"/>
                <a:cs typeface="Calibri" pitchFamily="34" charset="-120"/>
              </a:rPr>
              <a:t>These are point assistants — a chatbot, a social bot, an IT desk, a data analyst. None is a unified, permissions-aware retrieval layer across all institutional knowledge: the Slack and Teams threads, Workspace docs, SAP records, meeting transcripts, retailer and agency correspondence, and above all the rationale behind marketing and product decisions. That connective layer is the second brain, and it is the gap.</a:t>
            </a:r>
            <a:endParaRPr lang="en-US" sz="1150" dirty="0"/>
          </a:p>
        </p:txBody>
      </p:sp>
      <p:sp>
        <p:nvSpPr>
          <p:cNvPr id="29" name="Text 27"/>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30" name="Text 28"/>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THE CASE</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Why the gap matters more at e.l.f. than most</a:t>
            </a:r>
            <a:endParaRPr lang="en-US" sz="2900" dirty="0"/>
          </a:p>
        </p:txBody>
      </p:sp>
      <p:sp>
        <p:nvSpPr>
          <p:cNvPr id="4" name="Shape 2"/>
          <p:cNvSpPr/>
          <p:nvPr/>
        </p:nvSpPr>
        <p:spPr>
          <a:xfrm>
            <a:off x="566928" y="1517904"/>
            <a:ext cx="11064240" cy="969264"/>
          </a:xfrm>
          <a:prstGeom prst="roundRect">
            <a:avLst>
              <a:gd name="adj" fmla="val 7547"/>
            </a:avLst>
          </a:prstGeom>
          <a:solidFill>
            <a:srgbClr val="F5F7FC"/>
          </a:solidFill>
          <a:ln/>
        </p:spPr>
      </p:sp>
      <p:sp>
        <p:nvSpPr>
          <p:cNvPr id="5" name="Shape 3"/>
          <p:cNvSpPr/>
          <p:nvPr/>
        </p:nvSpPr>
        <p:spPr>
          <a:xfrm>
            <a:off x="841248" y="1828800"/>
            <a:ext cx="347472" cy="347472"/>
          </a:xfrm>
          <a:prstGeom prst="ellipse">
            <a:avLst/>
          </a:prstGeom>
          <a:solidFill>
            <a:srgbClr val="1E2761"/>
          </a:solidFill>
          <a:ln/>
        </p:spPr>
      </p:sp>
      <p:sp>
        <p:nvSpPr>
          <p:cNvPr id="6" name="Text 4"/>
          <p:cNvSpPr/>
          <p:nvPr/>
        </p:nvSpPr>
        <p:spPr>
          <a:xfrm>
            <a:off x="1353312" y="1700784"/>
            <a:ext cx="3108960" cy="310896"/>
          </a:xfrm>
          <a:prstGeom prst="rect">
            <a:avLst/>
          </a:prstGeom>
          <a:noFill/>
          <a:ln/>
        </p:spPr>
        <p:txBody>
          <a:bodyPr wrap="square" lIns="0" tIns="0" rIns="0" bIns="0" rtlCol="0" anchor="ctr"/>
          <a:lstStyle/>
          <a:p>
            <a:pPr indent="0" marL="0">
              <a:buNone/>
            </a:pPr>
            <a:r>
              <a:rPr lang="en-US" sz="1300" b="1" dirty="0">
                <a:solidFill>
                  <a:srgbClr val="1A1F35"/>
                </a:solidFill>
                <a:latin typeface="Calibri" pitchFamily="34" charset="0"/>
                <a:ea typeface="Calibri" pitchFamily="34" charset="-122"/>
                <a:cs typeface="Calibri" pitchFamily="34" charset="-120"/>
              </a:rPr>
              <a:t>Fast hiring, thin tenure</a:t>
            </a:r>
            <a:endParaRPr lang="en-US" sz="1300" dirty="0"/>
          </a:p>
        </p:txBody>
      </p:sp>
      <p:sp>
        <p:nvSpPr>
          <p:cNvPr id="7" name="Text 5"/>
          <p:cNvSpPr/>
          <p:nvPr/>
        </p:nvSpPr>
        <p:spPr>
          <a:xfrm>
            <a:off x="1353312" y="2011680"/>
            <a:ext cx="9966960" cy="384048"/>
          </a:xfrm>
          <a:prstGeom prst="rect">
            <a:avLst/>
          </a:prstGeom>
          <a:noFill/>
          <a:ln/>
        </p:spPr>
        <p:txBody>
          <a:bodyPr wrap="square" lIns="0" tIns="0" rIns="0" bIns="0" rtlCol="0" anchor="ctr"/>
          <a:lstStyle/>
          <a:p>
            <a:pPr indent="0" marL="0">
              <a:buNone/>
            </a:pPr>
            <a:r>
              <a:rPr lang="en-US" sz="1100" dirty="0">
                <a:solidFill>
                  <a:srgbClr val="6B7396"/>
                </a:solidFill>
                <a:latin typeface="Calibri" pitchFamily="34" charset="0"/>
                <a:ea typeface="Calibri" pitchFamily="34" charset="-122"/>
                <a:cs typeface="Calibri" pitchFamily="34" charset="-120"/>
              </a:rPr>
              <a:t>Average US tenure around 2.75 years in a fast-growing company. Tribal knowledge is thin and leaves quickly — there is no long institutional memory to fall back on.</a:t>
            </a:r>
            <a:endParaRPr lang="en-US" sz="1100" dirty="0"/>
          </a:p>
        </p:txBody>
      </p:sp>
      <p:sp>
        <p:nvSpPr>
          <p:cNvPr id="8" name="Shape 6"/>
          <p:cNvSpPr/>
          <p:nvPr/>
        </p:nvSpPr>
        <p:spPr>
          <a:xfrm>
            <a:off x="566928" y="2560320"/>
            <a:ext cx="11064240" cy="969264"/>
          </a:xfrm>
          <a:prstGeom prst="roundRect">
            <a:avLst>
              <a:gd name="adj" fmla="val 7547"/>
            </a:avLst>
          </a:prstGeom>
          <a:solidFill>
            <a:srgbClr val="F5F7FC"/>
          </a:solidFill>
          <a:ln/>
        </p:spPr>
      </p:sp>
      <p:sp>
        <p:nvSpPr>
          <p:cNvPr id="9" name="Shape 7"/>
          <p:cNvSpPr/>
          <p:nvPr/>
        </p:nvSpPr>
        <p:spPr>
          <a:xfrm>
            <a:off x="841248" y="2871216"/>
            <a:ext cx="347472" cy="347472"/>
          </a:xfrm>
          <a:prstGeom prst="ellipse">
            <a:avLst/>
          </a:prstGeom>
          <a:solidFill>
            <a:srgbClr val="3A4680"/>
          </a:solidFill>
          <a:ln/>
        </p:spPr>
      </p:sp>
      <p:sp>
        <p:nvSpPr>
          <p:cNvPr id="10" name="Text 8"/>
          <p:cNvSpPr/>
          <p:nvPr/>
        </p:nvSpPr>
        <p:spPr>
          <a:xfrm>
            <a:off x="1353312" y="2743200"/>
            <a:ext cx="3108960" cy="310896"/>
          </a:xfrm>
          <a:prstGeom prst="rect">
            <a:avLst/>
          </a:prstGeom>
          <a:noFill/>
          <a:ln/>
        </p:spPr>
        <p:txBody>
          <a:bodyPr wrap="square" lIns="0" tIns="0" rIns="0" bIns="0" rtlCol="0" anchor="ctr"/>
          <a:lstStyle/>
          <a:p>
            <a:pPr indent="0" marL="0">
              <a:buNone/>
            </a:pPr>
            <a:r>
              <a:rPr lang="en-US" sz="1300" b="1" dirty="0">
                <a:solidFill>
                  <a:srgbClr val="1A1F35"/>
                </a:solidFill>
                <a:latin typeface="Calibri" pitchFamily="34" charset="0"/>
                <a:ea typeface="Calibri" pitchFamily="34" charset="-122"/>
                <a:cs typeface="Calibri" pitchFamily="34" charset="-120"/>
              </a:rPr>
              <a:t>Multi-brand silos</a:t>
            </a:r>
            <a:endParaRPr lang="en-US" sz="1300" dirty="0"/>
          </a:p>
        </p:txBody>
      </p:sp>
      <p:sp>
        <p:nvSpPr>
          <p:cNvPr id="11" name="Text 9"/>
          <p:cNvSpPr/>
          <p:nvPr/>
        </p:nvSpPr>
        <p:spPr>
          <a:xfrm>
            <a:off x="1353312" y="3054096"/>
            <a:ext cx="9966960" cy="384048"/>
          </a:xfrm>
          <a:prstGeom prst="rect">
            <a:avLst/>
          </a:prstGeom>
          <a:noFill/>
          <a:ln/>
        </p:spPr>
        <p:txBody>
          <a:bodyPr wrap="square" lIns="0" tIns="0" rIns="0" bIns="0" rtlCol="0" anchor="ctr"/>
          <a:lstStyle/>
          <a:p>
            <a:pPr indent="0" marL="0">
              <a:buNone/>
            </a:pPr>
            <a:r>
              <a:rPr lang="en-US" sz="1100" dirty="0">
                <a:solidFill>
                  <a:srgbClr val="6B7396"/>
                </a:solidFill>
                <a:latin typeface="Calibri" pitchFamily="34" charset="0"/>
                <a:ea typeface="Calibri" pitchFamily="34" charset="-122"/>
                <a:cs typeface="Calibri" pitchFamily="34" charset="-120"/>
              </a:rPr>
              <a:t>e.l.f., e.l.f. SKIN, Rhode, Naturium, Well People and Keys Soulcare each accumulate learnings that never compound across the portfolio.</a:t>
            </a:r>
            <a:endParaRPr lang="en-US" sz="1100" dirty="0"/>
          </a:p>
        </p:txBody>
      </p:sp>
      <p:sp>
        <p:nvSpPr>
          <p:cNvPr id="12" name="Shape 10"/>
          <p:cNvSpPr/>
          <p:nvPr/>
        </p:nvSpPr>
        <p:spPr>
          <a:xfrm>
            <a:off x="566928" y="3602736"/>
            <a:ext cx="11064240" cy="969264"/>
          </a:xfrm>
          <a:prstGeom prst="roundRect">
            <a:avLst>
              <a:gd name="adj" fmla="val 7547"/>
            </a:avLst>
          </a:prstGeom>
          <a:solidFill>
            <a:srgbClr val="F5F7FC"/>
          </a:solidFill>
          <a:ln/>
        </p:spPr>
      </p:sp>
      <p:sp>
        <p:nvSpPr>
          <p:cNvPr id="13" name="Shape 11"/>
          <p:cNvSpPr/>
          <p:nvPr/>
        </p:nvSpPr>
        <p:spPr>
          <a:xfrm>
            <a:off x="841248" y="3913632"/>
            <a:ext cx="347472" cy="347472"/>
          </a:xfrm>
          <a:prstGeom prst="ellipse">
            <a:avLst/>
          </a:prstGeom>
          <a:solidFill>
            <a:srgbClr val="4E5A99"/>
          </a:solidFill>
          <a:ln/>
        </p:spPr>
      </p:sp>
      <p:sp>
        <p:nvSpPr>
          <p:cNvPr id="14" name="Text 12"/>
          <p:cNvSpPr/>
          <p:nvPr/>
        </p:nvSpPr>
        <p:spPr>
          <a:xfrm>
            <a:off x="1353312" y="3785616"/>
            <a:ext cx="3108960" cy="310896"/>
          </a:xfrm>
          <a:prstGeom prst="rect">
            <a:avLst/>
          </a:prstGeom>
          <a:noFill/>
          <a:ln/>
        </p:spPr>
        <p:txBody>
          <a:bodyPr wrap="square" lIns="0" tIns="0" rIns="0" bIns="0" rtlCol="0" anchor="ctr"/>
          <a:lstStyle/>
          <a:p>
            <a:pPr indent="0" marL="0">
              <a:buNone/>
            </a:pPr>
            <a:r>
              <a:rPr lang="en-US" sz="1300" b="1" dirty="0">
                <a:solidFill>
                  <a:srgbClr val="1A1F35"/>
                </a:solidFill>
                <a:latin typeface="Calibri" pitchFamily="34" charset="0"/>
                <a:ea typeface="Calibri" pitchFamily="34" charset="-122"/>
                <a:cs typeface="Calibri" pitchFamily="34" charset="-120"/>
              </a:rPr>
              <a:t>Velocity-driven marketing</a:t>
            </a:r>
            <a:endParaRPr lang="en-US" sz="1300" dirty="0"/>
          </a:p>
        </p:txBody>
      </p:sp>
      <p:sp>
        <p:nvSpPr>
          <p:cNvPr id="15" name="Text 13"/>
          <p:cNvSpPr/>
          <p:nvPr/>
        </p:nvSpPr>
        <p:spPr>
          <a:xfrm>
            <a:off x="1353312" y="4096512"/>
            <a:ext cx="9966960" cy="384048"/>
          </a:xfrm>
          <a:prstGeom prst="rect">
            <a:avLst/>
          </a:prstGeom>
          <a:noFill/>
          <a:ln/>
        </p:spPr>
        <p:txBody>
          <a:bodyPr wrap="square" lIns="0" tIns="0" rIns="0" bIns="0" rtlCol="0" anchor="ctr"/>
          <a:lstStyle/>
          <a:p>
            <a:pPr indent="0" marL="0">
              <a:buNone/>
            </a:pPr>
            <a:r>
              <a:rPr lang="en-US" sz="1100" dirty="0">
                <a:solidFill>
                  <a:srgbClr val="6B7396"/>
                </a:solidFill>
                <a:latin typeface="Calibri" pitchFamily="34" charset="0"/>
                <a:ea typeface="Calibri" pitchFamily="34" charset="-122"/>
                <a:cs typeface="Calibri" pitchFamily="34" charset="-120"/>
              </a:rPr>
              <a:t>"Why did this campaign work" is the crown-jewel institutional knowledge in a social-first company — and it is the least documented.</a:t>
            </a:r>
            <a:endParaRPr lang="en-US" sz="1100" dirty="0"/>
          </a:p>
        </p:txBody>
      </p:sp>
      <p:sp>
        <p:nvSpPr>
          <p:cNvPr id="16" name="Shape 14"/>
          <p:cNvSpPr/>
          <p:nvPr/>
        </p:nvSpPr>
        <p:spPr>
          <a:xfrm>
            <a:off x="566928" y="4645152"/>
            <a:ext cx="11064240" cy="969264"/>
          </a:xfrm>
          <a:prstGeom prst="roundRect">
            <a:avLst>
              <a:gd name="adj" fmla="val 7547"/>
            </a:avLst>
          </a:prstGeom>
          <a:solidFill>
            <a:srgbClr val="F5F7FC"/>
          </a:solidFill>
          <a:ln/>
        </p:spPr>
      </p:sp>
      <p:sp>
        <p:nvSpPr>
          <p:cNvPr id="17" name="Shape 15"/>
          <p:cNvSpPr/>
          <p:nvPr/>
        </p:nvSpPr>
        <p:spPr>
          <a:xfrm>
            <a:off x="841248" y="4956048"/>
            <a:ext cx="347472" cy="347472"/>
          </a:xfrm>
          <a:prstGeom prst="ellipse">
            <a:avLst/>
          </a:prstGeom>
          <a:solidFill>
            <a:srgbClr val="6E78B2"/>
          </a:solidFill>
          <a:ln/>
        </p:spPr>
      </p:sp>
      <p:sp>
        <p:nvSpPr>
          <p:cNvPr id="18" name="Text 16"/>
          <p:cNvSpPr/>
          <p:nvPr/>
        </p:nvSpPr>
        <p:spPr>
          <a:xfrm>
            <a:off x="1353312" y="4828032"/>
            <a:ext cx="3108960" cy="310896"/>
          </a:xfrm>
          <a:prstGeom prst="rect">
            <a:avLst/>
          </a:prstGeom>
          <a:noFill/>
          <a:ln/>
        </p:spPr>
        <p:txBody>
          <a:bodyPr wrap="square" lIns="0" tIns="0" rIns="0" bIns="0" rtlCol="0" anchor="ctr"/>
          <a:lstStyle/>
          <a:p>
            <a:pPr indent="0" marL="0">
              <a:buNone/>
            </a:pPr>
            <a:r>
              <a:rPr lang="en-US" sz="1300" b="1" dirty="0">
                <a:solidFill>
                  <a:srgbClr val="1A1F35"/>
                </a:solidFill>
                <a:latin typeface="Calibri" pitchFamily="34" charset="0"/>
                <a:ea typeface="Calibri" pitchFamily="34" charset="-122"/>
                <a:cs typeface="Calibri" pitchFamily="34" charset="-120"/>
              </a:rPr>
              <a:t>Asset-light means knowledge-heavy</a:t>
            </a:r>
            <a:endParaRPr lang="en-US" sz="1300" dirty="0"/>
          </a:p>
        </p:txBody>
      </p:sp>
      <p:sp>
        <p:nvSpPr>
          <p:cNvPr id="19" name="Text 17"/>
          <p:cNvSpPr/>
          <p:nvPr/>
        </p:nvSpPr>
        <p:spPr>
          <a:xfrm>
            <a:off x="1353312" y="5138928"/>
            <a:ext cx="9966960" cy="384048"/>
          </a:xfrm>
          <a:prstGeom prst="rect">
            <a:avLst/>
          </a:prstGeom>
          <a:noFill/>
          <a:ln/>
        </p:spPr>
        <p:txBody>
          <a:bodyPr wrap="square" lIns="0" tIns="0" rIns="0" bIns="0" rtlCol="0" anchor="ctr"/>
          <a:lstStyle/>
          <a:p>
            <a:pPr indent="0" marL="0">
              <a:buNone/>
            </a:pPr>
            <a:r>
              <a:rPr lang="en-US" sz="1100" dirty="0">
                <a:solidFill>
                  <a:srgbClr val="6B7396"/>
                </a:solidFill>
                <a:latin typeface="Calibri" pitchFamily="34" charset="0"/>
                <a:ea typeface="Calibri" pitchFamily="34" charset="-122"/>
                <a:cs typeface="Calibri" pitchFamily="34" charset="-120"/>
              </a:rPr>
              <a:t>With no owned factories, the durable asset is know-how: supplier relationships, retailer dynamics, formulation decisions, launch playbooks.</a:t>
            </a:r>
            <a:endParaRPr lang="en-US" sz="1100" dirty="0"/>
          </a:p>
        </p:txBody>
      </p:sp>
      <p:sp>
        <p:nvSpPr>
          <p:cNvPr id="20" name="Shape 18"/>
          <p:cNvSpPr/>
          <p:nvPr/>
        </p:nvSpPr>
        <p:spPr>
          <a:xfrm>
            <a:off x="566928" y="5504688"/>
            <a:ext cx="11064240" cy="694944"/>
          </a:xfrm>
          <a:prstGeom prst="roundRect">
            <a:avLst>
              <a:gd name="adj" fmla="val 10526"/>
            </a:avLst>
          </a:prstGeom>
          <a:solidFill>
            <a:srgbClr val="1E2761"/>
          </a:solidFill>
          <a:ln/>
        </p:spPr>
      </p:sp>
      <p:sp>
        <p:nvSpPr>
          <p:cNvPr id="21" name="Text 19"/>
          <p:cNvSpPr/>
          <p:nvPr/>
        </p:nvSpPr>
        <p:spPr>
          <a:xfrm>
            <a:off x="841248" y="5669280"/>
            <a:ext cx="3017520" cy="274320"/>
          </a:xfrm>
          <a:prstGeom prst="rect">
            <a:avLst/>
          </a:prstGeom>
          <a:noFill/>
          <a:ln/>
        </p:spPr>
        <p:txBody>
          <a:bodyPr wrap="square" lIns="0" tIns="0" rIns="0" bIns="0" rtlCol="0" anchor="ctr"/>
          <a:lstStyle/>
          <a:p>
            <a:pPr indent="0" marL="0">
              <a:buNone/>
            </a:pPr>
            <a:r>
              <a:rPr lang="en-US" sz="1150" b="1" dirty="0">
                <a:solidFill>
                  <a:srgbClr val="D08C34"/>
                </a:solidFill>
                <a:latin typeface="Calibri" pitchFamily="34" charset="0"/>
                <a:ea typeface="Calibri" pitchFamily="34" charset="-122"/>
                <a:cs typeface="Calibri" pitchFamily="34" charset="-120"/>
              </a:rPr>
              <a:t>The highest-value starting point:</a:t>
            </a:r>
            <a:endParaRPr lang="en-US" sz="1150" dirty="0"/>
          </a:p>
        </p:txBody>
      </p:sp>
      <p:sp>
        <p:nvSpPr>
          <p:cNvPr id="22" name="Text 20"/>
          <p:cNvSpPr/>
          <p:nvPr/>
        </p:nvSpPr>
        <p:spPr>
          <a:xfrm>
            <a:off x="3931920" y="5660136"/>
            <a:ext cx="7498080" cy="384048"/>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capturing marketing, social and product-development decision rationale — the "why we did it this way" that walks out the door.</a:t>
            </a:r>
            <a:endParaRPr lang="en-US" sz="1100" dirty="0"/>
          </a:p>
        </p:txBody>
      </p:sp>
      <p:sp>
        <p:nvSpPr>
          <p:cNvPr id="23" name="Text 21"/>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4" name="Text 22"/>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THE DECISION</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Build vs. buy at e.l.f.'s scale</a:t>
            </a:r>
            <a:endParaRPr lang="en-US" sz="2900" dirty="0"/>
          </a:p>
        </p:txBody>
      </p:sp>
      <p:sp>
        <p:nvSpPr>
          <p:cNvPr id="4" name="Shape 2"/>
          <p:cNvSpPr/>
          <p:nvPr/>
        </p:nvSpPr>
        <p:spPr>
          <a:xfrm>
            <a:off x="566928" y="1517904"/>
            <a:ext cx="5394960" cy="2304288"/>
          </a:xfrm>
          <a:prstGeom prst="roundRect">
            <a:avLst>
              <a:gd name="adj" fmla="val 3175"/>
            </a:avLst>
          </a:prstGeom>
          <a:solidFill>
            <a:srgbClr val="F5F7FC"/>
          </a:solidFill>
          <a:ln/>
        </p:spPr>
      </p:sp>
      <p:sp>
        <p:nvSpPr>
          <p:cNvPr id="5" name="Text 3"/>
          <p:cNvSpPr/>
          <p:nvPr/>
        </p:nvSpPr>
        <p:spPr>
          <a:xfrm>
            <a:off x="822960" y="1700784"/>
            <a:ext cx="4937760" cy="310896"/>
          </a:xfrm>
          <a:prstGeom prst="rect">
            <a:avLst/>
          </a:prstGeom>
          <a:noFill/>
          <a:ln/>
        </p:spPr>
        <p:txBody>
          <a:bodyPr wrap="square" lIns="0" tIns="0" rIns="0" bIns="0" rtlCol="0" anchor="ctr"/>
          <a:lstStyle/>
          <a:p>
            <a:pPr indent="0" marL="0">
              <a:buNone/>
            </a:pPr>
            <a:r>
              <a:rPr lang="en-US" sz="1800" b="1" dirty="0">
                <a:solidFill>
                  <a:srgbClr val="6B7396"/>
                </a:solidFill>
                <a:latin typeface="Cambria" pitchFamily="34" charset="0"/>
                <a:ea typeface="Cambria" pitchFamily="34" charset="-122"/>
                <a:cs typeface="Cambria" pitchFamily="34" charset="-120"/>
              </a:rPr>
              <a:t>Build</a:t>
            </a:r>
            <a:endParaRPr lang="en-US" sz="1800" dirty="0"/>
          </a:p>
        </p:txBody>
      </p:sp>
      <p:sp>
        <p:nvSpPr>
          <p:cNvPr id="6" name="Text 4"/>
          <p:cNvSpPr/>
          <p:nvPr/>
        </p:nvSpPr>
        <p:spPr>
          <a:xfrm>
            <a:off x="841248" y="2121408"/>
            <a:ext cx="4937760" cy="159105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A1F35"/>
                </a:solidFill>
                <a:latin typeface="Calibri" pitchFamily="34" charset="0"/>
                <a:ea typeface="Calibri" pitchFamily="34" charset="-122"/>
                <a:cs typeface="Calibri" pitchFamily="34" charset="-120"/>
              </a:rPr>
              <a:t>MIT: internal builds succeed at roughly half the rate of vendor tools</a:t>
            </a:r>
            <a:endParaRPr lang="en-US" sz="1100" dirty="0"/>
          </a:p>
          <a:p>
            <a:pPr marL="342900" indent="-342900">
              <a:spcAft>
                <a:spcPts val="600"/>
              </a:spcAft>
              <a:buSzPct val="100000"/>
              <a:buChar char="•"/>
            </a:pPr>
            <a:r>
              <a:rPr lang="en-US" sz="1100" dirty="0">
                <a:solidFill>
                  <a:srgbClr val="1A1F35"/>
                </a:solidFill>
                <a:latin typeface="Calibri" pitchFamily="34" charset="0"/>
                <a:ea typeface="Calibri" pitchFamily="34" charset="-122"/>
                <a:cs typeface="Calibri" pitchFamily="34" charset="-120"/>
              </a:rPr>
              <a:t>Requires a substantial in-house ML and data-engineering org</a:t>
            </a:r>
            <a:endParaRPr lang="en-US" sz="1100" dirty="0"/>
          </a:p>
          <a:p>
            <a:pPr marL="342900" indent="-342900">
              <a:spcAft>
                <a:spcPts val="600"/>
              </a:spcAft>
              <a:buSzPct val="100000"/>
              <a:buChar char="•"/>
            </a:pPr>
            <a:r>
              <a:rPr lang="en-US" sz="1100" dirty="0">
                <a:solidFill>
                  <a:srgbClr val="1A1F35"/>
                </a:solidFill>
                <a:latin typeface="Calibri" pitchFamily="34" charset="0"/>
                <a:ea typeface="Calibri" pitchFamily="34" charset="-122"/>
                <a:cs typeface="Calibri" pitchFamily="34" charset="-120"/>
              </a:rPr>
              <a:t>Morgan Stanley and McKinsey built — but at 80,000 and 45,000 people</a:t>
            </a:r>
            <a:endParaRPr lang="en-US" sz="1100" dirty="0"/>
          </a:p>
          <a:p>
            <a:pPr marL="342900" indent="-342900">
              <a:spcAft>
                <a:spcPts val="600"/>
              </a:spcAft>
              <a:buSzPct val="100000"/>
              <a:buChar char="•"/>
            </a:pPr>
            <a:r>
              <a:rPr lang="en-US" sz="1100" dirty="0">
                <a:solidFill>
                  <a:srgbClr val="1A1F35"/>
                </a:solidFill>
                <a:latin typeface="Calibri" pitchFamily="34" charset="0"/>
                <a:ea typeface="Calibri" pitchFamily="34" charset="-122"/>
                <a:cs typeface="Calibri" pitchFamily="34" charset="-120"/>
              </a:rPr>
              <a:t>Connector maintenance is a permanent tax, not a one-time cost</a:t>
            </a:r>
            <a:endParaRPr lang="en-US" sz="1100" dirty="0"/>
          </a:p>
        </p:txBody>
      </p:sp>
      <p:sp>
        <p:nvSpPr>
          <p:cNvPr id="7" name="Shape 5"/>
          <p:cNvSpPr/>
          <p:nvPr/>
        </p:nvSpPr>
        <p:spPr>
          <a:xfrm>
            <a:off x="6236208" y="1517904"/>
            <a:ext cx="5394960" cy="2304288"/>
          </a:xfrm>
          <a:prstGeom prst="roundRect">
            <a:avLst>
              <a:gd name="adj" fmla="val 3175"/>
            </a:avLst>
          </a:prstGeom>
          <a:solidFill>
            <a:srgbClr val="1E2761"/>
          </a:solidFill>
          <a:ln/>
        </p:spPr>
      </p:sp>
      <p:sp>
        <p:nvSpPr>
          <p:cNvPr id="8" name="Text 6"/>
          <p:cNvSpPr/>
          <p:nvPr/>
        </p:nvSpPr>
        <p:spPr>
          <a:xfrm>
            <a:off x="6492240" y="1700784"/>
            <a:ext cx="4937760" cy="310896"/>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Buy and integrate</a:t>
            </a:r>
            <a:endParaRPr lang="en-US" sz="1800" dirty="0"/>
          </a:p>
        </p:txBody>
      </p:sp>
      <p:sp>
        <p:nvSpPr>
          <p:cNvPr id="9" name="Text 7"/>
          <p:cNvSpPr/>
          <p:nvPr/>
        </p:nvSpPr>
        <p:spPr>
          <a:xfrm>
            <a:off x="6510528" y="2121408"/>
            <a:ext cx="4937760" cy="159105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CADCFC"/>
                </a:solidFill>
                <a:latin typeface="Calibri" pitchFamily="34" charset="0"/>
                <a:ea typeface="Calibri" pitchFamily="34" charset="-122"/>
                <a:cs typeface="Calibri" pitchFamily="34" charset="-120"/>
              </a:rPr>
              <a:t>e.l.f. is ~600–900 employees, not a 100,000-person bank</a:t>
            </a:r>
            <a:endParaRPr lang="en-US" sz="1100" dirty="0"/>
          </a:p>
          <a:p>
            <a:pPr marL="342900" indent="-342900">
              <a:spcAft>
                <a:spcPts val="600"/>
              </a:spcAft>
              <a:buSzPct val="100000"/>
              <a:buChar char="•"/>
            </a:pPr>
            <a:r>
              <a:rPr lang="en-US" sz="1100" dirty="0">
                <a:solidFill>
                  <a:srgbClr val="CADCFC"/>
                </a:solidFill>
                <a:latin typeface="Calibri" pitchFamily="34" charset="0"/>
                <a:ea typeface="Calibri" pitchFamily="34" charset="-122"/>
                <a:cs typeface="Calibri" pitchFamily="34" charset="-120"/>
              </a:rPr>
              <a:t>Google is already the selected LLM — Gemini Enterprise is adjacent</a:t>
            </a:r>
            <a:endParaRPr lang="en-US" sz="1100" dirty="0"/>
          </a:p>
          <a:p>
            <a:pPr marL="342900" indent="-342900">
              <a:spcAft>
                <a:spcPts val="600"/>
              </a:spcAft>
              <a:buSzPct val="100000"/>
              <a:buChar char="•"/>
            </a:pPr>
            <a:r>
              <a:rPr lang="en-US" sz="1100" dirty="0">
                <a:solidFill>
                  <a:srgbClr val="CADCFC"/>
                </a:solidFill>
                <a:latin typeface="Calibri" pitchFamily="34" charset="0"/>
                <a:ea typeface="Calibri" pitchFamily="34" charset="-122"/>
                <a:cs typeface="Calibri" pitchFamily="34" charset="-120"/>
              </a:rPr>
              <a:t>KPMG, a far larger firm, chose to buy rather than build</a:t>
            </a:r>
            <a:endParaRPr lang="en-US" sz="1100" dirty="0"/>
          </a:p>
          <a:p>
            <a:pPr marL="342900" indent="-342900">
              <a:spcAft>
                <a:spcPts val="600"/>
              </a:spcAft>
              <a:buSzPct val="100000"/>
              <a:buChar char="•"/>
            </a:pPr>
            <a:r>
              <a:rPr lang="en-US" sz="1100" dirty="0">
                <a:solidFill>
                  <a:srgbClr val="CADCFC"/>
                </a:solidFill>
                <a:latin typeface="Calibri" pitchFamily="34" charset="0"/>
                <a:ea typeface="Calibri" pitchFamily="34" charset="-122"/>
                <a:cs typeface="Calibri" pitchFamily="34" charset="-120"/>
              </a:rPr>
              <a:t>Moderna's method: run a bake-off and let employee NPS decide</a:t>
            </a:r>
            <a:endParaRPr lang="en-US" sz="1100" dirty="0"/>
          </a:p>
        </p:txBody>
      </p:sp>
      <p:sp>
        <p:nvSpPr>
          <p:cNvPr id="10" name="Shape 8"/>
          <p:cNvSpPr/>
          <p:nvPr/>
        </p:nvSpPr>
        <p:spPr>
          <a:xfrm>
            <a:off x="566928" y="4059936"/>
            <a:ext cx="11064240" cy="969264"/>
          </a:xfrm>
          <a:prstGeom prst="roundRect">
            <a:avLst>
              <a:gd name="adj" fmla="val 7547"/>
            </a:avLst>
          </a:prstGeom>
          <a:solidFill>
            <a:srgbClr val="FFFFFF"/>
          </a:solidFill>
          <a:ln w="12700">
            <a:solidFill>
              <a:srgbClr val="D9E0F2"/>
            </a:solidFill>
            <a:prstDash val="solid"/>
          </a:ln>
        </p:spPr>
      </p:sp>
      <p:sp>
        <p:nvSpPr>
          <p:cNvPr id="11" name="Text 9"/>
          <p:cNvSpPr/>
          <p:nvPr/>
        </p:nvSpPr>
        <p:spPr>
          <a:xfrm>
            <a:off x="841248" y="4279392"/>
            <a:ext cx="914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Verdict:</a:t>
            </a:r>
            <a:endParaRPr lang="en-US" sz="1300" dirty="0"/>
          </a:p>
        </p:txBody>
      </p:sp>
      <p:sp>
        <p:nvSpPr>
          <p:cNvPr id="12" name="Text 10"/>
          <p:cNvSpPr/>
          <p:nvPr/>
        </p:nvSpPr>
        <p:spPr>
          <a:xfrm>
            <a:off x="1810512" y="4242816"/>
            <a:ext cx="9601200" cy="566928"/>
          </a:xfrm>
          <a:prstGeom prst="rect">
            <a:avLst/>
          </a:prstGeom>
          <a:noFill/>
          <a:ln/>
        </p:spPr>
        <p:txBody>
          <a:bodyPr wrap="square" lIns="0" tIns="0" rIns="0" bIns="0" rtlCol="0" anchor="ctr"/>
          <a:lstStyle/>
          <a:p>
            <a:pPr indent="0" marL="0">
              <a:buNone/>
            </a:pPr>
            <a:r>
              <a:rPr lang="en-US" sz="1200" dirty="0">
                <a:solidFill>
                  <a:srgbClr val="1A1F35"/>
                </a:solidFill>
                <a:latin typeface="Calibri" pitchFamily="34" charset="0"/>
                <a:ea typeface="Calibri" pitchFamily="34" charset="-122"/>
                <a:cs typeface="Calibri" pitchFamily="34" charset="-120"/>
              </a:rPr>
              <a:t>Default to buy. e.l.f. should not build a Lilli — it should connect its existing sources through a permissions-aware platform, and spend the saved engineering effort on adoption and content governance instead.</a:t>
            </a:r>
            <a:endParaRPr lang="en-US" sz="1200" dirty="0"/>
          </a:p>
        </p:txBody>
      </p:sp>
      <p:sp>
        <p:nvSpPr>
          <p:cNvPr id="13" name="Text 11"/>
          <p:cNvSpPr/>
          <p:nvPr/>
        </p:nvSpPr>
        <p:spPr>
          <a:xfrm>
            <a:off x="566928" y="5175504"/>
            <a:ext cx="640080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Selection criteria for the bake-off</a:t>
            </a:r>
            <a:endParaRPr lang="en-US" sz="1300" dirty="0"/>
          </a:p>
        </p:txBody>
      </p:sp>
      <p:sp>
        <p:nvSpPr>
          <p:cNvPr id="14" name="Shape 12"/>
          <p:cNvSpPr/>
          <p:nvPr/>
        </p:nvSpPr>
        <p:spPr>
          <a:xfrm>
            <a:off x="566928" y="5541264"/>
            <a:ext cx="2615184" cy="603504"/>
          </a:xfrm>
          <a:prstGeom prst="roundRect">
            <a:avLst>
              <a:gd name="adj" fmla="val 12121"/>
            </a:avLst>
          </a:prstGeom>
          <a:solidFill>
            <a:srgbClr val="F5F7FC"/>
          </a:solidFill>
          <a:ln/>
        </p:spPr>
      </p:sp>
      <p:sp>
        <p:nvSpPr>
          <p:cNvPr id="15" name="Shape 13"/>
          <p:cNvSpPr/>
          <p:nvPr/>
        </p:nvSpPr>
        <p:spPr>
          <a:xfrm>
            <a:off x="731520" y="5669280"/>
            <a:ext cx="329184" cy="329184"/>
          </a:xfrm>
          <a:prstGeom prst="ellipse">
            <a:avLst/>
          </a:prstGeom>
          <a:solidFill>
            <a:srgbClr val="1E2761"/>
          </a:solidFill>
          <a:ln/>
        </p:spPr>
      </p:sp>
      <p:sp>
        <p:nvSpPr>
          <p:cNvPr id="16" name="Text 14"/>
          <p:cNvSpPr/>
          <p:nvPr/>
        </p:nvSpPr>
        <p:spPr>
          <a:xfrm>
            <a:off x="731520" y="5669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5"/>
          <p:cNvSpPr/>
          <p:nvPr/>
        </p:nvSpPr>
        <p:spPr>
          <a:xfrm>
            <a:off x="1133856" y="5632704"/>
            <a:ext cx="1975104"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Connector coverage of e.l.f.'s actual stack</a:t>
            </a:r>
            <a:endParaRPr lang="en-US" sz="950" dirty="0"/>
          </a:p>
        </p:txBody>
      </p:sp>
      <p:sp>
        <p:nvSpPr>
          <p:cNvPr id="18" name="Shape 16"/>
          <p:cNvSpPr/>
          <p:nvPr/>
        </p:nvSpPr>
        <p:spPr>
          <a:xfrm>
            <a:off x="3383280" y="5541264"/>
            <a:ext cx="2615184" cy="603504"/>
          </a:xfrm>
          <a:prstGeom prst="roundRect">
            <a:avLst>
              <a:gd name="adj" fmla="val 12121"/>
            </a:avLst>
          </a:prstGeom>
          <a:solidFill>
            <a:srgbClr val="F5F7FC"/>
          </a:solidFill>
          <a:ln/>
        </p:spPr>
      </p:sp>
      <p:sp>
        <p:nvSpPr>
          <p:cNvPr id="19" name="Shape 17"/>
          <p:cNvSpPr/>
          <p:nvPr/>
        </p:nvSpPr>
        <p:spPr>
          <a:xfrm>
            <a:off x="3547872" y="5669280"/>
            <a:ext cx="329184" cy="329184"/>
          </a:xfrm>
          <a:prstGeom prst="ellipse">
            <a:avLst/>
          </a:prstGeom>
          <a:solidFill>
            <a:srgbClr val="1E2761"/>
          </a:solidFill>
          <a:ln/>
        </p:spPr>
      </p:sp>
      <p:sp>
        <p:nvSpPr>
          <p:cNvPr id="20" name="Text 18"/>
          <p:cNvSpPr/>
          <p:nvPr/>
        </p:nvSpPr>
        <p:spPr>
          <a:xfrm>
            <a:off x="3547872" y="5669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3950208" y="5632704"/>
            <a:ext cx="1975104"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Permission-mirroring fidelity</a:t>
            </a:r>
            <a:endParaRPr lang="en-US" sz="950" dirty="0"/>
          </a:p>
        </p:txBody>
      </p:sp>
      <p:sp>
        <p:nvSpPr>
          <p:cNvPr id="22" name="Shape 20"/>
          <p:cNvSpPr/>
          <p:nvPr/>
        </p:nvSpPr>
        <p:spPr>
          <a:xfrm>
            <a:off x="6199632" y="5541264"/>
            <a:ext cx="2615184" cy="603504"/>
          </a:xfrm>
          <a:prstGeom prst="roundRect">
            <a:avLst>
              <a:gd name="adj" fmla="val 12121"/>
            </a:avLst>
          </a:prstGeom>
          <a:solidFill>
            <a:srgbClr val="F5F7FC"/>
          </a:solidFill>
          <a:ln/>
        </p:spPr>
      </p:sp>
      <p:sp>
        <p:nvSpPr>
          <p:cNvPr id="23" name="Shape 21"/>
          <p:cNvSpPr/>
          <p:nvPr/>
        </p:nvSpPr>
        <p:spPr>
          <a:xfrm>
            <a:off x="6364224" y="5669280"/>
            <a:ext cx="329184" cy="329184"/>
          </a:xfrm>
          <a:prstGeom prst="ellipse">
            <a:avLst/>
          </a:prstGeom>
          <a:solidFill>
            <a:srgbClr val="1E2761"/>
          </a:solidFill>
          <a:ln/>
        </p:spPr>
      </p:sp>
      <p:sp>
        <p:nvSpPr>
          <p:cNvPr id="24" name="Text 22"/>
          <p:cNvSpPr/>
          <p:nvPr/>
        </p:nvSpPr>
        <p:spPr>
          <a:xfrm>
            <a:off x="6364224" y="5669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766560" y="5632704"/>
            <a:ext cx="1975104"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Employee NPS from a pilot cohort</a:t>
            </a:r>
            <a:endParaRPr lang="en-US" sz="950" dirty="0"/>
          </a:p>
        </p:txBody>
      </p:sp>
      <p:sp>
        <p:nvSpPr>
          <p:cNvPr id="26" name="Shape 24"/>
          <p:cNvSpPr/>
          <p:nvPr/>
        </p:nvSpPr>
        <p:spPr>
          <a:xfrm>
            <a:off x="9015984" y="5541264"/>
            <a:ext cx="2615184" cy="603504"/>
          </a:xfrm>
          <a:prstGeom prst="roundRect">
            <a:avLst>
              <a:gd name="adj" fmla="val 12121"/>
            </a:avLst>
          </a:prstGeom>
          <a:solidFill>
            <a:srgbClr val="F5F7FC"/>
          </a:solidFill>
          <a:ln/>
        </p:spPr>
      </p:sp>
      <p:sp>
        <p:nvSpPr>
          <p:cNvPr id="27" name="Shape 25"/>
          <p:cNvSpPr/>
          <p:nvPr/>
        </p:nvSpPr>
        <p:spPr>
          <a:xfrm>
            <a:off x="9180576" y="5669280"/>
            <a:ext cx="329184" cy="329184"/>
          </a:xfrm>
          <a:prstGeom prst="ellipse">
            <a:avLst/>
          </a:prstGeom>
          <a:solidFill>
            <a:srgbClr val="1E2761"/>
          </a:solidFill>
          <a:ln/>
        </p:spPr>
      </p:sp>
      <p:sp>
        <p:nvSpPr>
          <p:cNvPr id="28" name="Text 26"/>
          <p:cNvSpPr/>
          <p:nvPr/>
        </p:nvSpPr>
        <p:spPr>
          <a:xfrm>
            <a:off x="9180576" y="5669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9582912" y="5632704"/>
            <a:ext cx="1975104"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Total cost at ~800 seats</a:t>
            </a:r>
            <a:endParaRPr lang="en-US" sz="950" dirty="0"/>
          </a:p>
        </p:txBody>
      </p:sp>
      <p:sp>
        <p:nvSpPr>
          <p:cNvPr id="30" name="Text 28"/>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31" name="Text 29"/>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CADCFC"/>
                </a:solidFill>
                <a:latin typeface="Calibri" pitchFamily="34" charset="0"/>
                <a:ea typeface="Calibri" pitchFamily="34" charset="-122"/>
                <a:cs typeface="Calibri" pitchFamily="34" charset="-120"/>
              </a:rPr>
              <a:t>RECOMMENDATION</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A three-stage rollout playbook</a:t>
            </a:r>
            <a:endParaRPr lang="en-US" sz="2900" dirty="0"/>
          </a:p>
        </p:txBody>
      </p:sp>
      <p:sp>
        <p:nvSpPr>
          <p:cNvPr id="4" name="Shape 2"/>
          <p:cNvSpPr/>
          <p:nvPr/>
        </p:nvSpPr>
        <p:spPr>
          <a:xfrm>
            <a:off x="566928" y="1536192"/>
            <a:ext cx="3529584" cy="3931920"/>
          </a:xfrm>
          <a:prstGeom prst="roundRect">
            <a:avLst>
              <a:gd name="adj" fmla="val 2073"/>
            </a:avLst>
          </a:prstGeom>
          <a:solidFill>
            <a:srgbClr val="2A3573"/>
          </a:solidFill>
          <a:ln/>
        </p:spPr>
      </p:sp>
      <p:sp>
        <p:nvSpPr>
          <p:cNvPr id="5" name="Text 3"/>
          <p:cNvSpPr/>
          <p:nvPr/>
        </p:nvSpPr>
        <p:spPr>
          <a:xfrm>
            <a:off x="804672" y="1719072"/>
            <a:ext cx="3017520" cy="237744"/>
          </a:xfrm>
          <a:prstGeom prst="rect">
            <a:avLst/>
          </a:prstGeom>
          <a:noFill/>
          <a:ln/>
        </p:spPr>
        <p:txBody>
          <a:bodyPr wrap="square" lIns="0" tIns="0" rIns="0" bIns="0" rtlCol="0" anchor="ctr"/>
          <a:lstStyle/>
          <a:p>
            <a:pPr indent="0" marL="0">
              <a:buNone/>
            </a:pPr>
            <a:r>
              <a:rPr lang="en-US" sz="950" b="1" spc="140" kern="0" dirty="0">
                <a:solidFill>
                  <a:srgbClr val="D08C34"/>
                </a:solidFill>
                <a:latin typeface="Calibri" pitchFamily="34" charset="0"/>
                <a:ea typeface="Calibri" pitchFamily="34" charset="-122"/>
                <a:cs typeface="Calibri" pitchFamily="34" charset="-120"/>
              </a:rPr>
              <a:t>STAGE 1</a:t>
            </a:r>
            <a:endParaRPr lang="en-US" sz="950" dirty="0"/>
          </a:p>
        </p:txBody>
      </p:sp>
      <p:sp>
        <p:nvSpPr>
          <p:cNvPr id="6" name="Text 4"/>
          <p:cNvSpPr/>
          <p:nvPr/>
        </p:nvSpPr>
        <p:spPr>
          <a:xfrm>
            <a:off x="804672" y="1975104"/>
            <a:ext cx="301752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0–3 months</a:t>
            </a:r>
            <a:endParaRPr lang="en-US" sz="1900" dirty="0"/>
          </a:p>
        </p:txBody>
      </p:sp>
      <p:sp>
        <p:nvSpPr>
          <p:cNvPr id="7" name="Text 5"/>
          <p:cNvSpPr/>
          <p:nvPr/>
        </p:nvSpPr>
        <p:spPr>
          <a:xfrm>
            <a:off x="804672" y="2359152"/>
            <a:ext cx="3054096" cy="5486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Scope narrow, wire permissions first</a:t>
            </a:r>
            <a:endParaRPr lang="en-US" sz="1200" dirty="0"/>
          </a:p>
        </p:txBody>
      </p:sp>
      <p:sp>
        <p:nvSpPr>
          <p:cNvPr id="8" name="Text 6"/>
          <p:cNvSpPr/>
          <p:nvPr/>
        </p:nvSpPr>
        <p:spPr>
          <a:xfrm>
            <a:off x="822960" y="2999232"/>
            <a:ext cx="3035808" cy="2322576"/>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Pick ONE domain: marketing, social and product-development decision capture</a:t>
            </a:r>
            <a:endParaRPr lang="en-US" sz="1000" dirty="0"/>
          </a:p>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Run a data-remediation and access-audit sprint before connecting anything</a:t>
            </a:r>
            <a:endParaRPr lang="en-US" sz="1000" dirty="0"/>
          </a:p>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Run the vendor bake-off: Gemini Enterprise vs. Glean vs. Copilot</a:t>
            </a:r>
            <a:endParaRPr lang="en-US" sz="1000" dirty="0"/>
          </a:p>
        </p:txBody>
      </p:sp>
      <p:sp>
        <p:nvSpPr>
          <p:cNvPr id="9" name="Shape 7"/>
          <p:cNvSpPr/>
          <p:nvPr/>
        </p:nvSpPr>
        <p:spPr>
          <a:xfrm>
            <a:off x="4352544" y="1536192"/>
            <a:ext cx="3529584" cy="3931920"/>
          </a:xfrm>
          <a:prstGeom prst="roundRect">
            <a:avLst>
              <a:gd name="adj" fmla="val 2073"/>
            </a:avLst>
          </a:prstGeom>
          <a:solidFill>
            <a:srgbClr val="2A3573"/>
          </a:solidFill>
          <a:ln/>
        </p:spPr>
      </p:sp>
      <p:sp>
        <p:nvSpPr>
          <p:cNvPr id="10" name="Text 8"/>
          <p:cNvSpPr/>
          <p:nvPr/>
        </p:nvSpPr>
        <p:spPr>
          <a:xfrm>
            <a:off x="4590288" y="1719072"/>
            <a:ext cx="3017520" cy="237744"/>
          </a:xfrm>
          <a:prstGeom prst="rect">
            <a:avLst/>
          </a:prstGeom>
          <a:noFill/>
          <a:ln/>
        </p:spPr>
        <p:txBody>
          <a:bodyPr wrap="square" lIns="0" tIns="0" rIns="0" bIns="0" rtlCol="0" anchor="ctr"/>
          <a:lstStyle/>
          <a:p>
            <a:pPr indent="0" marL="0">
              <a:buNone/>
            </a:pPr>
            <a:r>
              <a:rPr lang="en-US" sz="950" b="1" spc="140" kern="0" dirty="0">
                <a:solidFill>
                  <a:srgbClr val="D08C34"/>
                </a:solidFill>
                <a:latin typeface="Calibri" pitchFamily="34" charset="0"/>
                <a:ea typeface="Calibri" pitchFamily="34" charset="-122"/>
                <a:cs typeface="Calibri" pitchFamily="34" charset="-120"/>
              </a:rPr>
              <a:t>STAGE 2</a:t>
            </a:r>
            <a:endParaRPr lang="en-US" sz="950" dirty="0"/>
          </a:p>
        </p:txBody>
      </p:sp>
      <p:sp>
        <p:nvSpPr>
          <p:cNvPr id="11" name="Text 9"/>
          <p:cNvSpPr/>
          <p:nvPr/>
        </p:nvSpPr>
        <p:spPr>
          <a:xfrm>
            <a:off x="4590288" y="1975104"/>
            <a:ext cx="301752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3–9 months</a:t>
            </a:r>
            <a:endParaRPr lang="en-US" sz="1900" dirty="0"/>
          </a:p>
        </p:txBody>
      </p:sp>
      <p:sp>
        <p:nvSpPr>
          <p:cNvPr id="12" name="Text 10"/>
          <p:cNvSpPr/>
          <p:nvPr/>
        </p:nvSpPr>
        <p:spPr>
          <a:xfrm>
            <a:off x="4590288" y="2359152"/>
            <a:ext cx="3054096" cy="5486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Pilot with power users, measure relentlessly</a:t>
            </a:r>
            <a:endParaRPr lang="en-US" sz="1200" dirty="0"/>
          </a:p>
        </p:txBody>
      </p:sp>
      <p:sp>
        <p:nvSpPr>
          <p:cNvPr id="13" name="Text 11"/>
          <p:cNvSpPr/>
          <p:nvPr/>
        </p:nvSpPr>
        <p:spPr>
          <a:xfrm>
            <a:off x="4608576" y="2999232"/>
            <a:ext cx="3035808" cy="2322576"/>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Deploy to existing power users and the AI steering committee first</a:t>
            </a:r>
            <a:endParaRPr lang="en-US" sz="1000" dirty="0"/>
          </a:p>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Recruit a champion network — the most consistent success factor</a:t>
            </a:r>
            <a:endParaRPr lang="en-US" sz="1000" dirty="0"/>
          </a:p>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Instrument from day one; bake in citations and role-based retrieval</a:t>
            </a:r>
            <a:endParaRPr lang="en-US" sz="1000" dirty="0"/>
          </a:p>
        </p:txBody>
      </p:sp>
      <p:sp>
        <p:nvSpPr>
          <p:cNvPr id="14" name="Shape 12"/>
          <p:cNvSpPr/>
          <p:nvPr/>
        </p:nvSpPr>
        <p:spPr>
          <a:xfrm>
            <a:off x="8138160" y="1536192"/>
            <a:ext cx="3529584" cy="3931920"/>
          </a:xfrm>
          <a:prstGeom prst="roundRect">
            <a:avLst>
              <a:gd name="adj" fmla="val 2073"/>
            </a:avLst>
          </a:prstGeom>
          <a:solidFill>
            <a:srgbClr val="2A3573"/>
          </a:solidFill>
          <a:ln/>
        </p:spPr>
      </p:sp>
      <p:sp>
        <p:nvSpPr>
          <p:cNvPr id="15" name="Text 13"/>
          <p:cNvSpPr/>
          <p:nvPr/>
        </p:nvSpPr>
        <p:spPr>
          <a:xfrm>
            <a:off x="8375904" y="1719072"/>
            <a:ext cx="3017520" cy="237744"/>
          </a:xfrm>
          <a:prstGeom prst="rect">
            <a:avLst/>
          </a:prstGeom>
          <a:noFill/>
          <a:ln/>
        </p:spPr>
        <p:txBody>
          <a:bodyPr wrap="square" lIns="0" tIns="0" rIns="0" bIns="0" rtlCol="0" anchor="ctr"/>
          <a:lstStyle/>
          <a:p>
            <a:pPr indent="0" marL="0">
              <a:buNone/>
            </a:pPr>
            <a:r>
              <a:rPr lang="en-US" sz="950" b="1" spc="140" kern="0" dirty="0">
                <a:solidFill>
                  <a:srgbClr val="D08C34"/>
                </a:solidFill>
                <a:latin typeface="Calibri" pitchFamily="34" charset="0"/>
                <a:ea typeface="Calibri" pitchFamily="34" charset="-122"/>
                <a:cs typeface="Calibri" pitchFamily="34" charset="-120"/>
              </a:rPr>
              <a:t>STAGE 3</a:t>
            </a:r>
            <a:endParaRPr lang="en-US" sz="950" dirty="0"/>
          </a:p>
        </p:txBody>
      </p:sp>
      <p:sp>
        <p:nvSpPr>
          <p:cNvPr id="16" name="Text 14"/>
          <p:cNvSpPr/>
          <p:nvPr/>
        </p:nvSpPr>
        <p:spPr>
          <a:xfrm>
            <a:off x="8375904" y="1975104"/>
            <a:ext cx="301752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9–18 months</a:t>
            </a:r>
            <a:endParaRPr lang="en-US" sz="1900" dirty="0"/>
          </a:p>
        </p:txBody>
      </p:sp>
      <p:sp>
        <p:nvSpPr>
          <p:cNvPr id="17" name="Text 15"/>
          <p:cNvSpPr/>
          <p:nvPr/>
        </p:nvSpPr>
        <p:spPr>
          <a:xfrm>
            <a:off x="8375904" y="2359152"/>
            <a:ext cx="3054096" cy="5486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Scale, then go agentic</a:t>
            </a:r>
            <a:endParaRPr lang="en-US" sz="1200" dirty="0"/>
          </a:p>
        </p:txBody>
      </p:sp>
      <p:sp>
        <p:nvSpPr>
          <p:cNvPr id="18" name="Text 16"/>
          <p:cNvSpPr/>
          <p:nvPr/>
        </p:nvSpPr>
        <p:spPr>
          <a:xfrm>
            <a:off x="8394192" y="2999232"/>
            <a:ext cx="3035808" cy="2322576"/>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Expand to all functions only after the pilot clears its benchmarks</a:t>
            </a:r>
            <a:endParaRPr lang="en-US" sz="1000" dirty="0"/>
          </a:p>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Standardise connectors via MCP, following BCG's lead</a:t>
            </a:r>
            <a:endParaRPr lang="en-US" sz="1000" dirty="0"/>
          </a:p>
          <a:p>
            <a:pPr marL="342900" indent="-342900">
              <a:spcAft>
                <a:spcPts val="800"/>
              </a:spcAft>
              <a:buSzPct val="100000"/>
              <a:buChar char="•"/>
            </a:pPr>
            <a:r>
              <a:rPr lang="en-US" sz="1000" dirty="0">
                <a:solidFill>
                  <a:srgbClr val="CADCFC"/>
                </a:solidFill>
                <a:latin typeface="Calibri" pitchFamily="34" charset="0"/>
                <a:ea typeface="Calibri" pitchFamily="34" charset="-122"/>
                <a:cs typeface="Calibri" pitchFamily="34" charset="-120"/>
              </a:rPr>
              <a:t>Move to agentic retrieval for the highest-value workflows</a:t>
            </a:r>
            <a:endParaRPr lang="en-US" sz="1000" dirty="0"/>
          </a:p>
        </p:txBody>
      </p:sp>
      <p:sp>
        <p:nvSpPr>
          <p:cNvPr id="19" name="Text 17"/>
          <p:cNvSpPr/>
          <p:nvPr/>
        </p:nvSpPr>
        <p:spPr>
          <a:xfrm>
            <a:off x="566928" y="5632704"/>
            <a:ext cx="11064240" cy="548640"/>
          </a:xfrm>
          <a:prstGeom prst="rect">
            <a:avLst/>
          </a:prstGeom>
          <a:noFill/>
          <a:ln/>
        </p:spPr>
        <p:txBody>
          <a:bodyPr wrap="square" lIns="0" tIns="0" rIns="0" bIns="0" rtlCol="0" anchor="ctr"/>
          <a:lstStyle/>
          <a:p>
            <a:pPr indent="0" marL="0">
              <a:buNone/>
            </a:pPr>
            <a:r>
              <a:rPr lang="en-US" sz="1100" i="1" dirty="0">
                <a:solidFill>
                  <a:srgbClr val="D08C34"/>
                </a:solidFill>
                <a:latin typeface="Calibri" pitchFamily="34" charset="0"/>
                <a:ea typeface="Calibri" pitchFamily="34" charset="-122"/>
                <a:cs typeface="Calibri" pitchFamily="34" charset="-120"/>
              </a:rPr>
              <a:t>Benchmarks that justify scaling: ≥40–50% weekly active use in the pilot cohort within 90 days, measurable search-time reduction, and faster onboarding. If weekly active use stalls below ~30%, pause and fix change management before spending more.</a:t>
            </a:r>
            <a:endParaRPr lang="en-US" sz="1100" dirty="0"/>
          </a:p>
        </p:txBody>
      </p:sp>
      <p:sp>
        <p:nvSpPr>
          <p:cNvPr id="20" name="Text 18"/>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8891B8"/>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1" name="Text 19"/>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8891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MEASUREMENT</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What to instrument, and what good looks like</a:t>
            </a:r>
            <a:endParaRPr lang="en-US" sz="2900" dirty="0"/>
          </a:p>
        </p:txBody>
      </p:sp>
      <p:sp>
        <p:nvSpPr>
          <p:cNvPr id="4" name="Shape 2"/>
          <p:cNvSpPr/>
          <p:nvPr/>
        </p:nvSpPr>
        <p:spPr>
          <a:xfrm>
            <a:off x="566928" y="1517904"/>
            <a:ext cx="11064240" cy="932688"/>
          </a:xfrm>
          <a:prstGeom prst="roundRect">
            <a:avLst>
              <a:gd name="adj" fmla="val 7843"/>
            </a:avLst>
          </a:prstGeom>
          <a:solidFill>
            <a:srgbClr val="F5F7FC"/>
          </a:solidFill>
          <a:ln/>
        </p:spPr>
      </p:sp>
      <p:sp>
        <p:nvSpPr>
          <p:cNvPr id="5" name="Shape 3"/>
          <p:cNvSpPr/>
          <p:nvPr/>
        </p:nvSpPr>
        <p:spPr>
          <a:xfrm>
            <a:off x="841248" y="1810512"/>
            <a:ext cx="329184" cy="329184"/>
          </a:xfrm>
          <a:prstGeom prst="ellipse">
            <a:avLst/>
          </a:prstGeom>
          <a:solidFill>
            <a:srgbClr val="1E2761"/>
          </a:solidFill>
          <a:ln/>
        </p:spPr>
      </p:sp>
      <p:sp>
        <p:nvSpPr>
          <p:cNvPr id="6" name="Text 4"/>
          <p:cNvSpPr/>
          <p:nvPr/>
        </p:nvSpPr>
        <p:spPr>
          <a:xfrm>
            <a:off x="1335024" y="1664208"/>
            <a:ext cx="283464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Weekly active use</a:t>
            </a:r>
            <a:endParaRPr lang="en-US" sz="1250" dirty="0"/>
          </a:p>
        </p:txBody>
      </p:sp>
      <p:sp>
        <p:nvSpPr>
          <p:cNvPr id="7" name="Text 5"/>
          <p:cNvSpPr/>
          <p:nvPr/>
        </p:nvSpPr>
        <p:spPr>
          <a:xfrm>
            <a:off x="1335024" y="1975104"/>
            <a:ext cx="3017520" cy="310896"/>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≥40–50% of pilot cohort by day 90</a:t>
            </a:r>
            <a:endParaRPr lang="en-US" sz="1000" dirty="0"/>
          </a:p>
        </p:txBody>
      </p:sp>
      <p:sp>
        <p:nvSpPr>
          <p:cNvPr id="8" name="Text 6"/>
          <p:cNvSpPr/>
          <p:nvPr/>
        </p:nvSpPr>
        <p:spPr>
          <a:xfrm>
            <a:off x="4572000" y="1792224"/>
            <a:ext cx="6858000" cy="420624"/>
          </a:xfrm>
          <a:prstGeom prst="rect">
            <a:avLst/>
          </a:prstGeom>
          <a:noFill/>
          <a:ln/>
        </p:spPr>
        <p:txBody>
          <a:bodyPr wrap="square" lIns="0" tIns="0" rIns="0" bIns="0" rtlCol="0" anchor="ctr"/>
          <a:lstStyle/>
          <a:p>
            <a:pPr indent="0" marL="0">
              <a:buNone/>
            </a:pPr>
            <a:r>
              <a:rPr lang="en-US" sz="1050" dirty="0">
                <a:solidFill>
                  <a:srgbClr val="6B7396"/>
                </a:solidFill>
                <a:latin typeface="Calibri" pitchFamily="34" charset="0"/>
                <a:ea typeface="Calibri" pitchFamily="34" charset="-122"/>
                <a:cs typeface="Calibri" pitchFamily="34" charset="-120"/>
              </a:rPr>
              <a:t>Below ~30% is the Copilot plateau zone — a change-management failure, not a tool failure.</a:t>
            </a:r>
            <a:endParaRPr lang="en-US" sz="1050" dirty="0"/>
          </a:p>
        </p:txBody>
      </p:sp>
      <p:sp>
        <p:nvSpPr>
          <p:cNvPr id="9" name="Shape 7"/>
          <p:cNvSpPr/>
          <p:nvPr/>
        </p:nvSpPr>
        <p:spPr>
          <a:xfrm>
            <a:off x="566928" y="2523744"/>
            <a:ext cx="11064240" cy="932688"/>
          </a:xfrm>
          <a:prstGeom prst="roundRect">
            <a:avLst>
              <a:gd name="adj" fmla="val 7843"/>
            </a:avLst>
          </a:prstGeom>
          <a:solidFill>
            <a:srgbClr val="F5F7FC"/>
          </a:solidFill>
          <a:ln/>
        </p:spPr>
      </p:sp>
      <p:sp>
        <p:nvSpPr>
          <p:cNvPr id="10" name="Shape 8"/>
          <p:cNvSpPr/>
          <p:nvPr/>
        </p:nvSpPr>
        <p:spPr>
          <a:xfrm>
            <a:off x="841248" y="2816352"/>
            <a:ext cx="329184" cy="329184"/>
          </a:xfrm>
          <a:prstGeom prst="ellipse">
            <a:avLst/>
          </a:prstGeom>
          <a:solidFill>
            <a:srgbClr val="3A4680"/>
          </a:solidFill>
          <a:ln/>
        </p:spPr>
      </p:sp>
      <p:sp>
        <p:nvSpPr>
          <p:cNvPr id="11" name="Text 9"/>
          <p:cNvSpPr/>
          <p:nvPr/>
        </p:nvSpPr>
        <p:spPr>
          <a:xfrm>
            <a:off x="1335024" y="2670048"/>
            <a:ext cx="283464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Search-time reduction</a:t>
            </a:r>
            <a:endParaRPr lang="en-US" sz="1250" dirty="0"/>
          </a:p>
        </p:txBody>
      </p:sp>
      <p:sp>
        <p:nvSpPr>
          <p:cNvPr id="12" name="Text 10"/>
          <p:cNvSpPr/>
          <p:nvPr/>
        </p:nvSpPr>
        <p:spPr>
          <a:xfrm>
            <a:off x="1335024" y="2980944"/>
            <a:ext cx="3017520" cy="310896"/>
          </a:xfrm>
          <a:prstGeom prst="rect">
            <a:avLst/>
          </a:prstGeom>
          <a:noFill/>
          <a:ln/>
        </p:spPr>
        <p:txBody>
          <a:bodyPr wrap="square" lIns="0" tIns="0" rIns="0" bIns="0" rtlCol="0" anchor="ctr"/>
          <a:lstStyle/>
          <a:p>
            <a:pPr indent="0" marL="0">
              <a:buNone/>
            </a:pPr>
            <a:r>
              <a:rPr lang="en-US" sz="1000" b="1" dirty="0">
                <a:solidFill>
                  <a:srgbClr val="3A4680"/>
                </a:solidFill>
                <a:latin typeface="Calibri" pitchFamily="34" charset="0"/>
                <a:ea typeface="Calibri" pitchFamily="34" charset="-122"/>
                <a:cs typeface="Calibri" pitchFamily="34" charset="-120"/>
              </a:rPr>
              <a:t>Target the "one day per week" waste</a:t>
            </a:r>
            <a:endParaRPr lang="en-US" sz="1000" dirty="0"/>
          </a:p>
        </p:txBody>
      </p:sp>
      <p:sp>
        <p:nvSpPr>
          <p:cNvPr id="13" name="Text 11"/>
          <p:cNvSpPr/>
          <p:nvPr/>
        </p:nvSpPr>
        <p:spPr>
          <a:xfrm>
            <a:off x="4572000" y="2798064"/>
            <a:ext cx="6858000" cy="420624"/>
          </a:xfrm>
          <a:prstGeom prst="rect">
            <a:avLst/>
          </a:prstGeom>
          <a:noFill/>
          <a:ln/>
        </p:spPr>
        <p:txBody>
          <a:bodyPr wrap="square" lIns="0" tIns="0" rIns="0" bIns="0" rtlCol="0" anchor="ctr"/>
          <a:lstStyle/>
          <a:p>
            <a:pPr indent="0" marL="0">
              <a:buNone/>
            </a:pPr>
            <a:r>
              <a:rPr lang="en-US" sz="1050" dirty="0">
                <a:solidFill>
                  <a:srgbClr val="6B7396"/>
                </a:solidFill>
                <a:latin typeface="Calibri" pitchFamily="34" charset="0"/>
                <a:ea typeface="Calibri" pitchFamily="34" charset="-122"/>
                <a:cs typeface="Calibri" pitchFamily="34" charset="-120"/>
              </a:rPr>
              <a:t>Baseline before launch. McKinsey reports up to 30% time savings; Nestlé ~45 min/week.</a:t>
            </a:r>
            <a:endParaRPr lang="en-US" sz="1050" dirty="0"/>
          </a:p>
        </p:txBody>
      </p:sp>
      <p:sp>
        <p:nvSpPr>
          <p:cNvPr id="14" name="Shape 12"/>
          <p:cNvSpPr/>
          <p:nvPr/>
        </p:nvSpPr>
        <p:spPr>
          <a:xfrm>
            <a:off x="566928" y="3529584"/>
            <a:ext cx="11064240" cy="932688"/>
          </a:xfrm>
          <a:prstGeom prst="roundRect">
            <a:avLst>
              <a:gd name="adj" fmla="val 7843"/>
            </a:avLst>
          </a:prstGeom>
          <a:solidFill>
            <a:srgbClr val="F5F7FC"/>
          </a:solidFill>
          <a:ln/>
        </p:spPr>
      </p:sp>
      <p:sp>
        <p:nvSpPr>
          <p:cNvPr id="15" name="Shape 13"/>
          <p:cNvSpPr/>
          <p:nvPr/>
        </p:nvSpPr>
        <p:spPr>
          <a:xfrm>
            <a:off x="841248" y="3822192"/>
            <a:ext cx="329184" cy="329184"/>
          </a:xfrm>
          <a:prstGeom prst="ellipse">
            <a:avLst/>
          </a:prstGeom>
          <a:solidFill>
            <a:srgbClr val="4E5A99"/>
          </a:solidFill>
          <a:ln/>
        </p:spPr>
      </p:sp>
      <p:sp>
        <p:nvSpPr>
          <p:cNvPr id="16" name="Text 14"/>
          <p:cNvSpPr/>
          <p:nvPr/>
        </p:nvSpPr>
        <p:spPr>
          <a:xfrm>
            <a:off x="1335024" y="3675888"/>
            <a:ext cx="283464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Onboarding acceleration</a:t>
            </a:r>
            <a:endParaRPr lang="en-US" sz="1250" dirty="0"/>
          </a:p>
        </p:txBody>
      </p:sp>
      <p:sp>
        <p:nvSpPr>
          <p:cNvPr id="17" name="Text 15"/>
          <p:cNvSpPr/>
          <p:nvPr/>
        </p:nvSpPr>
        <p:spPr>
          <a:xfrm>
            <a:off x="1335024" y="3986784"/>
            <a:ext cx="3017520" cy="310896"/>
          </a:xfrm>
          <a:prstGeom prst="rect">
            <a:avLst/>
          </a:prstGeom>
          <a:noFill/>
          <a:ln/>
        </p:spPr>
        <p:txBody>
          <a:bodyPr wrap="square" lIns="0" tIns="0" rIns="0" bIns="0" rtlCol="0" anchor="ctr"/>
          <a:lstStyle/>
          <a:p>
            <a:pPr indent="0" marL="0">
              <a:buNone/>
            </a:pPr>
            <a:r>
              <a:rPr lang="en-US" sz="1000" b="1" dirty="0">
                <a:solidFill>
                  <a:srgbClr val="4E5A99"/>
                </a:solidFill>
                <a:latin typeface="Calibri" pitchFamily="34" charset="0"/>
                <a:ea typeface="Calibri" pitchFamily="34" charset="-122"/>
                <a:cs typeface="Calibri" pitchFamily="34" charset="-120"/>
              </a:rPr>
              <a:t>~35% reduction is the KM benchmark</a:t>
            </a:r>
            <a:endParaRPr lang="en-US" sz="1000" dirty="0"/>
          </a:p>
        </p:txBody>
      </p:sp>
      <p:sp>
        <p:nvSpPr>
          <p:cNvPr id="18" name="Text 16"/>
          <p:cNvSpPr/>
          <p:nvPr/>
        </p:nvSpPr>
        <p:spPr>
          <a:xfrm>
            <a:off x="4572000" y="3803904"/>
            <a:ext cx="6858000" cy="420624"/>
          </a:xfrm>
          <a:prstGeom prst="rect">
            <a:avLst/>
          </a:prstGeom>
          <a:noFill/>
          <a:ln/>
        </p:spPr>
        <p:txBody>
          <a:bodyPr wrap="square" lIns="0" tIns="0" rIns="0" bIns="0" rtlCol="0" anchor="ctr"/>
          <a:lstStyle/>
          <a:p>
            <a:pPr indent="0" marL="0">
              <a:buNone/>
            </a:pPr>
            <a:r>
              <a:rPr lang="en-US" sz="1050" dirty="0">
                <a:solidFill>
                  <a:srgbClr val="6B7396"/>
                </a:solidFill>
                <a:latin typeface="Calibri" pitchFamily="34" charset="0"/>
                <a:ea typeface="Calibri" pitchFamily="34" charset="-122"/>
                <a:cs typeface="Calibri" pitchFamily="34" charset="-120"/>
              </a:rPr>
              <a:t>Directional only — APQC and vendor benchmarks, not e.l.f.-specific. Measure your own baseline.</a:t>
            </a:r>
            <a:endParaRPr lang="en-US" sz="1050" dirty="0"/>
          </a:p>
        </p:txBody>
      </p:sp>
      <p:sp>
        <p:nvSpPr>
          <p:cNvPr id="19" name="Shape 17"/>
          <p:cNvSpPr/>
          <p:nvPr/>
        </p:nvSpPr>
        <p:spPr>
          <a:xfrm>
            <a:off x="566928" y="4535424"/>
            <a:ext cx="11064240" cy="932688"/>
          </a:xfrm>
          <a:prstGeom prst="roundRect">
            <a:avLst>
              <a:gd name="adj" fmla="val 7843"/>
            </a:avLst>
          </a:prstGeom>
          <a:solidFill>
            <a:srgbClr val="F5F7FC"/>
          </a:solidFill>
          <a:ln/>
        </p:spPr>
      </p:sp>
      <p:sp>
        <p:nvSpPr>
          <p:cNvPr id="20" name="Shape 18"/>
          <p:cNvSpPr/>
          <p:nvPr/>
        </p:nvSpPr>
        <p:spPr>
          <a:xfrm>
            <a:off x="841248" y="4828032"/>
            <a:ext cx="329184" cy="329184"/>
          </a:xfrm>
          <a:prstGeom prst="ellipse">
            <a:avLst/>
          </a:prstGeom>
          <a:solidFill>
            <a:srgbClr val="6E78B2"/>
          </a:solidFill>
          <a:ln/>
        </p:spPr>
      </p:sp>
      <p:sp>
        <p:nvSpPr>
          <p:cNvPr id="21" name="Text 19"/>
          <p:cNvSpPr/>
          <p:nvPr/>
        </p:nvSpPr>
        <p:spPr>
          <a:xfrm>
            <a:off x="1335024" y="4681728"/>
            <a:ext cx="2834640" cy="292608"/>
          </a:xfrm>
          <a:prstGeom prst="rect">
            <a:avLst/>
          </a:prstGeom>
          <a:noFill/>
          <a:ln/>
        </p:spPr>
        <p:txBody>
          <a:bodyPr wrap="square" lIns="0" tIns="0" rIns="0" bIns="0" rtlCol="0" anchor="ctr"/>
          <a:lstStyle/>
          <a:p>
            <a:pPr indent="0" marL="0">
              <a:buNone/>
            </a:pPr>
            <a:r>
              <a:rPr lang="en-US" sz="1250" b="1" dirty="0">
                <a:solidFill>
                  <a:srgbClr val="1A1F35"/>
                </a:solidFill>
                <a:latin typeface="Calibri" pitchFamily="34" charset="0"/>
                <a:ea typeface="Calibri" pitchFamily="34" charset="-122"/>
                <a:cs typeface="Calibri" pitchFamily="34" charset="-120"/>
              </a:rPr>
              <a:t>Decision retrievability</a:t>
            </a:r>
            <a:endParaRPr lang="en-US" sz="1250" dirty="0"/>
          </a:p>
        </p:txBody>
      </p:sp>
      <p:sp>
        <p:nvSpPr>
          <p:cNvPr id="22" name="Text 20"/>
          <p:cNvSpPr/>
          <p:nvPr/>
        </p:nvSpPr>
        <p:spPr>
          <a:xfrm>
            <a:off x="1335024" y="4992624"/>
            <a:ext cx="3017520" cy="310896"/>
          </a:xfrm>
          <a:prstGeom prst="rect">
            <a:avLst/>
          </a:prstGeom>
          <a:noFill/>
          <a:ln/>
        </p:spPr>
        <p:txBody>
          <a:bodyPr wrap="square" lIns="0" tIns="0" rIns="0" bIns="0" rtlCol="0" anchor="ctr"/>
          <a:lstStyle/>
          <a:p>
            <a:pPr indent="0" marL="0">
              <a:buNone/>
            </a:pPr>
            <a:r>
              <a:rPr lang="en-US" sz="1000" b="1" dirty="0">
                <a:solidFill>
                  <a:srgbClr val="6E78B2"/>
                </a:solidFill>
                <a:latin typeface="Calibri" pitchFamily="34" charset="0"/>
                <a:ea typeface="Calibri" pitchFamily="34" charset="-122"/>
                <a:cs typeface="Calibri" pitchFamily="34" charset="-120"/>
              </a:rPr>
              <a:t>Qualitative, but the real prize</a:t>
            </a:r>
            <a:endParaRPr lang="en-US" sz="1000" dirty="0"/>
          </a:p>
        </p:txBody>
      </p:sp>
      <p:sp>
        <p:nvSpPr>
          <p:cNvPr id="23" name="Text 21"/>
          <p:cNvSpPr/>
          <p:nvPr/>
        </p:nvSpPr>
        <p:spPr>
          <a:xfrm>
            <a:off x="4572000" y="4809744"/>
            <a:ext cx="6858000" cy="420624"/>
          </a:xfrm>
          <a:prstGeom prst="rect">
            <a:avLst/>
          </a:prstGeom>
          <a:noFill/>
          <a:ln/>
        </p:spPr>
        <p:txBody>
          <a:bodyPr wrap="square" lIns="0" tIns="0" rIns="0" bIns="0" rtlCol="0" anchor="ctr"/>
          <a:lstStyle/>
          <a:p>
            <a:pPr indent="0" marL="0">
              <a:buNone/>
            </a:pPr>
            <a:r>
              <a:rPr lang="en-US" sz="1050" dirty="0">
                <a:solidFill>
                  <a:srgbClr val="6B7396"/>
                </a:solidFill>
                <a:latin typeface="Calibri" pitchFamily="34" charset="0"/>
                <a:ea typeface="Calibri" pitchFamily="34" charset="-122"/>
                <a:cs typeface="Calibri" pitchFamily="34" charset="-120"/>
              </a:rPr>
              <a:t>Can a new hire find why a Rhode launch decision was made, and by whom? This is the differentiated outcome.</a:t>
            </a:r>
            <a:endParaRPr lang="en-US" sz="1050" dirty="0"/>
          </a:p>
        </p:txBody>
      </p:sp>
      <p:sp>
        <p:nvSpPr>
          <p:cNvPr id="24" name="Shape 22"/>
          <p:cNvSpPr/>
          <p:nvPr/>
        </p:nvSpPr>
        <p:spPr>
          <a:xfrm>
            <a:off x="566928" y="5577840"/>
            <a:ext cx="11064240" cy="658368"/>
          </a:xfrm>
          <a:prstGeom prst="roundRect">
            <a:avLst>
              <a:gd name="adj" fmla="val 11111"/>
            </a:avLst>
          </a:prstGeom>
          <a:solidFill>
            <a:srgbClr val="1E2761"/>
          </a:solidFill>
          <a:ln/>
        </p:spPr>
      </p:sp>
      <p:sp>
        <p:nvSpPr>
          <p:cNvPr id="25" name="Text 23"/>
          <p:cNvSpPr/>
          <p:nvPr/>
        </p:nvSpPr>
        <p:spPr>
          <a:xfrm>
            <a:off x="841248" y="5724144"/>
            <a:ext cx="914400" cy="274320"/>
          </a:xfrm>
          <a:prstGeom prst="rect">
            <a:avLst/>
          </a:prstGeom>
          <a:noFill/>
          <a:ln/>
        </p:spPr>
        <p:txBody>
          <a:bodyPr wrap="square" lIns="0" tIns="0" rIns="0" bIns="0" rtlCol="0" anchor="ctr"/>
          <a:lstStyle/>
          <a:p>
            <a:pPr indent="0" marL="0">
              <a:buNone/>
            </a:pPr>
            <a:r>
              <a:rPr lang="en-US" sz="1150" b="1" dirty="0">
                <a:solidFill>
                  <a:srgbClr val="D08C34"/>
                </a:solidFill>
                <a:latin typeface="Calibri" pitchFamily="34" charset="0"/>
                <a:ea typeface="Calibri" pitchFamily="34" charset="-122"/>
                <a:cs typeface="Calibri" pitchFamily="34" charset="-120"/>
              </a:rPr>
              <a:t>Caution:</a:t>
            </a:r>
            <a:endParaRPr lang="en-US" sz="1150" dirty="0"/>
          </a:p>
        </p:txBody>
      </p:sp>
      <p:sp>
        <p:nvSpPr>
          <p:cNvPr id="26" name="Text 24"/>
          <p:cNvSpPr/>
          <p:nvPr/>
        </p:nvSpPr>
        <p:spPr>
          <a:xfrm>
            <a:off x="1755648" y="5705856"/>
            <a:ext cx="9692640" cy="4023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Most published productivity figures are vendor-supplied or self-reported — Microsoft's 116% ROI comes from a Forrester study it commissioned. Treat all of them as directional and measure your own baseline.</a:t>
            </a:r>
            <a:endParaRPr lang="en-US" sz="1050" dirty="0"/>
          </a:p>
        </p:txBody>
      </p:sp>
      <p:sp>
        <p:nvSpPr>
          <p:cNvPr id="27" name="Text 25"/>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8" name="Text 26"/>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1E2761"/>
                </a:solidFill>
                <a:latin typeface="Calibri" pitchFamily="34" charset="0"/>
                <a:ea typeface="Calibri" pitchFamily="34" charset="-122"/>
                <a:cs typeface="Calibri" pitchFamily="34" charset="-120"/>
              </a:rPr>
              <a:t>RISK REGISTER</a:t>
            </a:r>
            <a:endParaRPr lang="en-US" sz="1150" dirty="0"/>
          </a:p>
        </p:txBody>
      </p:sp>
      <p:sp>
        <p:nvSpPr>
          <p:cNvPr id="3" name="Text 1"/>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1A1F35"/>
                </a:solidFill>
                <a:latin typeface="Cambria" pitchFamily="34" charset="0"/>
                <a:ea typeface="Cambria" pitchFamily="34" charset="-122"/>
                <a:cs typeface="Cambria" pitchFamily="34" charset="-120"/>
              </a:rPr>
              <a:t>What would sink this, and the mitigation</a:t>
            </a:r>
            <a:endParaRPr lang="en-US" sz="2900" dirty="0"/>
          </a:p>
        </p:txBody>
      </p:sp>
      <p:sp>
        <p:nvSpPr>
          <p:cNvPr id="4" name="Shape 2"/>
          <p:cNvSpPr/>
          <p:nvPr/>
        </p:nvSpPr>
        <p:spPr>
          <a:xfrm>
            <a:off x="566928" y="1517904"/>
            <a:ext cx="11064240" cy="859536"/>
          </a:xfrm>
          <a:prstGeom prst="roundRect">
            <a:avLst>
              <a:gd name="adj" fmla="val 8511"/>
            </a:avLst>
          </a:prstGeom>
          <a:solidFill>
            <a:srgbClr val="F5F7FC"/>
          </a:solidFill>
          <a:ln/>
        </p:spPr>
      </p:sp>
      <p:sp>
        <p:nvSpPr>
          <p:cNvPr id="5" name="Shape 3"/>
          <p:cNvSpPr/>
          <p:nvPr/>
        </p:nvSpPr>
        <p:spPr>
          <a:xfrm>
            <a:off x="822960" y="1783080"/>
            <a:ext cx="329184" cy="329184"/>
          </a:xfrm>
          <a:prstGeom prst="ellipse">
            <a:avLst/>
          </a:prstGeom>
          <a:solidFill>
            <a:srgbClr val="9E2A2B"/>
          </a:solidFill>
          <a:ln/>
        </p:spPr>
      </p:sp>
      <p:sp>
        <p:nvSpPr>
          <p:cNvPr id="6" name="Text 4"/>
          <p:cNvSpPr/>
          <p:nvPr/>
        </p:nvSpPr>
        <p:spPr>
          <a:xfrm>
            <a:off x="1316736" y="1645920"/>
            <a:ext cx="2377440" cy="274320"/>
          </a:xfrm>
          <a:prstGeom prst="rect">
            <a:avLst/>
          </a:prstGeom>
          <a:noFill/>
          <a:ln/>
        </p:spPr>
        <p:txBody>
          <a:bodyPr wrap="square" lIns="0" tIns="0" rIns="0" bIns="0" rtlCol="0" anchor="ctr"/>
          <a:lstStyle/>
          <a:p>
            <a:pPr indent="0" marL="0">
              <a:buNone/>
            </a:pPr>
            <a:r>
              <a:rPr lang="en-US" sz="1200" b="1" dirty="0">
                <a:solidFill>
                  <a:srgbClr val="1A1F35"/>
                </a:solidFill>
                <a:latin typeface="Calibri" pitchFamily="34" charset="0"/>
                <a:ea typeface="Calibri" pitchFamily="34" charset="-122"/>
                <a:cs typeface="Calibri" pitchFamily="34" charset="-120"/>
              </a:rPr>
              <a:t>Permission leakage</a:t>
            </a:r>
            <a:endParaRPr lang="en-US" sz="1200" dirty="0"/>
          </a:p>
        </p:txBody>
      </p:sp>
      <p:sp>
        <p:nvSpPr>
          <p:cNvPr id="7" name="Text 5"/>
          <p:cNvSpPr/>
          <p:nvPr/>
        </p:nvSpPr>
        <p:spPr>
          <a:xfrm>
            <a:off x="1316736" y="1938528"/>
            <a:ext cx="5120640" cy="365760"/>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AI search amplifies legacy oversharing. A single misconfigured HR folder becomes company-searchable.</a:t>
            </a:r>
            <a:endParaRPr lang="en-US" sz="950" dirty="0"/>
          </a:p>
        </p:txBody>
      </p:sp>
      <p:sp>
        <p:nvSpPr>
          <p:cNvPr id="8" name="Shape 6"/>
          <p:cNvSpPr/>
          <p:nvPr/>
        </p:nvSpPr>
        <p:spPr>
          <a:xfrm>
            <a:off x="6629400" y="1645920"/>
            <a:ext cx="4800600" cy="603504"/>
          </a:xfrm>
          <a:prstGeom prst="roundRect">
            <a:avLst>
              <a:gd name="adj" fmla="val 12121"/>
            </a:avLst>
          </a:prstGeom>
          <a:solidFill>
            <a:srgbClr val="FFFFFF"/>
          </a:solidFill>
          <a:ln w="12700">
            <a:solidFill>
              <a:srgbClr val="D9E0F2"/>
            </a:solidFill>
            <a:prstDash val="solid"/>
          </a:ln>
        </p:spPr>
      </p:sp>
      <p:sp>
        <p:nvSpPr>
          <p:cNvPr id="9" name="Text 7"/>
          <p:cNvSpPr/>
          <p:nvPr/>
        </p:nvSpPr>
        <p:spPr>
          <a:xfrm>
            <a:off x="6812280" y="1737360"/>
            <a:ext cx="4480560"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Access-audit and remediation sprint BEFORE any connector goes live. Inherit ACLs at retrieval time.</a:t>
            </a:r>
            <a:endParaRPr lang="en-US" sz="950" dirty="0"/>
          </a:p>
        </p:txBody>
      </p:sp>
      <p:sp>
        <p:nvSpPr>
          <p:cNvPr id="10" name="Shape 8"/>
          <p:cNvSpPr/>
          <p:nvPr/>
        </p:nvSpPr>
        <p:spPr>
          <a:xfrm>
            <a:off x="566928" y="2450592"/>
            <a:ext cx="11064240" cy="859536"/>
          </a:xfrm>
          <a:prstGeom prst="roundRect">
            <a:avLst>
              <a:gd name="adj" fmla="val 8511"/>
            </a:avLst>
          </a:prstGeom>
          <a:solidFill>
            <a:srgbClr val="F5F7FC"/>
          </a:solidFill>
          <a:ln/>
        </p:spPr>
      </p:sp>
      <p:sp>
        <p:nvSpPr>
          <p:cNvPr id="11" name="Shape 9"/>
          <p:cNvSpPr/>
          <p:nvPr/>
        </p:nvSpPr>
        <p:spPr>
          <a:xfrm>
            <a:off x="822960" y="2715768"/>
            <a:ext cx="329184" cy="329184"/>
          </a:xfrm>
          <a:prstGeom prst="ellipse">
            <a:avLst/>
          </a:prstGeom>
          <a:solidFill>
            <a:srgbClr val="B5651D"/>
          </a:solidFill>
          <a:ln/>
        </p:spPr>
      </p:sp>
      <p:sp>
        <p:nvSpPr>
          <p:cNvPr id="12" name="Text 10"/>
          <p:cNvSpPr/>
          <p:nvPr/>
        </p:nvSpPr>
        <p:spPr>
          <a:xfrm>
            <a:off x="1316736" y="2578608"/>
            <a:ext cx="2377440" cy="274320"/>
          </a:xfrm>
          <a:prstGeom prst="rect">
            <a:avLst/>
          </a:prstGeom>
          <a:noFill/>
          <a:ln/>
        </p:spPr>
        <p:txBody>
          <a:bodyPr wrap="square" lIns="0" tIns="0" rIns="0" bIns="0" rtlCol="0" anchor="ctr"/>
          <a:lstStyle/>
          <a:p>
            <a:pPr indent="0" marL="0">
              <a:buNone/>
            </a:pPr>
            <a:r>
              <a:rPr lang="en-US" sz="1200" b="1" dirty="0">
                <a:solidFill>
                  <a:srgbClr val="1A1F35"/>
                </a:solidFill>
                <a:latin typeface="Calibri" pitchFamily="34" charset="0"/>
                <a:ea typeface="Calibri" pitchFamily="34" charset="-122"/>
                <a:cs typeface="Calibri" pitchFamily="34" charset="-120"/>
              </a:rPr>
              <a:t>Adoption stall</a:t>
            </a:r>
            <a:endParaRPr lang="en-US" sz="1200" dirty="0"/>
          </a:p>
        </p:txBody>
      </p:sp>
      <p:sp>
        <p:nvSpPr>
          <p:cNvPr id="13" name="Text 11"/>
          <p:cNvSpPr/>
          <p:nvPr/>
        </p:nvSpPr>
        <p:spPr>
          <a:xfrm>
            <a:off x="1316736" y="2871216"/>
            <a:ext cx="5120640" cy="365760"/>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Tool ships, usage plateaus at 20–30%, budget gets pulled at renewal.</a:t>
            </a:r>
            <a:endParaRPr lang="en-US" sz="950" dirty="0"/>
          </a:p>
        </p:txBody>
      </p:sp>
      <p:sp>
        <p:nvSpPr>
          <p:cNvPr id="14" name="Shape 12"/>
          <p:cNvSpPr/>
          <p:nvPr/>
        </p:nvSpPr>
        <p:spPr>
          <a:xfrm>
            <a:off x="6629400" y="2578608"/>
            <a:ext cx="4800600" cy="603504"/>
          </a:xfrm>
          <a:prstGeom prst="roundRect">
            <a:avLst>
              <a:gd name="adj" fmla="val 12121"/>
            </a:avLst>
          </a:prstGeom>
          <a:solidFill>
            <a:srgbClr val="FFFFFF"/>
          </a:solidFill>
          <a:ln w="12700">
            <a:solidFill>
              <a:srgbClr val="D9E0F2"/>
            </a:solidFill>
            <a:prstDash val="solid"/>
          </a:ln>
        </p:spPr>
      </p:sp>
      <p:sp>
        <p:nvSpPr>
          <p:cNvPr id="15" name="Text 13"/>
          <p:cNvSpPr/>
          <p:nvPr/>
        </p:nvSpPr>
        <p:spPr>
          <a:xfrm>
            <a:off x="6812280" y="2670048"/>
            <a:ext cx="4480560"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Champion network, leadership role-modelling, embedded training. Treat adoption as the project.</a:t>
            </a:r>
            <a:endParaRPr lang="en-US" sz="950" dirty="0"/>
          </a:p>
        </p:txBody>
      </p:sp>
      <p:sp>
        <p:nvSpPr>
          <p:cNvPr id="16" name="Shape 14"/>
          <p:cNvSpPr/>
          <p:nvPr/>
        </p:nvSpPr>
        <p:spPr>
          <a:xfrm>
            <a:off x="566928" y="3383280"/>
            <a:ext cx="11064240" cy="859536"/>
          </a:xfrm>
          <a:prstGeom prst="roundRect">
            <a:avLst>
              <a:gd name="adj" fmla="val 8511"/>
            </a:avLst>
          </a:prstGeom>
          <a:solidFill>
            <a:srgbClr val="F5F7FC"/>
          </a:solidFill>
          <a:ln/>
        </p:spPr>
      </p:sp>
      <p:sp>
        <p:nvSpPr>
          <p:cNvPr id="17" name="Shape 15"/>
          <p:cNvSpPr/>
          <p:nvPr/>
        </p:nvSpPr>
        <p:spPr>
          <a:xfrm>
            <a:off x="822960" y="3648456"/>
            <a:ext cx="329184" cy="329184"/>
          </a:xfrm>
          <a:prstGeom prst="ellipse">
            <a:avLst/>
          </a:prstGeom>
          <a:solidFill>
            <a:srgbClr val="8A6D1F"/>
          </a:solidFill>
          <a:ln/>
        </p:spPr>
      </p:sp>
      <p:sp>
        <p:nvSpPr>
          <p:cNvPr id="18" name="Text 16"/>
          <p:cNvSpPr/>
          <p:nvPr/>
        </p:nvSpPr>
        <p:spPr>
          <a:xfrm>
            <a:off x="1316736" y="3511296"/>
            <a:ext cx="2377440" cy="274320"/>
          </a:xfrm>
          <a:prstGeom prst="rect">
            <a:avLst/>
          </a:prstGeom>
          <a:noFill/>
          <a:ln/>
        </p:spPr>
        <p:txBody>
          <a:bodyPr wrap="square" lIns="0" tIns="0" rIns="0" bIns="0" rtlCol="0" anchor="ctr"/>
          <a:lstStyle/>
          <a:p>
            <a:pPr indent="0" marL="0">
              <a:buNone/>
            </a:pPr>
            <a:r>
              <a:rPr lang="en-US" sz="1200" b="1" dirty="0">
                <a:solidFill>
                  <a:srgbClr val="1A1F35"/>
                </a:solidFill>
                <a:latin typeface="Calibri" pitchFamily="34" charset="0"/>
                <a:ea typeface="Calibri" pitchFamily="34" charset="-122"/>
                <a:cs typeface="Calibri" pitchFamily="34" charset="-120"/>
              </a:rPr>
              <a:t>Stale content decay</a:t>
            </a:r>
            <a:endParaRPr lang="en-US" sz="1200" dirty="0"/>
          </a:p>
        </p:txBody>
      </p:sp>
      <p:sp>
        <p:nvSpPr>
          <p:cNvPr id="19" name="Text 17"/>
          <p:cNvSpPr/>
          <p:nvPr/>
        </p:nvSpPr>
        <p:spPr>
          <a:xfrm>
            <a:off x="1316736" y="3803904"/>
            <a:ext cx="5120640" cy="365760"/>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The classic KM failure — the index fills with outdated documents and trust collapses.</a:t>
            </a:r>
            <a:endParaRPr lang="en-US" sz="950" dirty="0"/>
          </a:p>
        </p:txBody>
      </p:sp>
      <p:sp>
        <p:nvSpPr>
          <p:cNvPr id="20" name="Shape 18"/>
          <p:cNvSpPr/>
          <p:nvPr/>
        </p:nvSpPr>
        <p:spPr>
          <a:xfrm>
            <a:off x="6629400" y="3511296"/>
            <a:ext cx="4800600" cy="603504"/>
          </a:xfrm>
          <a:prstGeom prst="roundRect">
            <a:avLst>
              <a:gd name="adj" fmla="val 12121"/>
            </a:avLst>
          </a:prstGeom>
          <a:solidFill>
            <a:srgbClr val="FFFFFF"/>
          </a:solidFill>
          <a:ln w="12700">
            <a:solidFill>
              <a:srgbClr val="D9E0F2"/>
            </a:solidFill>
            <a:prstDash val="solid"/>
          </a:ln>
        </p:spPr>
      </p:sp>
      <p:sp>
        <p:nvSpPr>
          <p:cNvPr id="21" name="Text 19"/>
          <p:cNvSpPr/>
          <p:nvPr/>
        </p:nvSpPr>
        <p:spPr>
          <a:xfrm>
            <a:off x="6812280" y="3602736"/>
            <a:ext cx="4480560"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Content owners, freshness flagging, retention policy. Guru's "governed knowledge layer" pattern.</a:t>
            </a:r>
            <a:endParaRPr lang="en-US" sz="950" dirty="0"/>
          </a:p>
        </p:txBody>
      </p:sp>
      <p:sp>
        <p:nvSpPr>
          <p:cNvPr id="22" name="Shape 20"/>
          <p:cNvSpPr/>
          <p:nvPr/>
        </p:nvSpPr>
        <p:spPr>
          <a:xfrm>
            <a:off x="566928" y="4315968"/>
            <a:ext cx="11064240" cy="859536"/>
          </a:xfrm>
          <a:prstGeom prst="roundRect">
            <a:avLst>
              <a:gd name="adj" fmla="val 8511"/>
            </a:avLst>
          </a:prstGeom>
          <a:solidFill>
            <a:srgbClr val="F5F7FC"/>
          </a:solidFill>
          <a:ln/>
        </p:spPr>
      </p:sp>
      <p:sp>
        <p:nvSpPr>
          <p:cNvPr id="23" name="Shape 21"/>
          <p:cNvSpPr/>
          <p:nvPr/>
        </p:nvSpPr>
        <p:spPr>
          <a:xfrm>
            <a:off x="822960" y="4581144"/>
            <a:ext cx="329184" cy="329184"/>
          </a:xfrm>
          <a:prstGeom prst="ellipse">
            <a:avLst/>
          </a:prstGeom>
          <a:solidFill>
            <a:srgbClr val="2C5F2D"/>
          </a:solidFill>
          <a:ln/>
        </p:spPr>
      </p:sp>
      <p:sp>
        <p:nvSpPr>
          <p:cNvPr id="24" name="Text 22"/>
          <p:cNvSpPr/>
          <p:nvPr/>
        </p:nvSpPr>
        <p:spPr>
          <a:xfrm>
            <a:off x="1316736" y="4443984"/>
            <a:ext cx="2377440" cy="274320"/>
          </a:xfrm>
          <a:prstGeom prst="rect">
            <a:avLst/>
          </a:prstGeom>
          <a:noFill/>
          <a:ln/>
        </p:spPr>
        <p:txBody>
          <a:bodyPr wrap="square" lIns="0" tIns="0" rIns="0" bIns="0" rtlCol="0" anchor="ctr"/>
          <a:lstStyle/>
          <a:p>
            <a:pPr indent="0" marL="0">
              <a:buNone/>
            </a:pPr>
            <a:r>
              <a:rPr lang="en-US" sz="1200" b="1" dirty="0">
                <a:solidFill>
                  <a:srgbClr val="1A1F35"/>
                </a:solidFill>
                <a:latin typeface="Calibri" pitchFamily="34" charset="0"/>
                <a:ea typeface="Calibri" pitchFamily="34" charset="-122"/>
                <a:cs typeface="Calibri" pitchFamily="34" charset="-120"/>
              </a:rPr>
              <a:t>Scope creep</a:t>
            </a:r>
            <a:endParaRPr lang="en-US" sz="1200" dirty="0"/>
          </a:p>
        </p:txBody>
      </p:sp>
      <p:sp>
        <p:nvSpPr>
          <p:cNvPr id="25" name="Text 23"/>
          <p:cNvSpPr/>
          <p:nvPr/>
        </p:nvSpPr>
        <p:spPr>
          <a:xfrm>
            <a:off x="1316736" y="4736592"/>
            <a:ext cx="5120640" cy="365760"/>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"Index everything" is the single strongest predictor of landing in the 95%.</a:t>
            </a:r>
            <a:endParaRPr lang="en-US" sz="950" dirty="0"/>
          </a:p>
        </p:txBody>
      </p:sp>
      <p:sp>
        <p:nvSpPr>
          <p:cNvPr id="26" name="Shape 24"/>
          <p:cNvSpPr/>
          <p:nvPr/>
        </p:nvSpPr>
        <p:spPr>
          <a:xfrm>
            <a:off x="6629400" y="4443984"/>
            <a:ext cx="4800600" cy="603504"/>
          </a:xfrm>
          <a:prstGeom prst="roundRect">
            <a:avLst>
              <a:gd name="adj" fmla="val 12121"/>
            </a:avLst>
          </a:prstGeom>
          <a:solidFill>
            <a:srgbClr val="FFFFFF"/>
          </a:solidFill>
          <a:ln w="12700">
            <a:solidFill>
              <a:srgbClr val="D9E0F2"/>
            </a:solidFill>
            <a:prstDash val="solid"/>
          </a:ln>
        </p:spPr>
      </p:sp>
      <p:sp>
        <p:nvSpPr>
          <p:cNvPr id="27" name="Text 25"/>
          <p:cNvSpPr/>
          <p:nvPr/>
        </p:nvSpPr>
        <p:spPr>
          <a:xfrm>
            <a:off x="6812280" y="4535424"/>
            <a:ext cx="4480560"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One domain first. Expand only after the pilot clears its benchmarks.</a:t>
            </a:r>
            <a:endParaRPr lang="en-US" sz="950" dirty="0"/>
          </a:p>
        </p:txBody>
      </p:sp>
      <p:sp>
        <p:nvSpPr>
          <p:cNvPr id="28" name="Shape 26"/>
          <p:cNvSpPr/>
          <p:nvPr/>
        </p:nvSpPr>
        <p:spPr>
          <a:xfrm>
            <a:off x="566928" y="5248656"/>
            <a:ext cx="11064240" cy="859536"/>
          </a:xfrm>
          <a:prstGeom prst="roundRect">
            <a:avLst>
              <a:gd name="adj" fmla="val 8511"/>
            </a:avLst>
          </a:prstGeom>
          <a:solidFill>
            <a:srgbClr val="F5F7FC"/>
          </a:solidFill>
          <a:ln/>
        </p:spPr>
      </p:sp>
      <p:sp>
        <p:nvSpPr>
          <p:cNvPr id="29" name="Shape 27"/>
          <p:cNvSpPr/>
          <p:nvPr/>
        </p:nvSpPr>
        <p:spPr>
          <a:xfrm>
            <a:off x="822960" y="5513832"/>
            <a:ext cx="329184" cy="329184"/>
          </a:xfrm>
          <a:prstGeom prst="ellipse">
            <a:avLst/>
          </a:prstGeom>
          <a:solidFill>
            <a:srgbClr val="1E2761"/>
          </a:solidFill>
          <a:ln/>
        </p:spPr>
      </p:sp>
      <p:sp>
        <p:nvSpPr>
          <p:cNvPr id="30" name="Text 28"/>
          <p:cNvSpPr/>
          <p:nvPr/>
        </p:nvSpPr>
        <p:spPr>
          <a:xfrm>
            <a:off x="1316736" y="5376672"/>
            <a:ext cx="2377440" cy="274320"/>
          </a:xfrm>
          <a:prstGeom prst="rect">
            <a:avLst/>
          </a:prstGeom>
          <a:noFill/>
          <a:ln/>
        </p:spPr>
        <p:txBody>
          <a:bodyPr wrap="square" lIns="0" tIns="0" rIns="0" bIns="0" rtlCol="0" anchor="ctr"/>
          <a:lstStyle/>
          <a:p>
            <a:pPr indent="0" marL="0">
              <a:buNone/>
            </a:pPr>
            <a:r>
              <a:rPr lang="en-US" sz="1200" b="1" dirty="0">
                <a:solidFill>
                  <a:srgbClr val="1A1F35"/>
                </a:solidFill>
                <a:latin typeface="Calibri" pitchFamily="34" charset="0"/>
                <a:ea typeface="Calibri" pitchFamily="34" charset="-122"/>
                <a:cs typeface="Calibri" pitchFamily="34" charset="-120"/>
              </a:rPr>
              <a:t>Vendor lock-in</a:t>
            </a:r>
            <a:endParaRPr lang="en-US" sz="1200" dirty="0"/>
          </a:p>
        </p:txBody>
      </p:sp>
      <p:sp>
        <p:nvSpPr>
          <p:cNvPr id="31" name="Text 29"/>
          <p:cNvSpPr/>
          <p:nvPr/>
        </p:nvSpPr>
        <p:spPr>
          <a:xfrm>
            <a:off x="1316736" y="5669280"/>
            <a:ext cx="5120640" cy="365760"/>
          </a:xfrm>
          <a:prstGeom prst="rect">
            <a:avLst/>
          </a:prstGeom>
          <a:noFill/>
          <a:ln/>
        </p:spPr>
        <p:txBody>
          <a:bodyPr wrap="square" lIns="0" tIns="0" rIns="0" bIns="0" rtlCol="0" anchor="ctr"/>
          <a:lstStyle/>
          <a:p>
            <a:pPr indent="0" marL="0">
              <a:buNone/>
            </a:pPr>
            <a:r>
              <a:rPr lang="en-US" sz="950" dirty="0">
                <a:solidFill>
                  <a:srgbClr val="6B7396"/>
                </a:solidFill>
                <a:latin typeface="Calibri" pitchFamily="34" charset="0"/>
                <a:ea typeface="Calibri" pitchFamily="34" charset="-122"/>
                <a:cs typeface="Calibri" pitchFamily="34" charset="-120"/>
              </a:rPr>
              <a:t>Connector and index rebuild costs make switching expensive later.</a:t>
            </a:r>
            <a:endParaRPr lang="en-US" sz="950" dirty="0"/>
          </a:p>
        </p:txBody>
      </p:sp>
      <p:sp>
        <p:nvSpPr>
          <p:cNvPr id="32" name="Shape 30"/>
          <p:cNvSpPr/>
          <p:nvPr/>
        </p:nvSpPr>
        <p:spPr>
          <a:xfrm>
            <a:off x="6629400" y="5376672"/>
            <a:ext cx="4800600" cy="603504"/>
          </a:xfrm>
          <a:prstGeom prst="roundRect">
            <a:avLst>
              <a:gd name="adj" fmla="val 12121"/>
            </a:avLst>
          </a:prstGeom>
          <a:solidFill>
            <a:srgbClr val="FFFFFF"/>
          </a:solidFill>
          <a:ln w="12700">
            <a:solidFill>
              <a:srgbClr val="D9E0F2"/>
            </a:solidFill>
            <a:prstDash val="solid"/>
          </a:ln>
        </p:spPr>
      </p:sp>
      <p:sp>
        <p:nvSpPr>
          <p:cNvPr id="33" name="Text 31"/>
          <p:cNvSpPr/>
          <p:nvPr/>
        </p:nvSpPr>
        <p:spPr>
          <a:xfrm>
            <a:off x="6812280" y="5468112"/>
            <a:ext cx="4480560" cy="438912"/>
          </a:xfrm>
          <a:prstGeom prst="rect">
            <a:avLst/>
          </a:prstGeom>
          <a:noFill/>
          <a:ln/>
        </p:spPr>
        <p:txBody>
          <a:bodyPr wrap="square" lIns="0" tIns="0" rIns="0" bIns="0" rtlCol="0" anchor="ctr"/>
          <a:lstStyle/>
          <a:p>
            <a:pPr indent="0" marL="0">
              <a:buNone/>
            </a:pPr>
            <a:r>
              <a:rPr lang="en-US" sz="950" dirty="0">
                <a:solidFill>
                  <a:srgbClr val="1A1F35"/>
                </a:solidFill>
                <a:latin typeface="Calibri" pitchFamily="34" charset="0"/>
                <a:ea typeface="Calibri" pitchFamily="34" charset="-122"/>
                <a:cs typeface="Calibri" pitchFamily="34" charset="-120"/>
              </a:rPr>
              <a:t>Follow JPMorgan's model-agnostic principle. Favour MCP-standard connectors.</a:t>
            </a:r>
            <a:endParaRPr lang="en-US" sz="950" dirty="0"/>
          </a:p>
        </p:txBody>
      </p:sp>
      <p:sp>
        <p:nvSpPr>
          <p:cNvPr id="34" name="Text 32"/>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6B7396"/>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35" name="Text 33"/>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6B739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3749040"/>
            <a:ext cx="4389120" cy="4389120"/>
          </a:xfrm>
          <a:prstGeom prst="ellipse">
            <a:avLst/>
          </a:prstGeom>
          <a:solidFill>
            <a:srgbClr val="161D4E"/>
          </a:solidFill>
          <a:ln/>
        </p:spPr>
      </p:sp>
      <p:sp>
        <p:nvSpPr>
          <p:cNvPr id="3" name="Text 1"/>
          <p:cNvSpPr/>
          <p:nvPr/>
        </p:nvSpPr>
        <p:spPr>
          <a:xfrm>
            <a:off x="566928" y="384048"/>
            <a:ext cx="10058400" cy="256032"/>
          </a:xfrm>
          <a:prstGeom prst="rect">
            <a:avLst/>
          </a:prstGeom>
          <a:noFill/>
          <a:ln/>
        </p:spPr>
        <p:txBody>
          <a:bodyPr wrap="square" lIns="0" tIns="0" rIns="0" bIns="0" rtlCol="0" anchor="ctr"/>
          <a:lstStyle/>
          <a:p>
            <a:pPr indent="0" marL="0">
              <a:buNone/>
            </a:pPr>
            <a:r>
              <a:rPr lang="en-US" sz="1150" b="1" spc="240" kern="0" dirty="0">
                <a:solidFill>
                  <a:srgbClr val="CADCFC"/>
                </a:solidFill>
                <a:latin typeface="Calibri" pitchFamily="34" charset="0"/>
                <a:ea typeface="Calibri" pitchFamily="34" charset="-122"/>
                <a:cs typeface="Calibri" pitchFamily="34" charset="-120"/>
              </a:rPr>
              <a:t>BEFORE YOU PRESENT THIS</a:t>
            </a:r>
            <a:endParaRPr lang="en-US" sz="1150" dirty="0"/>
          </a:p>
        </p:txBody>
      </p:sp>
      <p:sp>
        <p:nvSpPr>
          <p:cNvPr id="4" name="Text 2"/>
          <p:cNvSpPr/>
          <p:nvPr/>
        </p:nvSpPr>
        <p:spPr>
          <a:xfrm>
            <a:off x="548640" y="658368"/>
            <a:ext cx="11064240" cy="713232"/>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Sourcing caveats</a:t>
            </a:r>
            <a:endParaRPr lang="en-US" sz="2900" dirty="0"/>
          </a:p>
        </p:txBody>
      </p:sp>
      <p:sp>
        <p:nvSpPr>
          <p:cNvPr id="5" name="Shape 3"/>
          <p:cNvSpPr/>
          <p:nvPr/>
        </p:nvSpPr>
        <p:spPr>
          <a:xfrm>
            <a:off x="585216" y="1609344"/>
            <a:ext cx="310896" cy="310896"/>
          </a:xfrm>
          <a:prstGeom prst="ellipse">
            <a:avLst/>
          </a:prstGeom>
          <a:solidFill>
            <a:srgbClr val="D08C34"/>
          </a:solidFill>
          <a:ln/>
        </p:spPr>
      </p:sp>
      <p:sp>
        <p:nvSpPr>
          <p:cNvPr id="6" name="Text 4"/>
          <p:cNvSpPr/>
          <p:nvPr/>
        </p:nvSpPr>
        <p:spPr>
          <a:xfrm>
            <a:off x="585216" y="1609344"/>
            <a:ext cx="310896" cy="310896"/>
          </a:xfrm>
          <a:prstGeom prst="rect">
            <a:avLst/>
          </a:prstGeom>
          <a:noFill/>
          <a:ln/>
        </p:spPr>
        <p:txBody>
          <a:bodyPr wrap="square" lIns="0" tIns="0" rIns="0" bIns="0" rtlCol="0" anchor="ctr"/>
          <a:lstStyle/>
          <a:p>
            <a:pPr algn="ctr" indent="0" marL="0">
              <a:buNone/>
            </a:pPr>
            <a:r>
              <a:rPr lang="en-US" sz="1200" b="1" dirty="0">
                <a:solidFill>
                  <a:srgbClr val="141A46"/>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78992" y="1572768"/>
            <a:ext cx="10424160" cy="69494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Adoption and ROI figures are frequently vendor-supplied or self-reported. Microsoft's 116% ROI is a Forrester study commissioned by Microsoft; McKinsey, BCG, Nestlé, EY and Deloitte figures come from the firms or their AI partners.</a:t>
            </a:r>
            <a:endParaRPr lang="en-US" sz="1100" dirty="0"/>
          </a:p>
        </p:txBody>
      </p:sp>
      <p:sp>
        <p:nvSpPr>
          <p:cNvPr id="8" name="Shape 6"/>
          <p:cNvSpPr/>
          <p:nvPr/>
        </p:nvSpPr>
        <p:spPr>
          <a:xfrm>
            <a:off x="585216" y="2468880"/>
            <a:ext cx="310896" cy="310896"/>
          </a:xfrm>
          <a:prstGeom prst="ellipse">
            <a:avLst/>
          </a:prstGeom>
          <a:solidFill>
            <a:srgbClr val="D08C34"/>
          </a:solidFill>
          <a:ln/>
        </p:spPr>
      </p:sp>
      <p:sp>
        <p:nvSpPr>
          <p:cNvPr id="9" name="Text 7"/>
          <p:cNvSpPr/>
          <p:nvPr/>
        </p:nvSpPr>
        <p:spPr>
          <a:xfrm>
            <a:off x="585216" y="2468880"/>
            <a:ext cx="310896" cy="310896"/>
          </a:xfrm>
          <a:prstGeom prst="rect">
            <a:avLst/>
          </a:prstGeom>
          <a:noFill/>
          <a:ln/>
        </p:spPr>
        <p:txBody>
          <a:bodyPr wrap="square" lIns="0" tIns="0" rIns="0" bIns="0" rtlCol="0" anchor="ctr"/>
          <a:lstStyle/>
          <a:p>
            <a:pPr algn="ctr" indent="0" marL="0">
              <a:buNone/>
            </a:pPr>
            <a:r>
              <a:rPr lang="en-US" sz="1200" b="1" dirty="0">
                <a:solidFill>
                  <a:srgbClr val="141A46"/>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32304"/>
            <a:ext cx="10424160" cy="69494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The MIT "only 5% succeed" statistic is real but contested — some analysts question the definition of "measurable P&amp;L impact." The durable lesson is that integration and change management, not model quality, determine success.</a:t>
            </a:r>
            <a:endParaRPr lang="en-US" sz="1100" dirty="0"/>
          </a:p>
        </p:txBody>
      </p:sp>
      <p:sp>
        <p:nvSpPr>
          <p:cNvPr id="11" name="Shape 9"/>
          <p:cNvSpPr/>
          <p:nvPr/>
        </p:nvSpPr>
        <p:spPr>
          <a:xfrm>
            <a:off x="585216" y="3328416"/>
            <a:ext cx="310896" cy="310896"/>
          </a:xfrm>
          <a:prstGeom prst="ellipse">
            <a:avLst/>
          </a:prstGeom>
          <a:solidFill>
            <a:srgbClr val="D08C34"/>
          </a:solidFill>
          <a:ln/>
        </p:spPr>
      </p:sp>
      <p:sp>
        <p:nvSpPr>
          <p:cNvPr id="12" name="Text 10"/>
          <p:cNvSpPr/>
          <p:nvPr/>
        </p:nvSpPr>
        <p:spPr>
          <a:xfrm>
            <a:off x="585216" y="3328416"/>
            <a:ext cx="310896" cy="310896"/>
          </a:xfrm>
          <a:prstGeom prst="rect">
            <a:avLst/>
          </a:prstGeom>
          <a:noFill/>
          <a:ln/>
        </p:spPr>
        <p:txBody>
          <a:bodyPr wrap="square" lIns="0" tIns="0" rIns="0" bIns="0" rtlCol="0" anchor="ctr"/>
          <a:lstStyle/>
          <a:p>
            <a:pPr algn="ctr" indent="0" marL="0">
              <a:buNone/>
            </a:pPr>
            <a:r>
              <a:rPr lang="en-US" sz="1200" b="1" dirty="0">
                <a:solidFill>
                  <a:srgbClr val="141A46"/>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078992" y="3291840"/>
            <a:ext cx="10424160" cy="69494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The Gartner agentic-AI cancellation figure is a forecast, not a measured outcome, and describes agentic projects specifically rather than knowledge-retrieval systems.</a:t>
            </a:r>
            <a:endParaRPr lang="en-US" sz="1100" dirty="0"/>
          </a:p>
        </p:txBody>
      </p:sp>
      <p:sp>
        <p:nvSpPr>
          <p:cNvPr id="14" name="Shape 12"/>
          <p:cNvSpPr/>
          <p:nvPr/>
        </p:nvSpPr>
        <p:spPr>
          <a:xfrm>
            <a:off x="585216" y="4187952"/>
            <a:ext cx="310896" cy="310896"/>
          </a:xfrm>
          <a:prstGeom prst="ellipse">
            <a:avLst/>
          </a:prstGeom>
          <a:solidFill>
            <a:srgbClr val="D08C34"/>
          </a:solidFill>
          <a:ln/>
        </p:spPr>
      </p:sp>
      <p:sp>
        <p:nvSpPr>
          <p:cNvPr id="15" name="Text 13"/>
          <p:cNvSpPr/>
          <p:nvPr/>
        </p:nvSpPr>
        <p:spPr>
          <a:xfrm>
            <a:off x="585216" y="4187952"/>
            <a:ext cx="310896" cy="310896"/>
          </a:xfrm>
          <a:prstGeom prst="rect">
            <a:avLst/>
          </a:prstGeom>
          <a:noFill/>
          <a:ln/>
        </p:spPr>
        <p:txBody>
          <a:bodyPr wrap="square" lIns="0" tIns="0" rIns="0" bIns="0" rtlCol="0" anchor="ctr"/>
          <a:lstStyle/>
          <a:p>
            <a:pPr algn="ctr" indent="0" marL="0">
              <a:buNone/>
            </a:pPr>
            <a:r>
              <a:rPr lang="en-US" sz="1200" b="1" dirty="0">
                <a:solidFill>
                  <a:srgbClr val="141A46"/>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1078992" y="4151376"/>
            <a:ext cx="10424160" cy="69494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e.l.f. headcount figures conflict across sources (~633 to ~856), which materially affects per-seat cost modelling. Confirm internally before licensing talks.</a:t>
            </a:r>
            <a:endParaRPr lang="en-US" sz="1100" dirty="0"/>
          </a:p>
        </p:txBody>
      </p:sp>
      <p:sp>
        <p:nvSpPr>
          <p:cNvPr id="17" name="Shape 15"/>
          <p:cNvSpPr/>
          <p:nvPr/>
        </p:nvSpPr>
        <p:spPr>
          <a:xfrm>
            <a:off x="585216" y="5047488"/>
            <a:ext cx="310896" cy="310896"/>
          </a:xfrm>
          <a:prstGeom prst="ellipse">
            <a:avLst/>
          </a:prstGeom>
          <a:solidFill>
            <a:srgbClr val="D08C34"/>
          </a:solidFill>
          <a:ln/>
        </p:spPr>
      </p:sp>
      <p:sp>
        <p:nvSpPr>
          <p:cNvPr id="18" name="Text 16"/>
          <p:cNvSpPr/>
          <p:nvPr/>
        </p:nvSpPr>
        <p:spPr>
          <a:xfrm>
            <a:off x="585216" y="5047488"/>
            <a:ext cx="310896" cy="310896"/>
          </a:xfrm>
          <a:prstGeom prst="rect">
            <a:avLst/>
          </a:prstGeom>
          <a:noFill/>
          <a:ln/>
        </p:spPr>
        <p:txBody>
          <a:bodyPr wrap="square" lIns="0" tIns="0" rIns="0" bIns="0" rtlCol="0" anchor="ctr"/>
          <a:lstStyle/>
          <a:p>
            <a:pPr algn="ctr" indent="0" marL="0">
              <a:buNone/>
            </a:pPr>
            <a:r>
              <a:rPr lang="en-US" sz="1200" b="1" dirty="0">
                <a:solidFill>
                  <a:srgbClr val="141A46"/>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1078992" y="5010912"/>
            <a:ext cx="10424160" cy="69494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The landscape moves quarterly — Agentspace became Gemini Enterprise; Vertex AI became the Gemini Enterprise Agent Platform. Verify product names and pricing at contract time.</a:t>
            </a:r>
            <a:endParaRPr lang="en-US" sz="1100" dirty="0"/>
          </a:p>
        </p:txBody>
      </p:sp>
      <p:sp>
        <p:nvSpPr>
          <p:cNvPr id="20" name="Text 18"/>
          <p:cNvSpPr/>
          <p:nvPr/>
        </p:nvSpPr>
        <p:spPr>
          <a:xfrm>
            <a:off x="585216" y="5925312"/>
            <a:ext cx="10515600" cy="274320"/>
          </a:xfrm>
          <a:prstGeom prst="rect">
            <a:avLst/>
          </a:prstGeom>
          <a:noFill/>
          <a:ln/>
        </p:spPr>
        <p:txBody>
          <a:bodyPr wrap="square" lIns="0" tIns="0" rIns="0" bIns="0" rtlCol="0" anchor="ctr"/>
          <a:lstStyle/>
          <a:p>
            <a:pPr indent="0" marL="0">
              <a:buNone/>
            </a:pPr>
            <a:r>
              <a:rPr lang="en-US" sz="1000" i="1" dirty="0">
                <a:solidFill>
                  <a:srgbClr val="A8B4DE"/>
                </a:solidFill>
                <a:latin typeface="Calibri" pitchFamily="34" charset="0"/>
                <a:ea typeface="Calibri" pitchFamily="34" charset="-122"/>
                <a:cs typeface="Calibri" pitchFamily="34" charset="-120"/>
              </a:rPr>
              <a:t>Compiled July 2026  ·  Research scope: named enterprise case studies and vendor landscape, all industries, enterprise-wide knowledge capture</a:t>
            </a:r>
            <a:endParaRPr lang="en-US" sz="1000" dirty="0"/>
          </a:p>
        </p:txBody>
      </p:sp>
      <p:sp>
        <p:nvSpPr>
          <p:cNvPr id="21" name="Text 19"/>
          <p:cNvSpPr/>
          <p:nvPr/>
        </p:nvSpPr>
        <p:spPr>
          <a:xfrm>
            <a:off x="566928" y="6355080"/>
            <a:ext cx="8686800" cy="256032"/>
          </a:xfrm>
          <a:prstGeom prst="rect">
            <a:avLst/>
          </a:prstGeom>
          <a:noFill/>
          <a:ln/>
        </p:spPr>
        <p:txBody>
          <a:bodyPr wrap="square" lIns="0" tIns="0" rIns="0" bIns="0" rtlCol="0" anchor="ctr"/>
          <a:lstStyle/>
          <a:p>
            <a:pPr indent="0" marL="0">
              <a:buNone/>
            </a:pPr>
            <a:r>
              <a:rPr lang="en-US" sz="900" dirty="0">
                <a:solidFill>
                  <a:srgbClr val="8891B8"/>
                </a:solidFill>
                <a:latin typeface="Calibri" pitchFamily="34" charset="0"/>
                <a:ea typeface="Calibri" pitchFamily="34" charset="-122"/>
                <a:cs typeface="Calibri" pitchFamily="34" charset="-120"/>
              </a:rPr>
              <a:t>Enterprise AI "Second Brain"  ·  Research Briefing for e.l.f. Beauty  ·  July 2026</a:t>
            </a:r>
            <a:endParaRPr lang="en-US" sz="900" dirty="0"/>
          </a:p>
        </p:txBody>
      </p:sp>
      <p:sp>
        <p:nvSpPr>
          <p:cNvPr id="22" name="Text 20"/>
          <p:cNvSpPr/>
          <p:nvPr/>
        </p:nvSpPr>
        <p:spPr>
          <a:xfrm>
            <a:off x="11155680" y="6355080"/>
            <a:ext cx="457200" cy="256032"/>
          </a:xfrm>
          <a:prstGeom prst="rect">
            <a:avLst/>
          </a:prstGeom>
          <a:noFill/>
          <a:ln/>
        </p:spPr>
        <p:txBody>
          <a:bodyPr wrap="square" lIns="0" tIns="0" rIns="0" bIns="0" rtlCol="0" anchor="ctr"/>
          <a:lstStyle/>
          <a:p>
            <a:pPr algn="r" indent="0" marL="0">
              <a:buNone/>
            </a:pPr>
            <a:r>
              <a:rPr lang="en-US" sz="900" b="1" dirty="0">
                <a:solidFill>
                  <a:srgbClr val="8891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2026-07-24T09:55:32Z</dcterms:created>
  <dcterms:modified xsi:type="dcterms:W3CDTF">2026-07-24T09:55:32Z</dcterms:modified>
</cp:coreProperties>
</file>