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A2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1A21"/>
                </a:solidFill>
                <a:latin typeface="Calibri"/>
              </a:rPr>
              <a:t>Quarterly net sales, FY2026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($M)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A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  <c:pt idx="3">
                    <c:v>Q4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353.7</c:v>
                </c:pt>
                <c:pt idx="1">
                  <c:v>343.9</c:v>
                </c:pt>
                <c:pt idx="2">
                  <c:v>489.5</c:v>
                </c:pt>
                <c:pt idx="3">
                  <c:v>449.3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A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12700" cap="flat">
              <a:solidFill>
                <a:srgbClr val="ED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A2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1A21"/>
                </a:solidFill>
                <a:latin typeface="Calibri"/>
              </a:rPr>
              <a:t>Net sales trajectory and FY2027 guidance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($M)</c:v>
                </c:pt>
              </c:strCache>
            </c:strRef>
          </c:tx>
          <c:spPr>
            <a:solidFill>
              <a:srgbClr val="6D2E46"/>
            </a:solidFill>
            <a:ln w="38100" cap="flat">
              <a:solidFill>
                <a:srgbClr val="6D2E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A2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FY2025</c:v>
                  </c:pt>
                  <c:pt idx="1">
                    <c:v>FY2026</c:v>
                  </c:pt>
                  <c:pt idx="2">
                    <c:v>FY2027E (low)</c:v>
                  </c:pt>
                  <c:pt idx="3">
                    <c:v>FY2027E (high)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1314</c:v>
                </c:pt>
                <c:pt idx="1">
                  <c:v>1636</c:v>
                </c:pt>
                <c:pt idx="2">
                  <c:v>1835</c:v>
                </c:pt>
                <c:pt idx="3">
                  <c:v>1865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A2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"/>
          <c:min val="1000"/>
        </c:scaling>
        <c:delete val="0"/>
        <c:axPos val="l"/>
        <c:majorGridlines>
          <c:spPr>
            <a:ln w="12700" cap="flat">
              <a:solidFill>
                <a:srgbClr val="ED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A2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1A21"/>
                </a:solidFill>
                <a:latin typeface="Calibri"/>
              </a:rPr>
              <a:t>e.l.f. Cosmetics share and awareness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mass cosmetics share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A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4B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Unit share</c:v>
                  </c:pt>
                  <c:pt idx="1">
                    <c:v>Dollar share</c:v>
                  </c:pt>
                  <c:pt idx="2">
                    <c:v>Unaided awareness</c:v>
                  </c:pt>
                  <c:pt idx="3">
                    <c:v>Category leader awareness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13</c:v>
                </c:pt>
                <c:pt idx="2">
                  <c:v>33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A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ED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Fiscal year ends March 31. FY2026 = year ended 31 Mar 2026. Rhode closed 5 Aug 2025 and contributed ~$260-265M of the $1.636B.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Rhode dependency — it is the single most important analytical point for an investor or a pitch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is majority women. 2% of net profits donated; annual equity grant to every full-time employee; 88% engagement score per FY2026 10-K.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GAAP net income fell sharply mainly because Rhode outperformed its earnout, triggering a $57.6M contingent consideration charge — plus higher interest on the $600M term loan.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widely reported ~$15M first-day figure is a third-party YipitData estimate. e.l.f. officially confirmed &gt;$10M over two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7E3A5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5C243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BRIEFING  ·  JULY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 Beauty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revenue engine, and the AI roadmap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456432"/>
            <a:ext cx="1371600" cy="27432"/>
          </a:xfrm>
          <a:prstGeom prst="rect">
            <a:avLst/>
          </a:prstGeom>
          <a:solidFill>
            <a:srgbClr val="C0855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86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$1.636B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sales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3886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98648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0056" y="3886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20056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acquisition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41464" y="3886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41464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pilots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5989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e.l.f. FY2026 10-K and earnings releases, Q1–Q4 FY2026 call transcripts, WWD, Glossy, Modern Retail, Fortune, Piper Sandler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A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1907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Seventh straight growth year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9888" y="186537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net sales +25% to $1.636B. FY2027 guidance is $1.835–1.865B (+12–14%). e.l.f. Cosmetics is #2 in US mass cosmetics by dollars, #1 by units.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4144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A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6791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2532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is doing the heavy lifting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89888" y="282549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~$1B Aug 2025 acquisition added ~$260–265M in FY2026 and drove the biggest brand launch in Sephora NA history. Organic growth ex-Rhode ran ~2–3%.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A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63931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9888" y="34930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Asset-light, value-led model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89888" y="378561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'Holy grail' products at $6–10, third-party manufacturing, 13–20 week concept-to-shelf, ~24% of sales reinvested in marketing and digital.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6168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A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59943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4453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are the margin story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89888" y="474573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China tariffs added $50M+ of annual cost. Response: a $1 price rise (Aug 2025), sourcing shift to Vietnam and Mexico, faster international growth.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32180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A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555955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5413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enterprise priority, not a campaign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89888" y="570585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Chief Technology &amp; AI Officer, 85 agentic pilots, Google selected as LLM. Internal-first and human-in-the-loop — AI is kept out of consumer creative.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 Beauty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F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91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profile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21396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by Alan and Joey Shamah as a $1 online cosmetics brand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Recapitalised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31720" y="27797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TPG Growth, January 2014 — Tarang Amin installed as Chairman &amp; CEO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34198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NYSE, September 2016 (ticker ELF)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40599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Oakland, California; incorporated in Delaware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31720" y="47000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standalone stores closed February 2019; digital-first relaunch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5340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53400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vegan, cruelty-free; PETA and Leaping Bunny certified; first beauty company with Fair Trade facilities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481328"/>
            <a:ext cx="500176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903720" y="215798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6912" y="2139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Tarang Amin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23865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&amp; CEO since 2014 (ex-Clorox, P&amp;G, Schiff)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79806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96912" y="2779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Fields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96912" y="3026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— also leads enterprise AI strategy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343814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96912" y="3419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Kory Marchisotto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96912" y="36667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President, e.l.f. Brands (former CMO)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407822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96912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Oshiya Savur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96912" y="43068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(ex-Maesa, Charlotte Tilbury, Revlon)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03720" y="471830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96912" y="4700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Ekta Chopra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96912" y="4946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&amp; AI Officer (promoted Apr 2026)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03720" y="535838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96912" y="5340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Hailey Bieber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96912" y="5586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Chief Creative Officer &amp; strategic advisor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BUSINESS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brands, increasingly skincare-weighted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55648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737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 Cosmetics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98448" y="20299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414016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cosmetics at $6–10. #1 brand with US teens. The 'holy grail' dupe strategy.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517904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755648"/>
            <a:ext cx="365760" cy="36576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737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Rhode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47488" y="20299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2025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90288" y="2414016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Hailey Bieber's 10–16 SKU hybrid brand. ~$260–265M FY26 contribution.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517904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755648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8796528" y="1737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Naturium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796528" y="20299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2023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39328" y="2414016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Ingredient-led masstige skincare, ~$18 ASP. Older, more male-skewing consumer.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85616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8E4A6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8448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 SKIN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298448" y="4297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value equation from colour into skincare.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15968" y="3785616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23360"/>
            <a:ext cx="365760" cy="365760"/>
          </a:xfrm>
          <a:prstGeom prst="ellipse">
            <a:avLst/>
          </a:prstGeom>
          <a:solidFill>
            <a:srgbClr val="9C7A85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People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047488" y="4297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2020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90288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Pioneering clean beauty, ~$27M purchase price.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785616"/>
            <a:ext cx="3520440" cy="2048256"/>
          </a:xfrm>
          <a:prstGeom prst="roundRect">
            <a:avLst>
              <a:gd name="adj" fmla="val 3571"/>
            </a:avLst>
          </a:prstGeom>
          <a:solidFill>
            <a:srgbClr val="FA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023360"/>
            <a:ext cx="365760" cy="365760"/>
          </a:xfrm>
          <a:prstGeom prst="ellipse">
            <a:avLst/>
          </a:prstGeom>
          <a:solidFill>
            <a:srgbClr val="6E5560"/>
          </a:solidFill>
          <a:ln/>
        </p:spPr>
      </p:sp>
      <p:sp>
        <p:nvSpPr>
          <p:cNvPr id="31" name="Text 29"/>
          <p:cNvSpPr/>
          <p:nvPr/>
        </p:nvSpPr>
        <p:spPr>
          <a:xfrm>
            <a:off x="8796528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Soulcare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796528" y="4297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 2020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39328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beauty-lifestyle brand co-created with Alicia Keys.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reporting brands grew in FY2026; Rhode and Naturium were the standouts.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e.l.f. actually makes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partners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e-comm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Walmart, Ulta, CVS, Dollar General, Amazon. Rhode via Sephora + DTC.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48132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A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53712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intl growth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3712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ROSSMANN, Douglas, Superdrug, Shoppers Drug Mart, Sephora Mexico and GCC.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48132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02752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~71%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02752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96696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mktg + digital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02752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$399.8M marketing spend in FY2026. Adjusted EBITDA margin 20%.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3858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levers of the model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0848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38912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" y="5020056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owned factories; third-party manufacturing, ~75% China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16352" y="4224528"/>
            <a:ext cx="20848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438912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3" name="Text 31"/>
          <p:cNvSpPr/>
          <p:nvPr/>
        </p:nvSpPr>
        <p:spPr>
          <a:xfrm>
            <a:off x="301752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5020056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13–20 weeks concept to shelf vs. 12–18 months for legacy players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65776" y="4224528"/>
            <a:ext cx="20848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66944" y="438912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8" name="Text 36"/>
          <p:cNvSpPr/>
          <p:nvPr/>
        </p:nvSpPr>
        <p:spPr>
          <a:xfrm>
            <a:off x="5266944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66944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66944" y="5020056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quality at mass price; ~3/4 of core SKUs under $10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0" y="4224528"/>
            <a:ext cx="20848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6368" y="438912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3" name="Text 41"/>
          <p:cNvSpPr/>
          <p:nvPr/>
        </p:nvSpPr>
        <p:spPr>
          <a:xfrm>
            <a:off x="751636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16368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6368" y="5020056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TikTok-first; Super Bowl, Coachella, NWSL — earned over paid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564624" y="4224528"/>
            <a:ext cx="208483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65792" y="438912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8" name="Text 46"/>
          <p:cNvSpPr/>
          <p:nvPr/>
        </p:nvSpPr>
        <p:spPr>
          <a:xfrm>
            <a:off x="976579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765792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65792" y="5020056"/>
            <a:ext cx="18105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Productivity-led shelf model; wins space on unit turn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FY2026: net sales up 25% to $1.636B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36192"/>
          <a:ext cx="66751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3218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+9% / +14% / +38% / +35%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16368" y="1536192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7" name="Text 4"/>
          <p:cNvSpPr/>
          <p:nvPr/>
        </p:nvSpPr>
        <p:spPr>
          <a:xfrm>
            <a:off x="7735824" y="16459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$1.636B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73184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sales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473184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YoY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16368" y="2432304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11" name="Text 8"/>
          <p:cNvSpPr/>
          <p:nvPr/>
        </p:nvSpPr>
        <p:spPr>
          <a:xfrm>
            <a:off x="7735824" y="25420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$335.2M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73184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473184" y="2816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margin, +13%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516368" y="3328416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15" name="Text 12"/>
          <p:cNvSpPr/>
          <p:nvPr/>
        </p:nvSpPr>
        <p:spPr>
          <a:xfrm>
            <a:off x="7735824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$3.13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473184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diluted EPS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473184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$3.39 in FY25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16368" y="4224528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19" name="Text 16"/>
          <p:cNvSpPr/>
          <p:nvPr/>
        </p:nvSpPr>
        <p:spPr>
          <a:xfrm>
            <a:off x="7735824" y="43342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$26.3M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473184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net income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473184" y="4608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$57.6M Rhode earnout charge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16368" y="5120640"/>
            <a:ext cx="411480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23" name="Text 20"/>
          <p:cNvSpPr/>
          <p:nvPr/>
        </p:nvSpPr>
        <p:spPr>
          <a:xfrm>
            <a:off x="7735824" y="523036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$212.5M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473184" y="5248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473184" y="5504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$289.7M cash on hand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consecutive growth years — and the FY2027 ask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6766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07808" y="1572768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6D2E46"/>
          </a:solidFill>
          <a:ln/>
        </p:spPr>
      </p:sp>
      <p:sp>
        <p:nvSpPr>
          <p:cNvPr id="6" name="Text 3"/>
          <p:cNvSpPr/>
          <p:nvPr/>
        </p:nvSpPr>
        <p:spPr>
          <a:xfrm>
            <a:off x="7845552" y="17739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guidance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45552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45552" y="2441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$1.835–1.865B  (+12–14%)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45552" y="28529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45552" y="30815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$379–385M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45552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EPS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45552" y="37216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$3.27–3.32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45552" y="41330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tax rate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45552" y="4361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25–26%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956048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AF7F5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question: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017520" y="5102352"/>
            <a:ext cx="8366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out Rhode's ~$260–265M and FY2026 growth is low single digit — management guided ~2% organic in H2 FY2026. The premium multiple depends on either the core namesake brand reaccelerating or Rhode sustaining ~70% growth through the European rollout.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RHODE DEAL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record-breaking bet on prestige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7E3A5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28, 2025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95728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announced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95728" y="1956816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$1B for Hailey Bieber's Rhode — $800M at close plus a $200M three-year earnout.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4505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7E3A52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7249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5, 2025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95728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closes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95728" y="2871216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with a $600M term loan. Bieber becomes Chief Creative Officer and Head of Innovation.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7E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39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4, 2025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NA launch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95728" y="3785616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launch in Sephora NA history: &gt;$10M retail sales in two days, ~3 items sold per second.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793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7E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53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UK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95728" y="4700016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record launch; rollout underway across 19 European Sephora markets.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1937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7E3A5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468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close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95728" y="5303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raised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95728" y="5614416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lifted from ~$200M to ~$260–265M — roughly 70% annualised growth.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126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reportedly topped $212M in net sales in the 12 months to 31 March 2025 as a DTC-only brand of roughly 10–16 SKUs.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in units, #2 in dollars, #1 with teens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50608" y="1554480"/>
            <a:ext cx="4480560" cy="1600200"/>
          </a:xfrm>
          <a:prstGeom prst="roundRect">
            <a:avLst>
              <a:gd name="adj" fmla="val 4571"/>
            </a:avLst>
          </a:prstGeom>
          <a:solidFill>
            <a:srgbClr val="6D2E46"/>
          </a:solidFill>
          <a:ln/>
        </p:spPr>
      </p:sp>
      <p:sp>
        <p:nvSpPr>
          <p:cNvPr id="6" name="Text 3"/>
          <p:cNvSpPr/>
          <p:nvPr/>
        </p:nvSpPr>
        <p:spPr>
          <a:xfrm>
            <a:off x="7388352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teen franchise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88352" y="2048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430768" y="2029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brand among US teens in Piper Sandler's Fall 2025 survey (10,969 respondents) — with Rare Beauty a distant second.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50608" y="3310128"/>
            <a:ext cx="4480560" cy="1627632"/>
          </a:xfrm>
          <a:prstGeom prst="roundRect">
            <a:avLst>
              <a:gd name="adj" fmla="val 4494"/>
            </a:avLst>
          </a:prstGeom>
          <a:solidFill>
            <a:srgbClr val="FAF7F5"/>
          </a:solidFill>
          <a:ln/>
        </p:spPr>
      </p:sp>
      <p:sp>
        <p:nvSpPr>
          <p:cNvPr id="10" name="Text 7"/>
          <p:cNvSpPr/>
          <p:nvPr/>
        </p:nvSpPr>
        <p:spPr>
          <a:xfrm>
            <a:off x="7388352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take share from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382219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Maybelline / L'Oréal — the #1 dollar-share incumbent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CoverGirl / Coty — sustained mass-share losses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Estée Lauder, Rare Beauty, Fenty — via Rhode in prestige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Ordinary / DECIEM — via Naturium in skincare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513892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share has more than doubled in three years. The awareness gap to the category leader — 33% vs. 55% unaided — is the clearest remaining runway for the core brand.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RESPONSE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Tariffs, pricing, and the margin bridge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57400" y="2112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 rate on Chinese goods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57400" y="2496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weighted-average rate, up from ~25%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$50M+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5740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annual cost in FY2026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18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57400" y="3264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production still sourced from China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517904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2066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rise across the portfolio, 1 Aug 2025 — communicated transparently to the community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578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Diversifying into Vietnam and Mexico; China down from 100% a few years ago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3090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growth (+75% in Q4) is materially less tariff-exposed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8587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works in both directions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Glow Skin Tint price test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773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 → $14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154680" y="47914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lift on Amazon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 across retailers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4498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cuts where elasticity is favourable, not blanket discounting.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4279392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FAF7F5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bridge into FY2027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4773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863840" y="4791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gross margin, up ~140 bps on pricing benefit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4498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expects lower tariff cost plus the Aug 2025 price rise to lift margin in H1 FY2027.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05840"/>
            <a:ext cx="4937760" cy="4937760"/>
          </a:xfrm>
          <a:prstGeom prst="ellipse">
            <a:avLst/>
          </a:prstGeom>
          <a:solidFill>
            <a:srgbClr val="3D25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4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infusion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564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e.l.f. is deploying AI — and the roadmap it has stated publicly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33088"/>
            <a:ext cx="1371600" cy="27432"/>
          </a:xfrm>
          <a:prstGeom prst="rect">
            <a:avLst/>
          </a:prstGeom>
          <a:solidFill>
            <a:srgbClr val="C0855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software-defined to AI-first enterprise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Ekta Chopra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4663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&amp; AI Officer — promoted from Chief Digital Officer in April 2026, charged with moving e.l.f. "from a software-defined to an AI-first enterprise" and operationalising agentic AI across commerce, marketing, operations and finance.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61888" y="1481328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FAF7F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664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philosophy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197510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"Human as conductor."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230428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go directly into employees' hands — "this is not an IT project." A cross-functional AI steering committee (legal, marketing, R&amp;D) stood up in summer 2025, with power users as early testers and a goal of production within six months.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stated pillars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005072"/>
            <a:ext cx="261518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" y="4590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882896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humans more productive — internal assistants, not headcount replacement.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4005072"/>
            <a:ext cx="261518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4590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21024" y="4882896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 every process with AI rather than bolting AI onto existing workflows.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9632" y="4005072"/>
            <a:ext cx="261518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37376" y="4590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7376" y="4882896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as "the brand authority" in LLMs as discovery shifts from search.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15984" y="4005072"/>
            <a:ext cx="261518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3728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CF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53728" y="4590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53728" y="4882896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autonomy in finance — including closing the books.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59253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constraint: AI is kept out of consumer-facing creative — the community "will call us out" on inauthentic content.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Vendors, platform, and the data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1956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0" y="177393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e.l.f.'s LLM (Gemini / Google Cloud), per Chopra in March 2026.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+ Writer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2816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2633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 help build AI agents; proprietary data trained on an AWS-based LLM as of Sept 2025.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552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BACKBONE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34930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migrated off Oracle NetSuite to create the data foundation for AI and international scale.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42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4535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435254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workforce AI training delivered through the "e.l.f. U" learning platform.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AF7F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02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5394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5212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Co-built "color e.l.f.nalysis" — AI colour-season analysis with a shoppable board.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724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caveat: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212848" y="57058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(Sept 2025) described a proprietary LLM built on AWS; Chopra (Mar 2026) named Google. This most likely reflects a multi-vendor architecture or an evolution over the intervening months.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agentic pilots — what is actually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37360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682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B.F.e.l.f.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9751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assistant used by roughly 80% of employees.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36208" y="1499616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737360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6931152" y="1682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e.l.f.uencer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1152" y="19751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2231136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the brand style guide with 5 years of human social replies. Lifted answered questions from ~40% to ~90%, with human approval.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017520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255264"/>
            <a:ext cx="347472" cy="347472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872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93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 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auto-refresh product pages to Walmart.com and Ulta.com specs — weeks of manual work removed, humans refine.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3017520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3255264"/>
            <a:ext cx="347472" cy="347472"/>
          </a:xfrm>
          <a:prstGeom prst="ellipse">
            <a:avLst/>
          </a:prstGeom>
          <a:solidFill>
            <a:srgbClr val="8E4A63"/>
          </a:solidFill>
          <a:ln/>
        </p:spPr>
      </p:sp>
      <p:sp>
        <p:nvSpPr>
          <p:cNvPr id="21" name="Text 19"/>
          <p:cNvSpPr/>
          <p:nvPr/>
        </p:nvSpPr>
        <p:spPr>
          <a:xfrm>
            <a:off x="6931152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3493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DESK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Help-desk sidekick producing roughly one FTE's worth of 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535424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773168"/>
            <a:ext cx="347472" cy="347472"/>
          </a:xfrm>
          <a:prstGeom prst="ellipse">
            <a:avLst/>
          </a:prstGeom>
          <a:solidFill>
            <a:srgbClr val="9C7A85"/>
          </a:solidFill>
          <a:ln/>
        </p:spPr>
      </p:sp>
      <p:sp>
        <p:nvSpPr>
          <p:cNvPr id="26" name="Text 24"/>
          <p:cNvSpPr/>
          <p:nvPr/>
        </p:nvSpPr>
        <p:spPr>
          <a:xfrm>
            <a:off x="1261872" y="4718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e.l.f.alytics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61872" y="5010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5266944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data analyst, currently in beta. Paired with e.l.f.phabet for research.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4535424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A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4773168"/>
            <a:ext cx="347472" cy="347472"/>
          </a:xfrm>
          <a:prstGeom prst="ellipse">
            <a:avLst/>
          </a:prstGeom>
          <a:solidFill>
            <a:srgbClr val="6E5560"/>
          </a:solidFill>
          <a:ln/>
        </p:spPr>
      </p:sp>
      <p:sp>
        <p:nvSpPr>
          <p:cNvPr id="31" name="Text 29"/>
          <p:cNvSpPr/>
          <p:nvPr/>
        </p:nvSpPr>
        <p:spPr>
          <a:xfrm>
            <a:off x="6931152" y="4718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e.l.f.nalysis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31152" y="5010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5266944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June 2025 with Pinterest: upload a selfie, get shade recommendations and a shoppable board.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0899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want to give the tools in the hands of the people. This is not an IT project."  — Ekta Chopra, Fortune, September 2025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BET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engine optimisation as brand defence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7E3A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discovery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Google query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6120" y="20482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2615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an average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prompt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1868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prompts mean brands must feed far richer context into their content — or disappear from LLM citations entirely.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0488" y="1517904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7E3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commercially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64808" y="2029968"/>
            <a:ext cx="49560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e.l.f. is not the cited authority, a competitor is — LLM answers are winner-take-most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editorial authority now drives AI recommendations more than owned-site SEO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review volume and earned media become ranking inputs, not brand-awareness spend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Chopra: AI is "probably the most game-changing tech evolution that has ever happened"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9502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roadmap points next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352544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2B1A21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" y="4535424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to production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5175504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85 agentic use cases moving from pilot into full production.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4352544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2B1A21"/>
          </a:solidFill>
          <a:ln/>
        </p:spPr>
      </p:sp>
      <p:sp>
        <p:nvSpPr>
          <p:cNvPr id="21" name="Shape 19"/>
          <p:cNvSpPr/>
          <p:nvPr/>
        </p:nvSpPr>
        <p:spPr>
          <a:xfrm>
            <a:off x="3602736" y="4535424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22" name="Text 20"/>
          <p:cNvSpPr/>
          <p:nvPr/>
        </p:nvSpPr>
        <p:spPr>
          <a:xfrm>
            <a:off x="3602736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02736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02736" y="5175504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agentic close — the most ambitious stated pillar.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9632" y="4352544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2B1A2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19088" y="4535424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19088" y="5175504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the brand authority inside LLM-mediated shopping journeys.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15984" y="4352544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2B1A21"/>
          </a:solidFill>
          <a:ln/>
        </p:spPr>
      </p:sp>
      <p:sp>
        <p:nvSpPr>
          <p:cNvPr id="31" name="Shape 29"/>
          <p:cNvSpPr/>
          <p:nvPr/>
        </p:nvSpPr>
        <p:spPr>
          <a:xfrm>
            <a:off x="9235440" y="4535424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enablement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35440" y="5175504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"e.l.f. you!" portal teaching agentic AI, LLM basics and prompting.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e.l.f.'s AI posture compares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55648"/>
            <a:ext cx="329184" cy="32918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Internal-first, human-in-loop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77640" y="1755648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agentic pilots · B.F.e.l.f. · e.l.f.uencer · GEO / brand authority · Google LLM · SAP backbone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140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51760"/>
            <a:ext cx="329184" cy="329184"/>
          </a:xfrm>
          <a:prstGeom prst="ellipse">
            <a:avLst/>
          </a:prstGeom>
          <a:solidFill>
            <a:srgbClr val="8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542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comprehensive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77640" y="2651760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ModiFace AR try-on · TrendSpotter across 3,500+ sources · ~10 PB of beauty data · NVIDIA and IBM partnerships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547872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Estée Lauder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3730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Partnership-led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3547872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"ConsumerIQ" AI Innovation Lab · 240+ custom GPTs with OpenAI · Adobe Firefly for creative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443984"/>
            <a:ext cx="329184" cy="329184"/>
          </a:xfrm>
          <a:prstGeom prst="ellipse">
            <a:avLst/>
          </a:prstGeom>
          <a:solidFill>
            <a:srgbClr val="9C7A85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334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 Beauty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0160" y="4626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4443984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partner on Google's agentic commerce platform at NRF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340096"/>
            <a:ext cx="329184" cy="329184"/>
          </a:xfrm>
          <a:prstGeom prst="ellipse">
            <a:avLst/>
          </a:prstGeom>
          <a:solidFill>
            <a:srgbClr val="6E5560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5230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80160" y="55229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personalisation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77640" y="5340096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into agentic commerce and AI-assisted product discovery in-app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63270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779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212848" y="57607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is light on flashy consumer AR and heavy on operational efficiency, community engagement and LLM visibility — a lower-capital, faster-payback posture consistent with its asset-light DNA.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watch, and what would change the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AF7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82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triggers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048256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Rhode's European rollout holding ~70% growth through FY2027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e.l.f. Cosmetics US consumption reaccelerating above 3–4%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recovering toward 73%+ as pricing annualises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tariffs settling materially below 55%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sustaining double-digit growth off a ~20% 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44768" y="148132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AF7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82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triggers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048256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consumption at or below 2–3% for two consecutive quarters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decelerating below ~40% YoY while lapping the launch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concentration risk across Target, Walmart, Ulta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earnout or integration charges on the Rhode deal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tariff escalation before sourcing diversification lands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9502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transferable playbook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4352544"/>
            <a:ext cx="26151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453542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5175504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migration preceded agentic scale-up — no AI programme without a clean backbone.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4352544"/>
            <a:ext cx="26151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53542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02736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first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02736" y="5175504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payback and far lower reputational risk than consumer-facing generative AI.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4352544"/>
            <a:ext cx="26151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53542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not centralised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9088" y="5175504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employees' hands, run by a cross-functional steering committee.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15984" y="4352544"/>
            <a:ext cx="261518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D8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4535424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919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pilot discipline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35440" y="5175504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goal of production within six months; power users test first.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206240" cy="4206240"/>
          </a:xfrm>
          <a:prstGeom prst="ellipse">
            <a:avLst/>
          </a:prstGeom>
          <a:solidFill>
            <a:srgbClr val="5C243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PRESENT THIS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caveats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609344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5727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financials come from e.l.f.'s own releases, the FY2026 10-K and earnings transcripts. Market share, brand-awareness and sourcing-mix figures come from secondary aggregators and should be treated as directional.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" y="2450592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241401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vendor discrepancy on the LLM: Fortune (Sept 2025) cited an AWS-based proprietary model with Microsoft Copilot and Writer; Chopra (Mar 2026) named Google. Likely a multi-vendor architecture or an evolution.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" y="3291840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32552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of a "sub-10% China production by 2026" target come from analyst commentary, not company guidance. Management has said it remains committed to manufacturing in China while diversifying.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" y="4133088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09651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Rhode's widely circulated ~$15M first-day Sephora figure is a third-party YipitData estimate. e.l.f. officially confirmed &gt;$10M across the first two days.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" y="4974336"/>
            <a:ext cx="310896" cy="310896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49377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FY2027 figures — net sales, EBITDA, EPS, margin recovery — are management projections, not results.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5216" y="59253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 ·  e.l.f. fiscal year ends 31 March  ·  FY2026 = year ended 31 March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e.l.f. Beauty (NYSE: ELF)  ·  Research Briefing  ·  FY2026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2026-07-24T09:31:43Z</dcterms:created>
  <dcterms:modified xsi:type="dcterms:W3CDTF">2026-07-24T09:31:43Z</dcterms:modified>
</cp:coreProperties>
</file>