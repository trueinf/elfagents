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Thinking tool, not a pitch. The point of the scoring is to stop the most exciting-sounding option from automatically winning.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use if only one slide gets shown. Fit ratings are judgement calls, not scores from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52560" y="-1737360"/>
            <a:ext cx="5669280" cy="5669280"/>
          </a:xfrm>
          <a:prstGeom prst="ellipse">
            <a:avLst/>
          </a:prstGeom>
          <a:solidFill>
            <a:srgbClr val="2C3670"/>
          </a:solidFill>
          <a:ln/>
        </p:spPr>
      </p:sp>
      <p:sp>
        <p:nvSpPr>
          <p:cNvPr id="3" name="Shape 1"/>
          <p:cNvSpPr/>
          <p:nvPr/>
        </p:nvSpPr>
        <p:spPr>
          <a:xfrm>
            <a:off x="10424160" y="3383280"/>
            <a:ext cx="4023360" cy="4023360"/>
          </a:xfrm>
          <a:prstGeom prst="ellipse">
            <a:avLst/>
          </a:prstGeom>
          <a:solidFill>
            <a:srgbClr val="1A2049"/>
          </a:solidFill>
          <a:ln/>
        </p:spPr>
      </p:sp>
      <p:sp>
        <p:nvSpPr>
          <p:cNvPr id="4" name="Text 2"/>
          <p:cNvSpPr/>
          <p:nvPr/>
        </p:nvSpPr>
        <p:spPr>
          <a:xfrm>
            <a:off x="777240" y="1417320"/>
            <a:ext cx="8229600" cy="274320"/>
          </a:xfrm>
          <a:prstGeom prst="rect">
            <a:avLst/>
          </a:prstGeom>
          <a:noFill/>
          <a:ln/>
        </p:spPr>
        <p:txBody>
          <a:bodyPr wrap="square" lIns="0" tIns="0" rIns="0" bIns="0" rtlCol="0" anchor="ctr"/>
          <a:lstStyle/>
          <a:p>
            <a:pPr indent="0" marL="0">
              <a:buNone/>
            </a:pPr>
            <a:r>
              <a:rPr lang="en-US" sz="1150" b="1" spc="300" kern="0" dirty="0">
                <a:solidFill>
                  <a:srgbClr val="D6E4EC"/>
                </a:solidFill>
                <a:latin typeface="Calibri" pitchFamily="34" charset="0"/>
                <a:ea typeface="Calibri" pitchFamily="34" charset="-122"/>
                <a:cs typeface="Calibri" pitchFamily="34" charset="-120"/>
              </a:rPr>
              <a:t>WORKING DOCUMENT  ·  JULY 2026</a:t>
            </a:r>
            <a:endParaRPr lang="en-US" sz="1150" dirty="0"/>
          </a:p>
        </p:txBody>
      </p:sp>
      <p:sp>
        <p:nvSpPr>
          <p:cNvPr id="5" name="Text 3"/>
          <p:cNvSpPr/>
          <p:nvPr/>
        </p:nvSpPr>
        <p:spPr>
          <a:xfrm>
            <a:off x="731520" y="1828800"/>
            <a:ext cx="877824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Ten candidate use cases</a:t>
            </a:r>
            <a:endParaRPr lang="en-US" sz="4400" dirty="0"/>
          </a:p>
        </p:txBody>
      </p:sp>
      <p:sp>
        <p:nvSpPr>
          <p:cNvPr id="6" name="Text 4"/>
          <p:cNvSpPr/>
          <p:nvPr/>
        </p:nvSpPr>
        <p:spPr>
          <a:xfrm>
            <a:off x="777240" y="2724912"/>
            <a:ext cx="7863840" cy="457200"/>
          </a:xfrm>
          <a:prstGeom prst="rect">
            <a:avLst/>
          </a:prstGeom>
          <a:noFill/>
          <a:ln/>
        </p:spPr>
        <p:txBody>
          <a:bodyPr wrap="square" lIns="0" tIns="0" rIns="0" bIns="0" rtlCol="0" anchor="ctr"/>
          <a:lstStyle/>
          <a:p>
            <a:pPr indent="0" marL="0">
              <a:buNone/>
            </a:pPr>
            <a:r>
              <a:rPr lang="en-US" sz="1800" dirty="0">
                <a:solidFill>
                  <a:srgbClr val="D6E4EC"/>
                </a:solidFill>
                <a:latin typeface="Calibri" pitchFamily="34" charset="0"/>
                <a:ea typeface="Calibri" pitchFamily="34" charset="-122"/>
                <a:cs typeface="Calibri" pitchFamily="34" charset="-120"/>
              </a:rPr>
              <a:t>For an orchestrated domain-agent system at e.l.f. Beauty</a:t>
            </a:r>
            <a:endParaRPr lang="en-US" sz="1800" dirty="0"/>
          </a:p>
        </p:txBody>
      </p:sp>
      <p:sp>
        <p:nvSpPr>
          <p:cNvPr id="7" name="Shape 5"/>
          <p:cNvSpPr/>
          <p:nvPr/>
        </p:nvSpPr>
        <p:spPr>
          <a:xfrm>
            <a:off x="777240" y="3383280"/>
            <a:ext cx="1371600" cy="27432"/>
          </a:xfrm>
          <a:prstGeom prst="rect">
            <a:avLst/>
          </a:prstGeom>
          <a:solidFill>
            <a:srgbClr val="C8791E"/>
          </a:solidFill>
          <a:ln/>
        </p:spPr>
      </p:sp>
      <p:sp>
        <p:nvSpPr>
          <p:cNvPr id="8" name="Text 6"/>
          <p:cNvSpPr/>
          <p:nvPr/>
        </p:nvSpPr>
        <p:spPr>
          <a:xfrm>
            <a:off x="777240" y="3712464"/>
            <a:ext cx="7498080" cy="731520"/>
          </a:xfrm>
          <a:prstGeom prst="rect">
            <a:avLst/>
          </a:prstGeom>
          <a:noFill/>
          <a:ln/>
        </p:spPr>
        <p:txBody>
          <a:bodyPr wrap="square" lIns="0" tIns="0" rIns="0" bIns="0" rtlCol="0" anchor="ctr"/>
          <a:lstStyle/>
          <a:p>
            <a:pPr indent="0" marL="0">
              <a:buNone/>
            </a:pPr>
            <a:r>
              <a:rPr lang="en-US" sz="1300" dirty="0">
                <a:solidFill>
                  <a:srgbClr val="D6E4EC"/>
                </a:solidFill>
                <a:latin typeface="Calibri" pitchFamily="34" charset="0"/>
                <a:ea typeface="Calibri" pitchFamily="34" charset="-122"/>
                <a:cs typeface="Calibri" pitchFamily="34" charset="-120"/>
              </a:rPr>
              <a:t>Presented without recommendation. Each option is scored against the same five-part filter so the options can be compared on like terms rather than on how compelling they sound.</a:t>
            </a:r>
            <a:endParaRPr lang="en-US" sz="1300" dirty="0"/>
          </a:p>
        </p:txBody>
      </p:sp>
      <p:sp>
        <p:nvSpPr>
          <p:cNvPr id="9" name="Text 7"/>
          <p:cNvSpPr/>
          <p:nvPr/>
        </p:nvSpPr>
        <p:spPr>
          <a:xfrm>
            <a:off x="777240" y="4663440"/>
            <a:ext cx="24688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10" name="Text 8"/>
          <p:cNvSpPr/>
          <p:nvPr/>
        </p:nvSpPr>
        <p:spPr>
          <a:xfrm>
            <a:off x="777240" y="5230368"/>
            <a:ext cx="2468880" cy="310896"/>
          </a:xfrm>
          <a:prstGeom prst="rect">
            <a:avLst/>
          </a:prstGeom>
          <a:noFill/>
          <a:ln/>
        </p:spPr>
        <p:txBody>
          <a:bodyPr wrap="square" lIns="0" tIns="0" rIns="0" bIns="0" rtlCol="0" anchor="ctr"/>
          <a:lstStyle/>
          <a:p>
            <a:pPr indent="0" marL="0">
              <a:buNone/>
            </a:pPr>
            <a:r>
              <a:rPr lang="en-US" sz="1100" dirty="0">
                <a:solidFill>
                  <a:srgbClr val="D6E4EC"/>
                </a:solidFill>
                <a:latin typeface="Calibri" pitchFamily="34" charset="0"/>
                <a:ea typeface="Calibri" pitchFamily="34" charset="-122"/>
                <a:cs typeface="Calibri" pitchFamily="34" charset="-120"/>
              </a:rPr>
              <a:t>candidate use cases</a:t>
            </a:r>
            <a:endParaRPr lang="en-US" sz="1100" dirty="0"/>
          </a:p>
        </p:txBody>
      </p:sp>
      <p:sp>
        <p:nvSpPr>
          <p:cNvPr id="11" name="Text 9"/>
          <p:cNvSpPr/>
          <p:nvPr/>
        </p:nvSpPr>
        <p:spPr>
          <a:xfrm>
            <a:off x="3429000" y="4663440"/>
            <a:ext cx="24688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12" name="Text 10"/>
          <p:cNvSpPr/>
          <p:nvPr/>
        </p:nvSpPr>
        <p:spPr>
          <a:xfrm>
            <a:off x="3429000" y="5230368"/>
            <a:ext cx="2468880" cy="310896"/>
          </a:xfrm>
          <a:prstGeom prst="rect">
            <a:avLst/>
          </a:prstGeom>
          <a:noFill/>
          <a:ln/>
        </p:spPr>
        <p:txBody>
          <a:bodyPr wrap="square" lIns="0" tIns="0" rIns="0" bIns="0" rtlCol="0" anchor="ctr"/>
          <a:lstStyle/>
          <a:p>
            <a:pPr indent="0" marL="0">
              <a:buNone/>
            </a:pPr>
            <a:r>
              <a:rPr lang="en-US" sz="1100" dirty="0">
                <a:solidFill>
                  <a:srgbClr val="D6E4EC"/>
                </a:solidFill>
                <a:latin typeface="Calibri" pitchFamily="34" charset="0"/>
                <a:ea typeface="Calibri" pitchFamily="34" charset="-122"/>
                <a:cs typeface="Calibri" pitchFamily="34" charset="-120"/>
              </a:rPr>
              <a:t>part screening filter</a:t>
            </a:r>
            <a:endParaRPr lang="en-US" sz="1100" dirty="0"/>
          </a:p>
        </p:txBody>
      </p:sp>
      <p:sp>
        <p:nvSpPr>
          <p:cNvPr id="13" name="Text 11"/>
          <p:cNvSpPr/>
          <p:nvPr/>
        </p:nvSpPr>
        <p:spPr>
          <a:xfrm>
            <a:off x="6080760" y="4663440"/>
            <a:ext cx="24688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4" name="Text 12"/>
          <p:cNvSpPr/>
          <p:nvPr/>
        </p:nvSpPr>
        <p:spPr>
          <a:xfrm>
            <a:off x="6080760" y="5230368"/>
            <a:ext cx="2468880" cy="310896"/>
          </a:xfrm>
          <a:prstGeom prst="rect">
            <a:avLst/>
          </a:prstGeom>
          <a:noFill/>
          <a:ln/>
        </p:spPr>
        <p:txBody>
          <a:bodyPr wrap="square" lIns="0" tIns="0" rIns="0" bIns="0" rtlCol="0" anchor="ctr"/>
          <a:lstStyle/>
          <a:p>
            <a:pPr indent="0" marL="0">
              <a:buNone/>
            </a:pPr>
            <a:r>
              <a:rPr lang="en-US" sz="1100" dirty="0">
                <a:solidFill>
                  <a:srgbClr val="D6E4EC"/>
                </a:solidFill>
                <a:latin typeface="Calibri" pitchFamily="34" charset="0"/>
                <a:ea typeface="Calibri" pitchFamily="34" charset="-122"/>
                <a:cs typeface="Calibri" pitchFamily="34" charset="-120"/>
              </a:rPr>
              <a:t>that fail the filter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The architecture these use cases sit on</a:t>
            </a:r>
            <a:endParaRPr lang="en-US" sz="2800" dirty="0"/>
          </a:p>
        </p:txBody>
      </p:sp>
      <p:sp>
        <p:nvSpPr>
          <p:cNvPr id="4" name="Shape 2"/>
          <p:cNvSpPr/>
          <p:nvPr/>
        </p:nvSpPr>
        <p:spPr>
          <a:xfrm>
            <a:off x="566928" y="1517904"/>
            <a:ext cx="2670048" cy="2487168"/>
          </a:xfrm>
          <a:prstGeom prst="roundRect">
            <a:avLst>
              <a:gd name="adj" fmla="val 2574"/>
            </a:avLst>
          </a:prstGeom>
          <a:solidFill>
            <a:srgbClr val="F3F7F9"/>
          </a:solidFill>
          <a:ln/>
        </p:spPr>
      </p:sp>
      <p:sp>
        <p:nvSpPr>
          <p:cNvPr id="5" name="Shape 3"/>
          <p:cNvSpPr/>
          <p:nvPr/>
        </p:nvSpPr>
        <p:spPr>
          <a:xfrm>
            <a:off x="804672" y="1719072"/>
            <a:ext cx="384048" cy="384048"/>
          </a:xfrm>
          <a:prstGeom prst="ellipse">
            <a:avLst/>
          </a:prstGeom>
          <a:solidFill>
            <a:srgbClr val="065A82"/>
          </a:solidFill>
          <a:ln/>
        </p:spPr>
      </p:sp>
      <p:sp>
        <p:nvSpPr>
          <p:cNvPr id="6" name="Text 4"/>
          <p:cNvSpPr/>
          <p:nvPr/>
        </p:nvSpPr>
        <p:spPr>
          <a:xfrm>
            <a:off x="804672"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04672" y="2194560"/>
            <a:ext cx="2194560" cy="310896"/>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Signals</a:t>
            </a:r>
            <a:endParaRPr lang="en-US" sz="1600" dirty="0"/>
          </a:p>
        </p:txBody>
      </p:sp>
      <p:sp>
        <p:nvSpPr>
          <p:cNvPr id="8" name="Text 6"/>
          <p:cNvSpPr/>
          <p:nvPr/>
        </p:nvSpPr>
        <p:spPr>
          <a:xfrm>
            <a:off x="804672" y="2523744"/>
            <a:ext cx="2194560" cy="219456"/>
          </a:xfrm>
          <a:prstGeom prst="rect">
            <a:avLst/>
          </a:prstGeom>
          <a:noFill/>
          <a:ln/>
        </p:spPr>
        <p:txBody>
          <a:bodyPr wrap="square" lIns="0" tIns="0" rIns="0" bIns="0" rtlCol="0" anchor="ctr"/>
          <a:lstStyle/>
          <a:p>
            <a:pPr indent="0" marL="0">
              <a:buNone/>
            </a:pPr>
            <a:r>
              <a:rPr lang="en-US" sz="850" b="1" spc="110" kern="0" dirty="0">
                <a:solidFill>
                  <a:srgbClr val="065A82"/>
                </a:solidFill>
                <a:latin typeface="Calibri" pitchFamily="34" charset="0"/>
                <a:ea typeface="Calibri" pitchFamily="34" charset="-122"/>
                <a:cs typeface="Calibri" pitchFamily="34" charset="-120"/>
              </a:rPr>
              <a:t>DETERMINISTIC</a:t>
            </a:r>
            <a:endParaRPr lang="en-US" sz="850" dirty="0"/>
          </a:p>
        </p:txBody>
      </p:sp>
      <p:sp>
        <p:nvSpPr>
          <p:cNvPr id="9" name="Text 7"/>
          <p:cNvSpPr/>
          <p:nvPr/>
        </p:nvSpPr>
        <p:spPr>
          <a:xfrm>
            <a:off x="804672" y="2798064"/>
            <a:ext cx="2231136" cy="1097280"/>
          </a:xfrm>
          <a:prstGeom prst="rect">
            <a:avLst/>
          </a:prstGeom>
          <a:noFill/>
          <a:ln/>
        </p:spPr>
        <p:txBody>
          <a:bodyPr wrap="square" lIns="0" tIns="0" rIns="0" bIns="0" rtlCol="0" anchor="ctr"/>
          <a:lstStyle/>
          <a:p>
            <a:pPr indent="0" marL="0">
              <a:buNone/>
            </a:pPr>
            <a:r>
              <a:rPr lang="en-US" sz="1000" dirty="0">
                <a:solidFill>
                  <a:srgbClr val="62757F"/>
                </a:solidFill>
                <a:latin typeface="Calibri" pitchFamily="34" charset="0"/>
                <a:ea typeface="Calibri" pitchFamily="34" charset="-122"/>
                <a:cs typeface="Calibri" pitchFamily="34" charset="-120"/>
              </a:rPr>
              <a:t>Statistical detection on business events — variance, thresholds, velocity. No LLM here. Statistics decide what fires; agents decide what it means.</a:t>
            </a:r>
            <a:endParaRPr lang="en-US" sz="1000" dirty="0"/>
          </a:p>
        </p:txBody>
      </p:sp>
      <p:sp>
        <p:nvSpPr>
          <p:cNvPr id="10" name="Text 8"/>
          <p:cNvSpPr/>
          <p:nvPr/>
        </p:nvSpPr>
        <p:spPr>
          <a:xfrm>
            <a:off x="3236976" y="2615184"/>
            <a:ext cx="219456" cy="329184"/>
          </a:xfrm>
          <a:prstGeom prst="rect">
            <a:avLst/>
          </a:prstGeom>
          <a:noFill/>
          <a:ln/>
        </p:spPr>
        <p:txBody>
          <a:bodyPr wrap="square" lIns="0" tIns="0" rIns="0" bIns="0" rtlCol="0" anchor="ctr"/>
          <a:lstStyle/>
          <a:p>
            <a:pPr algn="ctr" indent="0" marL="0">
              <a:buNone/>
            </a:pPr>
            <a:r>
              <a:rPr lang="en-US" sz="1700" b="1" dirty="0">
                <a:solidFill>
                  <a:srgbClr val="C8791E"/>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3429000" y="1517904"/>
            <a:ext cx="2670048" cy="2487168"/>
          </a:xfrm>
          <a:prstGeom prst="roundRect">
            <a:avLst>
              <a:gd name="adj" fmla="val 2574"/>
            </a:avLst>
          </a:prstGeom>
          <a:solidFill>
            <a:srgbClr val="F3F7F9"/>
          </a:solidFill>
          <a:ln/>
        </p:spPr>
      </p:sp>
      <p:sp>
        <p:nvSpPr>
          <p:cNvPr id="12" name="Shape 10"/>
          <p:cNvSpPr/>
          <p:nvPr/>
        </p:nvSpPr>
        <p:spPr>
          <a:xfrm>
            <a:off x="3666744" y="1719072"/>
            <a:ext cx="384048" cy="384048"/>
          </a:xfrm>
          <a:prstGeom prst="ellipse">
            <a:avLst/>
          </a:prstGeom>
          <a:solidFill>
            <a:srgbClr val="1C7293"/>
          </a:solidFill>
          <a:ln/>
        </p:spPr>
      </p:sp>
      <p:sp>
        <p:nvSpPr>
          <p:cNvPr id="13" name="Text 11"/>
          <p:cNvSpPr/>
          <p:nvPr/>
        </p:nvSpPr>
        <p:spPr>
          <a:xfrm>
            <a:off x="3666744"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666744" y="2194560"/>
            <a:ext cx="2194560" cy="310896"/>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Semantic layer</a:t>
            </a:r>
            <a:endParaRPr lang="en-US" sz="1600" dirty="0"/>
          </a:p>
        </p:txBody>
      </p:sp>
      <p:sp>
        <p:nvSpPr>
          <p:cNvPr id="15" name="Text 13"/>
          <p:cNvSpPr/>
          <p:nvPr/>
        </p:nvSpPr>
        <p:spPr>
          <a:xfrm>
            <a:off x="3666744" y="2523744"/>
            <a:ext cx="2194560" cy="219456"/>
          </a:xfrm>
          <a:prstGeom prst="rect">
            <a:avLst/>
          </a:prstGeom>
          <a:noFill/>
          <a:ln/>
        </p:spPr>
        <p:txBody>
          <a:bodyPr wrap="square" lIns="0" tIns="0" rIns="0" bIns="0" rtlCol="0" anchor="ctr"/>
          <a:lstStyle/>
          <a:p>
            <a:pPr indent="0" marL="0">
              <a:buNone/>
            </a:pPr>
            <a:r>
              <a:rPr lang="en-US" sz="850" b="1" spc="110" kern="0" dirty="0">
                <a:solidFill>
                  <a:srgbClr val="1C7293"/>
                </a:solidFill>
                <a:latin typeface="Calibri" pitchFamily="34" charset="0"/>
                <a:ea typeface="Calibri" pitchFamily="34" charset="-122"/>
                <a:cs typeface="Calibri" pitchFamily="34" charset="-120"/>
              </a:rPr>
              <a:t>THE MOAT</a:t>
            </a:r>
            <a:endParaRPr lang="en-US" sz="850" dirty="0"/>
          </a:p>
        </p:txBody>
      </p:sp>
      <p:sp>
        <p:nvSpPr>
          <p:cNvPr id="16" name="Text 14"/>
          <p:cNvSpPr/>
          <p:nvPr/>
        </p:nvSpPr>
        <p:spPr>
          <a:xfrm>
            <a:off x="3666744" y="2798064"/>
            <a:ext cx="2231136" cy="1097280"/>
          </a:xfrm>
          <a:prstGeom prst="rect">
            <a:avLst/>
          </a:prstGeom>
          <a:noFill/>
          <a:ln/>
        </p:spPr>
        <p:txBody>
          <a:bodyPr wrap="square" lIns="0" tIns="0" rIns="0" bIns="0" rtlCol="0" anchor="ctr"/>
          <a:lstStyle/>
          <a:p>
            <a:pPr indent="0" marL="0">
              <a:buNone/>
            </a:pPr>
            <a:r>
              <a:rPr lang="en-US" sz="1000" dirty="0">
                <a:solidFill>
                  <a:srgbClr val="62757F"/>
                </a:solidFill>
                <a:latin typeface="Calibri" pitchFamily="34" charset="0"/>
                <a:ea typeface="Calibri" pitchFamily="34" charset="-122"/>
                <a:cs typeface="Calibri" pitchFamily="34" charset="-120"/>
              </a:rPr>
              <a:t>Shared definitions of SKU, customer, market, period. Master-data work, not AI work. The prerequisite everyone skips.</a:t>
            </a:r>
            <a:endParaRPr lang="en-US" sz="1000" dirty="0"/>
          </a:p>
        </p:txBody>
      </p:sp>
      <p:sp>
        <p:nvSpPr>
          <p:cNvPr id="17" name="Text 15"/>
          <p:cNvSpPr/>
          <p:nvPr/>
        </p:nvSpPr>
        <p:spPr>
          <a:xfrm>
            <a:off x="6099048" y="2615184"/>
            <a:ext cx="219456" cy="329184"/>
          </a:xfrm>
          <a:prstGeom prst="rect">
            <a:avLst/>
          </a:prstGeom>
          <a:noFill/>
          <a:ln/>
        </p:spPr>
        <p:txBody>
          <a:bodyPr wrap="square" lIns="0" tIns="0" rIns="0" bIns="0" rtlCol="0" anchor="ctr"/>
          <a:lstStyle/>
          <a:p>
            <a:pPr algn="ctr" indent="0" marL="0">
              <a:buNone/>
            </a:pPr>
            <a:r>
              <a:rPr lang="en-US" sz="1700" b="1" dirty="0">
                <a:solidFill>
                  <a:srgbClr val="C8791E"/>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6291072" y="1517904"/>
            <a:ext cx="2670048" cy="2487168"/>
          </a:xfrm>
          <a:prstGeom prst="roundRect">
            <a:avLst>
              <a:gd name="adj" fmla="val 2574"/>
            </a:avLst>
          </a:prstGeom>
          <a:solidFill>
            <a:srgbClr val="F3F7F9"/>
          </a:solidFill>
          <a:ln/>
        </p:spPr>
      </p:sp>
      <p:sp>
        <p:nvSpPr>
          <p:cNvPr id="19" name="Shape 17"/>
          <p:cNvSpPr/>
          <p:nvPr/>
        </p:nvSpPr>
        <p:spPr>
          <a:xfrm>
            <a:off x="6528816" y="1719072"/>
            <a:ext cx="384048" cy="384048"/>
          </a:xfrm>
          <a:prstGeom prst="ellipse">
            <a:avLst/>
          </a:prstGeom>
          <a:solidFill>
            <a:srgbClr val="3E8CAA"/>
          </a:solidFill>
          <a:ln/>
        </p:spPr>
      </p:sp>
      <p:sp>
        <p:nvSpPr>
          <p:cNvPr id="20" name="Text 18"/>
          <p:cNvSpPr/>
          <p:nvPr/>
        </p:nvSpPr>
        <p:spPr>
          <a:xfrm>
            <a:off x="6528816"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528816" y="2194560"/>
            <a:ext cx="2194560" cy="310896"/>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Assembly</a:t>
            </a:r>
            <a:endParaRPr lang="en-US" sz="1600" dirty="0"/>
          </a:p>
        </p:txBody>
      </p:sp>
      <p:sp>
        <p:nvSpPr>
          <p:cNvPr id="22" name="Text 20"/>
          <p:cNvSpPr/>
          <p:nvPr/>
        </p:nvSpPr>
        <p:spPr>
          <a:xfrm>
            <a:off x="6528816" y="2523744"/>
            <a:ext cx="2194560" cy="219456"/>
          </a:xfrm>
          <a:prstGeom prst="rect">
            <a:avLst/>
          </a:prstGeom>
          <a:noFill/>
          <a:ln/>
        </p:spPr>
        <p:txBody>
          <a:bodyPr wrap="square" lIns="0" tIns="0" rIns="0" bIns="0" rtlCol="0" anchor="ctr"/>
          <a:lstStyle/>
          <a:p>
            <a:pPr indent="0" marL="0">
              <a:buNone/>
            </a:pPr>
            <a:r>
              <a:rPr lang="en-US" sz="850" b="1" spc="110" kern="0" dirty="0">
                <a:solidFill>
                  <a:srgbClr val="3E8CAA"/>
                </a:solidFill>
                <a:latin typeface="Calibri" pitchFamily="34" charset="0"/>
                <a:ea typeface="Calibri" pitchFamily="34" charset="-122"/>
                <a:cs typeface="Calibri" pitchFamily="34" charset="-120"/>
              </a:rPr>
              <a:t>PARALLEL</a:t>
            </a:r>
            <a:endParaRPr lang="en-US" sz="850" dirty="0"/>
          </a:p>
        </p:txBody>
      </p:sp>
      <p:sp>
        <p:nvSpPr>
          <p:cNvPr id="23" name="Text 21"/>
          <p:cNvSpPr/>
          <p:nvPr/>
        </p:nvSpPr>
        <p:spPr>
          <a:xfrm>
            <a:off x="6528816" y="2798064"/>
            <a:ext cx="2231136" cy="1097280"/>
          </a:xfrm>
          <a:prstGeom prst="rect">
            <a:avLst/>
          </a:prstGeom>
          <a:noFill/>
          <a:ln/>
        </p:spPr>
        <p:txBody>
          <a:bodyPr wrap="square" lIns="0" tIns="0" rIns="0" bIns="0" rtlCol="0" anchor="ctr"/>
          <a:lstStyle/>
          <a:p>
            <a:pPr indent="0" marL="0">
              <a:buNone/>
            </a:pPr>
            <a:r>
              <a:rPr lang="en-US" sz="1000" dirty="0">
                <a:solidFill>
                  <a:srgbClr val="62757F"/>
                </a:solidFill>
                <a:latin typeface="Calibri" pitchFamily="34" charset="0"/>
                <a:ea typeface="Calibri" pitchFamily="34" charset="-122"/>
                <a:cs typeface="Calibri" pitchFamily="34" charset="-120"/>
              </a:rPr>
              <a:t>Cross-domain context gathering. This is where sub-agents are genuinely justified, because the lookups are independent of each other.</a:t>
            </a:r>
            <a:endParaRPr lang="en-US" sz="1000" dirty="0"/>
          </a:p>
        </p:txBody>
      </p:sp>
      <p:sp>
        <p:nvSpPr>
          <p:cNvPr id="24" name="Text 22"/>
          <p:cNvSpPr/>
          <p:nvPr/>
        </p:nvSpPr>
        <p:spPr>
          <a:xfrm>
            <a:off x="8961120" y="2615184"/>
            <a:ext cx="219456" cy="329184"/>
          </a:xfrm>
          <a:prstGeom prst="rect">
            <a:avLst/>
          </a:prstGeom>
          <a:noFill/>
          <a:ln/>
        </p:spPr>
        <p:txBody>
          <a:bodyPr wrap="square" lIns="0" tIns="0" rIns="0" bIns="0" rtlCol="0" anchor="ctr"/>
          <a:lstStyle/>
          <a:p>
            <a:pPr algn="ctr" indent="0" marL="0">
              <a:buNone/>
            </a:pPr>
            <a:r>
              <a:rPr lang="en-US" sz="1700" b="1" dirty="0">
                <a:solidFill>
                  <a:srgbClr val="C8791E"/>
                </a:solidFill>
                <a:latin typeface="Calibri" pitchFamily="34" charset="0"/>
                <a:ea typeface="Calibri" pitchFamily="34" charset="-122"/>
                <a:cs typeface="Calibri" pitchFamily="34" charset="-120"/>
              </a:rPr>
              <a:t>→</a:t>
            </a:r>
            <a:endParaRPr lang="en-US" sz="1700" dirty="0"/>
          </a:p>
        </p:txBody>
      </p:sp>
      <p:sp>
        <p:nvSpPr>
          <p:cNvPr id="25" name="Shape 23"/>
          <p:cNvSpPr/>
          <p:nvPr/>
        </p:nvSpPr>
        <p:spPr>
          <a:xfrm>
            <a:off x="9153144" y="1517904"/>
            <a:ext cx="2670048" cy="2487168"/>
          </a:xfrm>
          <a:prstGeom prst="roundRect">
            <a:avLst>
              <a:gd name="adj" fmla="val 2574"/>
            </a:avLst>
          </a:prstGeom>
          <a:solidFill>
            <a:srgbClr val="F3F7F9"/>
          </a:solidFill>
          <a:ln/>
        </p:spPr>
      </p:sp>
      <p:sp>
        <p:nvSpPr>
          <p:cNvPr id="26" name="Shape 24"/>
          <p:cNvSpPr/>
          <p:nvPr/>
        </p:nvSpPr>
        <p:spPr>
          <a:xfrm>
            <a:off x="9390888" y="1719072"/>
            <a:ext cx="384048" cy="384048"/>
          </a:xfrm>
          <a:prstGeom prst="ellipse">
            <a:avLst/>
          </a:prstGeom>
          <a:solidFill>
            <a:srgbClr val="5BA3BE"/>
          </a:solidFill>
          <a:ln/>
        </p:spPr>
      </p:sp>
      <p:sp>
        <p:nvSpPr>
          <p:cNvPr id="27" name="Text 25"/>
          <p:cNvSpPr/>
          <p:nvPr/>
        </p:nvSpPr>
        <p:spPr>
          <a:xfrm>
            <a:off x="9390888"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9390888" y="2194560"/>
            <a:ext cx="2194560" cy="310896"/>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Judgment</a:t>
            </a:r>
            <a:endParaRPr lang="en-US" sz="1600" dirty="0"/>
          </a:p>
        </p:txBody>
      </p:sp>
      <p:sp>
        <p:nvSpPr>
          <p:cNvPr id="29" name="Text 27"/>
          <p:cNvSpPr/>
          <p:nvPr/>
        </p:nvSpPr>
        <p:spPr>
          <a:xfrm>
            <a:off x="9390888" y="2523744"/>
            <a:ext cx="2194560" cy="219456"/>
          </a:xfrm>
          <a:prstGeom prst="rect">
            <a:avLst/>
          </a:prstGeom>
          <a:noFill/>
          <a:ln/>
        </p:spPr>
        <p:txBody>
          <a:bodyPr wrap="square" lIns="0" tIns="0" rIns="0" bIns="0" rtlCol="0" anchor="ctr"/>
          <a:lstStyle/>
          <a:p>
            <a:pPr indent="0" marL="0">
              <a:buNone/>
            </a:pPr>
            <a:r>
              <a:rPr lang="en-US" sz="850" b="1" spc="110" kern="0" dirty="0">
                <a:solidFill>
                  <a:srgbClr val="5BA3BE"/>
                </a:solidFill>
                <a:latin typeface="Calibri" pitchFamily="34" charset="0"/>
                <a:ea typeface="Calibri" pitchFamily="34" charset="-122"/>
                <a:cs typeface="Calibri" pitchFamily="34" charset="-120"/>
              </a:rPr>
              <a:t>SINGLE AGENT</a:t>
            </a:r>
            <a:endParaRPr lang="en-US" sz="850" dirty="0"/>
          </a:p>
        </p:txBody>
      </p:sp>
      <p:sp>
        <p:nvSpPr>
          <p:cNvPr id="30" name="Text 28"/>
          <p:cNvSpPr/>
          <p:nvPr/>
        </p:nvSpPr>
        <p:spPr>
          <a:xfrm>
            <a:off x="9390888" y="2798064"/>
            <a:ext cx="2231136" cy="1097280"/>
          </a:xfrm>
          <a:prstGeom prst="rect">
            <a:avLst/>
          </a:prstGeom>
          <a:noFill/>
          <a:ln/>
        </p:spPr>
        <p:txBody>
          <a:bodyPr wrap="square" lIns="0" tIns="0" rIns="0" bIns="0" rtlCol="0" anchor="ctr"/>
          <a:lstStyle/>
          <a:p>
            <a:pPr indent="0" marL="0">
              <a:buNone/>
            </a:pPr>
            <a:r>
              <a:rPr lang="en-US" sz="1000" dirty="0">
                <a:solidFill>
                  <a:srgbClr val="62757F"/>
                </a:solidFill>
                <a:latin typeface="Calibri" pitchFamily="34" charset="0"/>
                <a:ea typeface="Calibri" pitchFamily="34" charset="-122"/>
                <a:cs typeface="Calibri" pitchFamily="34" charset="-120"/>
              </a:rPr>
              <a:t>One agent forms the recommendation with confidence and dissenting evidence. One question, so one agent — not a negotiation.</a:t>
            </a:r>
            <a:endParaRPr lang="en-US" sz="1000" dirty="0"/>
          </a:p>
        </p:txBody>
      </p:sp>
      <p:sp>
        <p:nvSpPr>
          <p:cNvPr id="31" name="Shape 29"/>
          <p:cNvSpPr/>
          <p:nvPr/>
        </p:nvSpPr>
        <p:spPr>
          <a:xfrm>
            <a:off x="566928" y="4224528"/>
            <a:ext cx="11064240" cy="749808"/>
          </a:xfrm>
          <a:prstGeom prst="roundRect">
            <a:avLst>
              <a:gd name="adj" fmla="val 8537"/>
            </a:avLst>
          </a:prstGeom>
          <a:solidFill>
            <a:srgbClr val="21295C"/>
          </a:solidFill>
          <a:ln/>
        </p:spPr>
      </p:sp>
      <p:sp>
        <p:nvSpPr>
          <p:cNvPr id="32" name="Text 30"/>
          <p:cNvSpPr/>
          <p:nvPr/>
        </p:nvSpPr>
        <p:spPr>
          <a:xfrm>
            <a:off x="841248" y="4425696"/>
            <a:ext cx="274320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Then a human decides.</a:t>
            </a:r>
            <a:endParaRPr lang="en-US" sz="1600" dirty="0"/>
          </a:p>
        </p:txBody>
      </p:sp>
      <p:sp>
        <p:nvSpPr>
          <p:cNvPr id="33" name="Text 31"/>
          <p:cNvSpPr/>
          <p:nvPr/>
        </p:nvSpPr>
        <p:spPr>
          <a:xfrm>
            <a:off x="3749040" y="4462272"/>
            <a:ext cx="7680960" cy="402336"/>
          </a:xfrm>
          <a:prstGeom prst="rect">
            <a:avLst/>
          </a:prstGeom>
          <a:noFill/>
          <a:ln/>
        </p:spPr>
        <p:txBody>
          <a:bodyPr wrap="square" lIns="0" tIns="0" rIns="0" bIns="0" rtlCol="0" anchor="ctr"/>
          <a:lstStyle/>
          <a:p>
            <a:pPr indent="0" marL="0">
              <a:buNone/>
            </a:pPr>
            <a:r>
              <a:rPr lang="en-US" sz="1150" dirty="0">
                <a:solidFill>
                  <a:srgbClr val="D6E4EC"/>
                </a:solidFill>
                <a:latin typeface="Calibri" pitchFamily="34" charset="0"/>
                <a:ea typeface="Calibri" pitchFamily="34" charset="-122"/>
                <a:cs typeface="Calibri" pitchFamily="34" charset="-120"/>
              </a:rPr>
              <a:t>Every use case below ends at a human checkpoint. None of them commit spend, move inventory, or write to a system of record autonomously.</a:t>
            </a:r>
            <a:endParaRPr lang="en-US" sz="1150" dirty="0"/>
          </a:p>
        </p:txBody>
      </p:sp>
      <p:sp>
        <p:nvSpPr>
          <p:cNvPr id="34" name="Text 32"/>
          <p:cNvSpPr/>
          <p:nvPr/>
        </p:nvSpPr>
        <p:spPr>
          <a:xfrm>
            <a:off x="566928" y="5175504"/>
            <a:ext cx="11064240" cy="457200"/>
          </a:xfrm>
          <a:prstGeom prst="rect">
            <a:avLst/>
          </a:prstGeom>
          <a:noFill/>
          <a:ln/>
        </p:spPr>
        <p:txBody>
          <a:bodyPr wrap="square" lIns="0" tIns="0" rIns="0" bIns="0" rtlCol="0" anchor="ctr"/>
          <a:lstStyle/>
          <a:p>
            <a:pPr indent="0" marL="0">
              <a:buNone/>
            </a:pPr>
            <a:r>
              <a:rPr lang="en-US" sz="1150" i="1" dirty="0">
                <a:solidFill>
                  <a:srgbClr val="065A82"/>
                </a:solidFill>
                <a:latin typeface="Calibri" pitchFamily="34" charset="0"/>
                <a:ea typeface="Calibri" pitchFamily="34" charset="-122"/>
                <a:cs typeface="Calibri" pitchFamily="34" charset="-120"/>
              </a:rPr>
              <a:t>The Buddy vocabulary survives all of this — the assembly layer can absolutely be called Product Buddy and Sales Buddy in the interface. It just isn't six independent processes arguing at runtime.</a:t>
            </a:r>
            <a:endParaRPr lang="en-US" sz="1150" dirty="0"/>
          </a:p>
        </p:txBody>
      </p:sp>
      <p:sp>
        <p:nvSpPr>
          <p:cNvPr id="35" name="Text 33"/>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36" name="Text 34"/>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Orchestrated, not autonomous</a:t>
            </a:r>
            <a:endParaRPr lang="en-US" sz="2800" dirty="0"/>
          </a:p>
        </p:txBody>
      </p:sp>
      <p:sp>
        <p:nvSpPr>
          <p:cNvPr id="4" name="Shape 2"/>
          <p:cNvSpPr/>
          <p:nvPr/>
        </p:nvSpPr>
        <p:spPr>
          <a:xfrm>
            <a:off x="566928" y="1481328"/>
            <a:ext cx="5394960" cy="2395728"/>
          </a:xfrm>
          <a:prstGeom prst="roundRect">
            <a:avLst>
              <a:gd name="adj" fmla="val 2672"/>
            </a:avLst>
          </a:prstGeom>
          <a:solidFill>
            <a:srgbClr val="F3F7F9"/>
          </a:solidFill>
          <a:ln/>
        </p:spPr>
      </p:sp>
      <p:sp>
        <p:nvSpPr>
          <p:cNvPr id="5" name="Text 3"/>
          <p:cNvSpPr/>
          <p:nvPr/>
        </p:nvSpPr>
        <p:spPr>
          <a:xfrm>
            <a:off x="822960" y="1664208"/>
            <a:ext cx="4937760" cy="310896"/>
          </a:xfrm>
          <a:prstGeom prst="rect">
            <a:avLst/>
          </a:prstGeom>
          <a:noFill/>
          <a:ln/>
        </p:spPr>
        <p:txBody>
          <a:bodyPr wrap="square" lIns="0" tIns="0" rIns="0" bIns="0" rtlCol="0" anchor="ctr"/>
          <a:lstStyle/>
          <a:p>
            <a:pPr indent="0" marL="0">
              <a:buNone/>
            </a:pPr>
            <a:r>
              <a:rPr lang="en-US" sz="1700" b="1" dirty="0">
                <a:solidFill>
                  <a:srgbClr val="62757F"/>
                </a:solidFill>
                <a:latin typeface="Cambria" pitchFamily="34" charset="0"/>
                <a:ea typeface="Cambria" pitchFamily="34" charset="-122"/>
                <a:cs typeface="Cambria" pitchFamily="34" charset="-120"/>
              </a:rPr>
              <a:t>Autonomous mesh</a:t>
            </a:r>
            <a:endParaRPr lang="en-US" sz="1700" dirty="0"/>
          </a:p>
        </p:txBody>
      </p:sp>
      <p:sp>
        <p:nvSpPr>
          <p:cNvPr id="6" name="Text 4"/>
          <p:cNvSpPr/>
          <p:nvPr/>
        </p:nvSpPr>
        <p:spPr>
          <a:xfrm>
            <a:off x="822960" y="1993392"/>
            <a:ext cx="4937760" cy="219456"/>
          </a:xfrm>
          <a:prstGeom prst="rect">
            <a:avLst/>
          </a:prstGeom>
          <a:noFill/>
          <a:ln/>
        </p:spPr>
        <p:txBody>
          <a:bodyPr wrap="square" lIns="0" tIns="0" rIns="0" bIns="0" rtlCol="0" anchor="ctr"/>
          <a:lstStyle/>
          <a:p>
            <a:pPr indent="0" marL="0">
              <a:buNone/>
            </a:pPr>
            <a:r>
              <a:rPr lang="en-US" sz="850" b="1" spc="110" kern="0" dirty="0">
                <a:solidFill>
                  <a:srgbClr val="9E3B32"/>
                </a:solidFill>
                <a:latin typeface="Calibri" pitchFamily="34" charset="0"/>
                <a:ea typeface="Calibri" pitchFamily="34" charset="-122"/>
                <a:cs typeface="Calibri" pitchFamily="34" charset="-120"/>
              </a:rPr>
              <a:t>ORIGINAL CONCEPT</a:t>
            </a:r>
            <a:endParaRPr lang="en-US" sz="850" dirty="0"/>
          </a:p>
        </p:txBody>
      </p:sp>
      <p:sp>
        <p:nvSpPr>
          <p:cNvPr id="7" name="Text 5"/>
          <p:cNvSpPr/>
          <p:nvPr/>
        </p:nvSpPr>
        <p:spPr>
          <a:xfrm>
            <a:off x="841248" y="2286000"/>
            <a:ext cx="4937760" cy="1481328"/>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6222B"/>
                </a:solidFill>
                <a:latin typeface="Calibri" pitchFamily="34" charset="0"/>
                <a:ea typeface="Calibri" pitchFamily="34" charset="-122"/>
                <a:cs typeface="Calibri" pitchFamily="34" charset="-120"/>
              </a:rPr>
              <a:t>Agents observe continuously and initiate contact with each other</a:t>
            </a:r>
            <a:endParaRPr lang="en-US" sz="1100" dirty="0"/>
          </a:p>
          <a:p>
            <a:pPr marL="342900" indent="-342900">
              <a:spcAft>
                <a:spcPts val="600"/>
              </a:spcAft>
              <a:buSzPct val="100000"/>
              <a:buChar char="•"/>
            </a:pPr>
            <a:r>
              <a:rPr lang="en-US" sz="1100" dirty="0">
                <a:solidFill>
                  <a:srgbClr val="16222B"/>
                </a:solidFill>
                <a:latin typeface="Calibri" pitchFamily="34" charset="0"/>
                <a:ea typeface="Calibri" pitchFamily="34" charset="-122"/>
                <a:cs typeface="Calibri" pitchFamily="34" charset="-120"/>
              </a:rPr>
              <a:t>Peer-to-peer, emergent, no single point of control</a:t>
            </a:r>
            <a:endParaRPr lang="en-US" sz="1100" dirty="0"/>
          </a:p>
          <a:p>
            <a:pPr marL="342900" indent="-342900">
              <a:spcAft>
                <a:spcPts val="600"/>
              </a:spcAft>
              <a:buSzPct val="100000"/>
              <a:buChar char="•"/>
            </a:pPr>
            <a:r>
              <a:rPr lang="en-US" sz="1100" dirty="0">
                <a:solidFill>
                  <a:srgbClr val="16222B"/>
                </a:solidFill>
                <a:latin typeface="Calibri" pitchFamily="34" charset="0"/>
                <a:ea typeface="Calibri" pitchFamily="34" charset="-122"/>
                <a:cs typeface="Calibri" pitchFamily="34" charset="-120"/>
              </a:rPr>
              <a:t>Context degrades along each handoff — the telephone game</a:t>
            </a:r>
            <a:endParaRPr lang="en-US" sz="1100" dirty="0"/>
          </a:p>
          <a:p>
            <a:pPr marL="342900" indent="-342900">
              <a:spcAft>
                <a:spcPts val="600"/>
              </a:spcAft>
              <a:buSzPct val="100000"/>
              <a:buChar char="•"/>
            </a:pPr>
            <a:r>
              <a:rPr lang="en-US" sz="1100" dirty="0">
                <a:solidFill>
                  <a:srgbClr val="16222B"/>
                </a:solidFill>
                <a:latin typeface="Calibri" pitchFamily="34" charset="0"/>
                <a:ea typeface="Calibri" pitchFamily="34" charset="-122"/>
                <a:cs typeface="Calibri" pitchFamily="34" charset="-120"/>
              </a:rPr>
              <a:t>Berkeley MAST: 41–86.7% failure rates across 7 frameworks</a:t>
            </a:r>
            <a:endParaRPr lang="en-US" sz="1100" dirty="0"/>
          </a:p>
        </p:txBody>
      </p:sp>
      <p:sp>
        <p:nvSpPr>
          <p:cNvPr id="8" name="Shape 6"/>
          <p:cNvSpPr/>
          <p:nvPr/>
        </p:nvSpPr>
        <p:spPr>
          <a:xfrm>
            <a:off x="6236208" y="1481328"/>
            <a:ext cx="5394960" cy="2395728"/>
          </a:xfrm>
          <a:prstGeom prst="roundRect">
            <a:avLst>
              <a:gd name="adj" fmla="val 2672"/>
            </a:avLst>
          </a:prstGeom>
          <a:solidFill>
            <a:srgbClr val="21295C"/>
          </a:solidFill>
          <a:ln/>
        </p:spPr>
      </p:sp>
      <p:sp>
        <p:nvSpPr>
          <p:cNvPr id="9" name="Text 7"/>
          <p:cNvSpPr/>
          <p:nvPr/>
        </p:nvSpPr>
        <p:spPr>
          <a:xfrm>
            <a:off x="6492240" y="1664208"/>
            <a:ext cx="4937760" cy="31089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Orchestrated sub-agents</a:t>
            </a:r>
            <a:endParaRPr lang="en-US" sz="1700" dirty="0"/>
          </a:p>
        </p:txBody>
      </p:sp>
      <p:sp>
        <p:nvSpPr>
          <p:cNvPr id="10" name="Text 8"/>
          <p:cNvSpPr/>
          <p:nvPr/>
        </p:nvSpPr>
        <p:spPr>
          <a:xfrm>
            <a:off x="6492240" y="1993392"/>
            <a:ext cx="4937760" cy="219456"/>
          </a:xfrm>
          <a:prstGeom prst="rect">
            <a:avLst/>
          </a:prstGeom>
          <a:noFill/>
          <a:ln/>
        </p:spPr>
        <p:txBody>
          <a:bodyPr wrap="square" lIns="0" tIns="0" rIns="0" bIns="0" rtlCol="0" anchor="ctr"/>
          <a:lstStyle/>
          <a:p>
            <a:pPr indent="0" marL="0">
              <a:buNone/>
            </a:pPr>
            <a:r>
              <a:rPr lang="en-US" sz="850" b="1" spc="110" kern="0" dirty="0">
                <a:solidFill>
                  <a:srgbClr val="C8791E"/>
                </a:solidFill>
                <a:latin typeface="Calibri" pitchFamily="34" charset="0"/>
                <a:ea typeface="Calibri" pitchFamily="34" charset="-122"/>
                <a:cs typeface="Calibri" pitchFamily="34" charset="-120"/>
              </a:rPr>
              <a:t>WHAT THESE USE CASES ASSUME</a:t>
            </a:r>
            <a:endParaRPr lang="en-US" sz="850" dirty="0"/>
          </a:p>
        </p:txBody>
      </p:sp>
      <p:sp>
        <p:nvSpPr>
          <p:cNvPr id="11" name="Text 9"/>
          <p:cNvSpPr/>
          <p:nvPr/>
        </p:nvSpPr>
        <p:spPr>
          <a:xfrm>
            <a:off x="6510528" y="2286000"/>
            <a:ext cx="4937760" cy="1481328"/>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D6E4EC"/>
                </a:solidFill>
                <a:latin typeface="Calibri" pitchFamily="34" charset="0"/>
                <a:ea typeface="Calibri" pitchFamily="34" charset="-122"/>
                <a:cs typeface="Calibri" pitchFamily="34" charset="-120"/>
              </a:rPr>
              <a:t>One orchestrator decides who is invoked, when, with what inputs</a:t>
            </a:r>
            <a:endParaRPr lang="en-US" sz="1100" dirty="0"/>
          </a:p>
          <a:p>
            <a:pPr marL="342900" indent="-342900">
              <a:spcAft>
                <a:spcPts val="600"/>
              </a:spcAft>
              <a:buSzPct val="100000"/>
              <a:buChar char="•"/>
            </a:pPr>
            <a:r>
              <a:rPr lang="en-US" sz="1100" dirty="0">
                <a:solidFill>
                  <a:srgbClr val="D6E4EC"/>
                </a:solidFill>
                <a:latin typeface="Calibri" pitchFamily="34" charset="0"/>
                <a:ea typeface="Calibri" pitchFamily="34" charset="-122"/>
                <a:cs typeface="Calibri" pitchFamily="34" charset="-120"/>
              </a:rPr>
              <a:t>Sub-agents never talk to each other — star topology, no chain</a:t>
            </a:r>
            <a:endParaRPr lang="en-US" sz="1100" dirty="0"/>
          </a:p>
          <a:p>
            <a:pPr marL="342900" indent="-342900">
              <a:spcAft>
                <a:spcPts val="600"/>
              </a:spcAft>
              <a:buSzPct val="100000"/>
              <a:buChar char="•"/>
            </a:pPr>
            <a:r>
              <a:rPr lang="en-US" sz="1100" dirty="0">
                <a:solidFill>
                  <a:srgbClr val="D6E4EC"/>
                </a:solidFill>
                <a:latin typeface="Calibri" pitchFamily="34" charset="0"/>
                <a:ea typeface="Calibri" pitchFamily="34" charset="-122"/>
                <a:cs typeface="Calibri" pitchFamily="34" charset="-120"/>
              </a:rPr>
              <a:t>Kills inter-agent misalignment, roughly a third of observed failures</a:t>
            </a:r>
            <a:endParaRPr lang="en-US" sz="1100" dirty="0"/>
          </a:p>
          <a:p>
            <a:pPr marL="342900" indent="-342900">
              <a:spcAft>
                <a:spcPts val="600"/>
              </a:spcAft>
              <a:buSzPct val="100000"/>
              <a:buChar char="•"/>
            </a:pPr>
            <a:r>
              <a:rPr lang="en-US" sz="1100" dirty="0">
                <a:solidFill>
                  <a:srgbClr val="D6E4EC"/>
                </a:solidFill>
                <a:latin typeface="Calibri" pitchFamily="34" charset="0"/>
                <a:ea typeface="Calibri" pitchFamily="34" charset="-122"/>
                <a:cs typeface="Calibri" pitchFamily="34" charset="-120"/>
              </a:rPr>
              <a:t>The pattern Anthropic actually shipped in its research system</a:t>
            </a:r>
            <a:endParaRPr lang="en-US" sz="1100" dirty="0"/>
          </a:p>
        </p:txBody>
      </p:sp>
      <p:sp>
        <p:nvSpPr>
          <p:cNvPr id="12" name="Shape 10"/>
          <p:cNvSpPr/>
          <p:nvPr/>
        </p:nvSpPr>
        <p:spPr>
          <a:xfrm>
            <a:off x="566928" y="4096512"/>
            <a:ext cx="11064240" cy="932688"/>
          </a:xfrm>
          <a:prstGeom prst="roundRect">
            <a:avLst>
              <a:gd name="adj" fmla="val 6863"/>
            </a:avLst>
          </a:prstGeom>
          <a:solidFill>
            <a:srgbClr val="FFFFFF"/>
          </a:solidFill>
          <a:ln w="12700">
            <a:solidFill>
              <a:srgbClr val="CFDDE5"/>
            </a:solidFill>
            <a:prstDash val="solid"/>
          </a:ln>
        </p:spPr>
      </p:sp>
      <p:sp>
        <p:nvSpPr>
          <p:cNvPr id="13" name="Text 11"/>
          <p:cNvSpPr/>
          <p:nvPr/>
        </p:nvSpPr>
        <p:spPr>
          <a:xfrm>
            <a:off x="841248" y="4315968"/>
            <a:ext cx="1005840" cy="2743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The trade:</a:t>
            </a:r>
            <a:endParaRPr lang="en-US" sz="1250" dirty="0"/>
          </a:p>
        </p:txBody>
      </p:sp>
      <p:sp>
        <p:nvSpPr>
          <p:cNvPr id="14" name="Text 12"/>
          <p:cNvSpPr/>
          <p:nvPr/>
        </p:nvSpPr>
        <p:spPr>
          <a:xfrm>
            <a:off x="1920240" y="4279392"/>
            <a:ext cx="9509760" cy="566928"/>
          </a:xfrm>
          <a:prstGeom prst="rect">
            <a:avLst/>
          </a:prstGeom>
          <a:noFill/>
          <a:ln/>
        </p:spPr>
        <p:txBody>
          <a:bodyPr wrap="square" lIns="0" tIns="0" rIns="0" bIns="0" rtlCol="0" anchor="ctr"/>
          <a:lstStyle/>
          <a:p>
            <a:pPr indent="0" marL="0">
              <a:buNone/>
            </a:pPr>
            <a:r>
              <a:rPr lang="en-US" sz="1150" dirty="0">
                <a:solidFill>
                  <a:srgbClr val="16222B"/>
                </a:solidFill>
                <a:latin typeface="Calibri" pitchFamily="34" charset="0"/>
                <a:ea typeface="Calibri" pitchFamily="34" charset="-122"/>
                <a:cs typeface="Calibri" pitchFamily="34" charset="-120"/>
              </a:rPr>
              <a:t>Orchestration gives up emergence — the system will not surprise you by discovering a connection nobody designed for. Given that emergence in production multi-agent systems mostly manifests as bugs, that is a trade worth making.</a:t>
            </a:r>
            <a:endParaRPr lang="en-US" sz="1150" dirty="0"/>
          </a:p>
        </p:txBody>
      </p:sp>
      <p:sp>
        <p:nvSpPr>
          <p:cNvPr id="15" name="Shape 13"/>
          <p:cNvSpPr/>
          <p:nvPr/>
        </p:nvSpPr>
        <p:spPr>
          <a:xfrm>
            <a:off x="566928" y="5175504"/>
            <a:ext cx="11064240" cy="822960"/>
          </a:xfrm>
          <a:prstGeom prst="roundRect">
            <a:avLst>
              <a:gd name="adj" fmla="val 7778"/>
            </a:avLst>
          </a:prstGeom>
          <a:solidFill>
            <a:srgbClr val="F3F7F9"/>
          </a:solidFill>
          <a:ln/>
        </p:spPr>
      </p:sp>
      <p:sp>
        <p:nvSpPr>
          <p:cNvPr id="16" name="Text 14"/>
          <p:cNvSpPr/>
          <p:nvPr/>
        </p:nvSpPr>
        <p:spPr>
          <a:xfrm>
            <a:off x="841248" y="5340096"/>
            <a:ext cx="173736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Agent or tool?</a:t>
            </a:r>
            <a:endParaRPr lang="en-US" sz="1200" dirty="0"/>
          </a:p>
        </p:txBody>
      </p:sp>
      <p:sp>
        <p:nvSpPr>
          <p:cNvPr id="17" name="Text 15"/>
          <p:cNvSpPr/>
          <p:nvPr/>
        </p:nvSpPr>
        <p:spPr>
          <a:xfrm>
            <a:off x="2651760" y="5303520"/>
            <a:ext cx="8778240" cy="566928"/>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Test before building each Buddy: write the question the orchestrator will ask it. If that question has a deterministic answer, make it a tool, not an agent. Expect two or three of six to be genuine agents — that is a healthy outcome, not a failure.</a:t>
            </a:r>
            <a:endParaRPr lang="en-US" sz="110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D6E4EC"/>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five-part filter applied to every option</a:t>
            </a:r>
            <a:endParaRPr lang="en-US" sz="2800" dirty="0"/>
          </a:p>
        </p:txBody>
      </p:sp>
      <p:sp>
        <p:nvSpPr>
          <p:cNvPr id="4" name="Shape 2"/>
          <p:cNvSpPr/>
          <p:nvPr/>
        </p:nvSpPr>
        <p:spPr>
          <a:xfrm>
            <a:off x="566928" y="1517904"/>
            <a:ext cx="11064240" cy="749808"/>
          </a:xfrm>
          <a:prstGeom prst="roundRect">
            <a:avLst>
              <a:gd name="adj" fmla="val 8537"/>
            </a:avLst>
          </a:prstGeom>
          <a:solidFill>
            <a:srgbClr val="2C3670"/>
          </a:solidFill>
          <a:ln/>
        </p:spPr>
      </p:sp>
      <p:sp>
        <p:nvSpPr>
          <p:cNvPr id="5" name="Shape 3"/>
          <p:cNvSpPr/>
          <p:nvPr/>
        </p:nvSpPr>
        <p:spPr>
          <a:xfrm>
            <a:off x="804672" y="1700784"/>
            <a:ext cx="384048" cy="384048"/>
          </a:xfrm>
          <a:prstGeom prst="ellipse">
            <a:avLst/>
          </a:prstGeom>
          <a:solidFill>
            <a:srgbClr val="C8791E"/>
          </a:solidFill>
          <a:ln/>
        </p:spPr>
      </p:sp>
      <p:sp>
        <p:nvSpPr>
          <p:cNvPr id="6" name="Text 4"/>
          <p:cNvSpPr/>
          <p:nvPr/>
        </p:nvSpPr>
        <p:spPr>
          <a:xfrm>
            <a:off x="804672" y="1700784"/>
            <a:ext cx="384048" cy="384048"/>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737360"/>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Recurring decision</a:t>
            </a:r>
            <a:endParaRPr lang="en-US" sz="1300" dirty="0"/>
          </a:p>
        </p:txBody>
      </p:sp>
      <p:sp>
        <p:nvSpPr>
          <p:cNvPr id="8" name="Text 6"/>
          <p:cNvSpPr/>
          <p:nvPr/>
        </p:nvSpPr>
        <p:spPr>
          <a:xfrm>
            <a:off x="4114800" y="1719072"/>
            <a:ext cx="7315200" cy="384048"/>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Someone already makes this call on a schedule. Gives you a slot to insert into and a baseline to measure against.</a:t>
            </a:r>
            <a:endParaRPr lang="en-US" sz="1050" dirty="0"/>
          </a:p>
        </p:txBody>
      </p:sp>
      <p:sp>
        <p:nvSpPr>
          <p:cNvPr id="9" name="Shape 7"/>
          <p:cNvSpPr/>
          <p:nvPr/>
        </p:nvSpPr>
        <p:spPr>
          <a:xfrm>
            <a:off x="566928" y="2340864"/>
            <a:ext cx="11064240" cy="749808"/>
          </a:xfrm>
          <a:prstGeom prst="roundRect">
            <a:avLst>
              <a:gd name="adj" fmla="val 8537"/>
            </a:avLst>
          </a:prstGeom>
          <a:solidFill>
            <a:srgbClr val="2C3670"/>
          </a:solidFill>
          <a:ln/>
        </p:spPr>
      </p:sp>
      <p:sp>
        <p:nvSpPr>
          <p:cNvPr id="10" name="Shape 8"/>
          <p:cNvSpPr/>
          <p:nvPr/>
        </p:nvSpPr>
        <p:spPr>
          <a:xfrm>
            <a:off x="804672" y="2523744"/>
            <a:ext cx="384048" cy="384048"/>
          </a:xfrm>
          <a:prstGeom prst="ellipse">
            <a:avLst/>
          </a:prstGeom>
          <a:solidFill>
            <a:srgbClr val="C8791E"/>
          </a:solidFill>
          <a:ln/>
        </p:spPr>
      </p:sp>
      <p:sp>
        <p:nvSpPr>
          <p:cNvPr id="11" name="Text 9"/>
          <p:cNvSpPr/>
          <p:nvPr/>
        </p:nvSpPr>
        <p:spPr>
          <a:xfrm>
            <a:off x="804672" y="2523744"/>
            <a:ext cx="384048" cy="384048"/>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53312" y="2560320"/>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Cross-domain need</a:t>
            </a:r>
            <a:endParaRPr lang="en-US" sz="1300" dirty="0"/>
          </a:p>
        </p:txBody>
      </p:sp>
      <p:sp>
        <p:nvSpPr>
          <p:cNvPr id="13" name="Text 11"/>
          <p:cNvSpPr/>
          <p:nvPr/>
        </p:nvSpPr>
        <p:spPr>
          <a:xfrm>
            <a:off x="4114800" y="2542032"/>
            <a:ext cx="7315200" cy="384048"/>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No single system holds the answer. Otherwise a single agent with good tools is sufficient and cheaper.</a:t>
            </a:r>
            <a:endParaRPr lang="en-US" sz="1050" dirty="0"/>
          </a:p>
        </p:txBody>
      </p:sp>
      <p:sp>
        <p:nvSpPr>
          <p:cNvPr id="14" name="Shape 12"/>
          <p:cNvSpPr/>
          <p:nvPr/>
        </p:nvSpPr>
        <p:spPr>
          <a:xfrm>
            <a:off x="566928" y="3163824"/>
            <a:ext cx="11064240" cy="749808"/>
          </a:xfrm>
          <a:prstGeom prst="roundRect">
            <a:avLst>
              <a:gd name="adj" fmla="val 8537"/>
            </a:avLst>
          </a:prstGeom>
          <a:solidFill>
            <a:srgbClr val="2C3670"/>
          </a:solidFill>
          <a:ln/>
        </p:spPr>
      </p:sp>
      <p:sp>
        <p:nvSpPr>
          <p:cNvPr id="15" name="Shape 13"/>
          <p:cNvSpPr/>
          <p:nvPr/>
        </p:nvSpPr>
        <p:spPr>
          <a:xfrm>
            <a:off x="804672" y="3346704"/>
            <a:ext cx="384048" cy="384048"/>
          </a:xfrm>
          <a:prstGeom prst="ellipse">
            <a:avLst/>
          </a:prstGeom>
          <a:solidFill>
            <a:srgbClr val="C8791E"/>
          </a:solidFill>
          <a:ln/>
        </p:spPr>
      </p:sp>
      <p:sp>
        <p:nvSpPr>
          <p:cNvPr id="16" name="Text 14"/>
          <p:cNvSpPr/>
          <p:nvPr/>
        </p:nvSpPr>
        <p:spPr>
          <a:xfrm>
            <a:off x="804672" y="3346704"/>
            <a:ext cx="384048" cy="384048"/>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53312" y="3383280"/>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Parallelisable</a:t>
            </a:r>
            <a:endParaRPr lang="en-US" sz="1300" dirty="0"/>
          </a:p>
        </p:txBody>
      </p:sp>
      <p:sp>
        <p:nvSpPr>
          <p:cNvPr id="18" name="Text 16"/>
          <p:cNvSpPr/>
          <p:nvPr/>
        </p:nvSpPr>
        <p:spPr>
          <a:xfrm>
            <a:off x="4114800" y="3364992"/>
            <a:ext cx="7315200" cy="384048"/>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The lookups are genuinely independent of each other. Otherwise you don't need sub-agents at all.</a:t>
            </a:r>
            <a:endParaRPr lang="en-US" sz="1050" dirty="0"/>
          </a:p>
        </p:txBody>
      </p:sp>
      <p:sp>
        <p:nvSpPr>
          <p:cNvPr id="19" name="Shape 17"/>
          <p:cNvSpPr/>
          <p:nvPr/>
        </p:nvSpPr>
        <p:spPr>
          <a:xfrm>
            <a:off x="566928" y="3986784"/>
            <a:ext cx="11064240" cy="749808"/>
          </a:xfrm>
          <a:prstGeom prst="roundRect">
            <a:avLst>
              <a:gd name="adj" fmla="val 8537"/>
            </a:avLst>
          </a:prstGeom>
          <a:solidFill>
            <a:srgbClr val="2C3670"/>
          </a:solidFill>
          <a:ln/>
        </p:spPr>
      </p:sp>
      <p:sp>
        <p:nvSpPr>
          <p:cNvPr id="20" name="Shape 18"/>
          <p:cNvSpPr/>
          <p:nvPr/>
        </p:nvSpPr>
        <p:spPr>
          <a:xfrm>
            <a:off x="804672" y="4169664"/>
            <a:ext cx="384048" cy="384048"/>
          </a:xfrm>
          <a:prstGeom prst="ellipse">
            <a:avLst/>
          </a:prstGeom>
          <a:solidFill>
            <a:srgbClr val="C8791E"/>
          </a:solidFill>
          <a:ln/>
        </p:spPr>
      </p:sp>
      <p:sp>
        <p:nvSpPr>
          <p:cNvPr id="21" name="Text 19"/>
          <p:cNvSpPr/>
          <p:nvPr/>
        </p:nvSpPr>
        <p:spPr>
          <a:xfrm>
            <a:off x="804672" y="4169664"/>
            <a:ext cx="384048" cy="384048"/>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353312" y="4206240"/>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Internal data only</a:t>
            </a:r>
            <a:endParaRPr lang="en-US" sz="1300" dirty="0"/>
          </a:p>
        </p:txBody>
      </p:sp>
      <p:sp>
        <p:nvSpPr>
          <p:cNvPr id="23" name="Text 21"/>
          <p:cNvSpPr/>
          <p:nvPr/>
        </p:nvSpPr>
        <p:spPr>
          <a:xfrm>
            <a:off x="4114800" y="4187952"/>
            <a:ext cx="7315200" cy="384048"/>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No dependency on external systems e.l.f. does not control.</a:t>
            </a:r>
            <a:endParaRPr lang="en-US" sz="1050" dirty="0"/>
          </a:p>
        </p:txBody>
      </p:sp>
      <p:sp>
        <p:nvSpPr>
          <p:cNvPr id="24" name="Shape 22"/>
          <p:cNvSpPr/>
          <p:nvPr/>
        </p:nvSpPr>
        <p:spPr>
          <a:xfrm>
            <a:off x="566928" y="4809744"/>
            <a:ext cx="11064240" cy="749808"/>
          </a:xfrm>
          <a:prstGeom prst="roundRect">
            <a:avLst>
              <a:gd name="adj" fmla="val 8537"/>
            </a:avLst>
          </a:prstGeom>
          <a:solidFill>
            <a:srgbClr val="2C3670"/>
          </a:solidFill>
          <a:ln/>
        </p:spPr>
      </p:sp>
      <p:sp>
        <p:nvSpPr>
          <p:cNvPr id="25" name="Shape 23"/>
          <p:cNvSpPr/>
          <p:nvPr/>
        </p:nvSpPr>
        <p:spPr>
          <a:xfrm>
            <a:off x="804672" y="4992624"/>
            <a:ext cx="384048" cy="384048"/>
          </a:xfrm>
          <a:prstGeom prst="ellipse">
            <a:avLst/>
          </a:prstGeom>
          <a:solidFill>
            <a:srgbClr val="C8791E"/>
          </a:solidFill>
          <a:ln/>
        </p:spPr>
      </p:sp>
      <p:sp>
        <p:nvSpPr>
          <p:cNvPr id="26" name="Text 24"/>
          <p:cNvSpPr/>
          <p:nvPr/>
        </p:nvSpPr>
        <p:spPr>
          <a:xfrm>
            <a:off x="804672" y="4992624"/>
            <a:ext cx="384048" cy="384048"/>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1353312" y="5029200"/>
            <a:ext cx="2651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Named owner</a:t>
            </a:r>
            <a:endParaRPr lang="en-US" sz="1300" dirty="0"/>
          </a:p>
        </p:txBody>
      </p:sp>
      <p:sp>
        <p:nvSpPr>
          <p:cNvPr id="28" name="Text 26"/>
          <p:cNvSpPr/>
          <p:nvPr/>
        </p:nvSpPr>
        <p:spPr>
          <a:xfrm>
            <a:off x="4114800" y="5010912"/>
            <a:ext cx="7315200" cy="384048"/>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A specific person whose week gets worse when it goes wrong. This eliminates more candidates than the other four combined.</a:t>
            </a:r>
            <a:endParaRPr lang="en-US" sz="1050" dirty="0"/>
          </a:p>
        </p:txBody>
      </p:sp>
      <p:sp>
        <p:nvSpPr>
          <p:cNvPr id="29" name="Text 27"/>
          <p:cNvSpPr/>
          <p:nvPr/>
        </p:nvSpPr>
        <p:spPr>
          <a:xfrm>
            <a:off x="566928" y="5724144"/>
            <a:ext cx="11064240" cy="384048"/>
          </a:xfrm>
          <a:prstGeom prst="rect">
            <a:avLst/>
          </a:prstGeom>
          <a:noFill/>
          <a:ln/>
        </p:spPr>
        <p:txBody>
          <a:bodyPr wrap="square" lIns="0" tIns="0" rIns="0" bIns="0" rtlCol="0" anchor="ctr"/>
          <a:lstStyle/>
          <a:p>
            <a:pPr indent="0" marL="0">
              <a:buNone/>
            </a:pPr>
            <a:r>
              <a:rPr lang="en-US" sz="1150" i="1" dirty="0">
                <a:solidFill>
                  <a:srgbClr val="C8791E"/>
                </a:solidFill>
                <a:latin typeface="Calibri" pitchFamily="34" charset="0"/>
                <a:ea typeface="Calibri" pitchFamily="34" charset="-122"/>
                <a:cs typeface="Calibri" pitchFamily="34" charset="-120"/>
              </a:rPr>
              <a:t>Two of the ten options fail this filter outright. They are included anyway, because they are the ideas most likely to be proposed by someone else.</a:t>
            </a:r>
            <a:endParaRPr lang="en-US" sz="1150" dirty="0"/>
          </a:p>
        </p:txBody>
      </p:sp>
      <p:sp>
        <p:nvSpPr>
          <p:cNvPr id="30" name="Text 28"/>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8FA6B4"/>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31" name="Text 29"/>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8FA6B4"/>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All ten options at a glance</a:t>
            </a:r>
            <a:endParaRPr lang="en-US" sz="2800" dirty="0"/>
          </a:p>
        </p:txBody>
      </p:sp>
      <p:sp>
        <p:nvSpPr>
          <p:cNvPr id="4" name="Shape 2"/>
          <p:cNvSpPr/>
          <p:nvPr/>
        </p:nvSpPr>
        <p:spPr>
          <a:xfrm>
            <a:off x="566928" y="1389888"/>
            <a:ext cx="11064240" cy="365760"/>
          </a:xfrm>
          <a:prstGeom prst="roundRect">
            <a:avLst>
              <a:gd name="adj" fmla="val 17500"/>
            </a:avLst>
          </a:prstGeom>
          <a:solidFill>
            <a:srgbClr val="21295C"/>
          </a:solidFill>
          <a:ln/>
        </p:spPr>
      </p:sp>
      <p:sp>
        <p:nvSpPr>
          <p:cNvPr id="5" name="Text 3"/>
          <p:cNvSpPr/>
          <p:nvPr/>
        </p:nvSpPr>
        <p:spPr>
          <a:xfrm>
            <a:off x="566928" y="1444752"/>
            <a:ext cx="402336" cy="256032"/>
          </a:xfrm>
          <a:prstGeom prst="rect">
            <a:avLst/>
          </a:prstGeom>
          <a:noFill/>
          <a:ln/>
        </p:spPr>
        <p:txBody>
          <a:bodyPr wrap="square" lIns="0" tIns="0" rIns="0" bIns="0" rtlCol="0" anchor="ctr"/>
          <a:lstStyle/>
          <a:p>
            <a:pPr algn="l" indent="0" marL="0">
              <a:buNone/>
            </a:pPr>
            <a:r>
              <a:rPr lang="en-US" sz="900" b="1" spc="80" kern="0" dirty="0">
                <a:solidFill>
                  <a:srgbClr val="FFFFFF"/>
                </a:solidFill>
                <a:latin typeface="Calibri" pitchFamily="34" charset="0"/>
                <a:ea typeface="Calibri" pitchFamily="34" charset="-122"/>
                <a:cs typeface="Calibri" pitchFamily="34" charset="-120"/>
              </a:rPr>
              <a:t>#</a:t>
            </a:r>
            <a:endParaRPr lang="en-US" sz="900" dirty="0"/>
          </a:p>
        </p:txBody>
      </p:sp>
      <p:sp>
        <p:nvSpPr>
          <p:cNvPr id="6" name="Text 4"/>
          <p:cNvSpPr/>
          <p:nvPr/>
        </p:nvSpPr>
        <p:spPr>
          <a:xfrm>
            <a:off x="1005840" y="1444752"/>
            <a:ext cx="2834640" cy="256032"/>
          </a:xfrm>
          <a:prstGeom prst="rect">
            <a:avLst/>
          </a:prstGeom>
          <a:noFill/>
          <a:ln/>
        </p:spPr>
        <p:txBody>
          <a:bodyPr wrap="square" lIns="0" tIns="0" rIns="0" bIns="0" rtlCol="0" anchor="ctr"/>
          <a:lstStyle/>
          <a:p>
            <a:pPr algn="l" indent="0" marL="0">
              <a:buNone/>
            </a:pPr>
            <a:r>
              <a:rPr lang="en-US" sz="900" b="1" spc="80" kern="0" dirty="0">
                <a:solidFill>
                  <a:srgbClr val="FFFFFF"/>
                </a:solidFill>
                <a:latin typeface="Calibri" pitchFamily="34" charset="0"/>
                <a:ea typeface="Calibri" pitchFamily="34" charset="-122"/>
                <a:cs typeface="Calibri" pitchFamily="34" charset="-120"/>
              </a:rPr>
              <a:t>Use case</a:t>
            </a:r>
            <a:endParaRPr lang="en-US" sz="900" dirty="0"/>
          </a:p>
        </p:txBody>
      </p:sp>
      <p:sp>
        <p:nvSpPr>
          <p:cNvPr id="7" name="Text 5"/>
          <p:cNvSpPr/>
          <p:nvPr/>
        </p:nvSpPr>
        <p:spPr>
          <a:xfrm>
            <a:off x="3886200" y="1444752"/>
            <a:ext cx="1508760" cy="256032"/>
          </a:xfrm>
          <a:prstGeom prst="rect">
            <a:avLst/>
          </a:prstGeom>
          <a:noFill/>
          <a:ln/>
        </p:spPr>
        <p:txBody>
          <a:bodyPr wrap="square" lIns="0" tIns="0" rIns="0" bIns="0" rtlCol="0" anchor="ctr"/>
          <a:lstStyle/>
          <a:p>
            <a:pPr algn="l" indent="0" marL="0">
              <a:buNone/>
            </a:pPr>
            <a:r>
              <a:rPr lang="en-US" sz="900" b="1" spc="80" kern="0" dirty="0">
                <a:solidFill>
                  <a:srgbClr val="FFFFFF"/>
                </a:solidFill>
                <a:latin typeface="Calibri" pitchFamily="34" charset="0"/>
                <a:ea typeface="Calibri" pitchFamily="34" charset="-122"/>
                <a:cs typeface="Calibri" pitchFamily="34" charset="-120"/>
              </a:rPr>
              <a:t>Domain</a:t>
            </a:r>
            <a:endParaRPr lang="en-US" sz="900" dirty="0"/>
          </a:p>
        </p:txBody>
      </p:sp>
      <p:sp>
        <p:nvSpPr>
          <p:cNvPr id="8" name="Text 6"/>
          <p:cNvSpPr/>
          <p:nvPr/>
        </p:nvSpPr>
        <p:spPr>
          <a:xfrm>
            <a:off x="5440680" y="1444752"/>
            <a:ext cx="1463040" cy="256032"/>
          </a:xfrm>
          <a:prstGeom prst="rect">
            <a:avLst/>
          </a:prstGeom>
          <a:noFill/>
          <a:ln/>
        </p:spPr>
        <p:txBody>
          <a:bodyPr wrap="square" lIns="0" tIns="0" rIns="0" bIns="0" rtlCol="0" anchor="ctr"/>
          <a:lstStyle/>
          <a:p>
            <a:pPr algn="l" indent="0" marL="0">
              <a:buNone/>
            </a:pPr>
            <a:r>
              <a:rPr lang="en-US" sz="900" b="1" spc="80" kern="0" dirty="0">
                <a:solidFill>
                  <a:srgbClr val="FFFFFF"/>
                </a:solidFill>
                <a:latin typeface="Calibri" pitchFamily="34" charset="0"/>
                <a:ea typeface="Calibri" pitchFamily="34" charset="-122"/>
                <a:cs typeface="Calibri" pitchFamily="34" charset="-120"/>
              </a:rPr>
              <a:t>Trigger</a:t>
            </a:r>
            <a:endParaRPr lang="en-US" sz="900" dirty="0"/>
          </a:p>
        </p:txBody>
      </p:sp>
      <p:sp>
        <p:nvSpPr>
          <p:cNvPr id="9" name="Text 7"/>
          <p:cNvSpPr/>
          <p:nvPr/>
        </p:nvSpPr>
        <p:spPr>
          <a:xfrm>
            <a:off x="6949440" y="1444752"/>
            <a:ext cx="1371600" cy="256032"/>
          </a:xfrm>
          <a:prstGeom prst="rect">
            <a:avLst/>
          </a:prstGeom>
          <a:noFill/>
          <a:ln/>
        </p:spPr>
        <p:txBody>
          <a:bodyPr wrap="square" lIns="0" tIns="0" rIns="0" bIns="0" rtlCol="0" anchor="ctr"/>
          <a:lstStyle/>
          <a:p>
            <a:pPr algn="l" indent="0" marL="0">
              <a:buNone/>
            </a:pPr>
            <a:r>
              <a:rPr lang="en-US" sz="900" b="1" spc="80" kern="0" dirty="0">
                <a:solidFill>
                  <a:srgbClr val="FFFFFF"/>
                </a:solidFill>
                <a:latin typeface="Calibri" pitchFamily="34" charset="0"/>
                <a:ea typeface="Calibri" pitchFamily="34" charset="-122"/>
                <a:cs typeface="Calibri" pitchFamily="34" charset="-120"/>
              </a:rPr>
              <a:t>Value type</a:t>
            </a:r>
            <a:endParaRPr lang="en-US" sz="900" dirty="0"/>
          </a:p>
        </p:txBody>
      </p:sp>
      <p:sp>
        <p:nvSpPr>
          <p:cNvPr id="10" name="Text 8"/>
          <p:cNvSpPr/>
          <p:nvPr/>
        </p:nvSpPr>
        <p:spPr>
          <a:xfrm>
            <a:off x="8366760" y="1444752"/>
            <a:ext cx="2743200" cy="256032"/>
          </a:xfrm>
          <a:prstGeom prst="rect">
            <a:avLst/>
          </a:prstGeom>
          <a:noFill/>
          <a:ln/>
        </p:spPr>
        <p:txBody>
          <a:bodyPr wrap="square" lIns="0" tIns="0" rIns="0" bIns="0" rtlCol="0" anchor="ctr"/>
          <a:lstStyle/>
          <a:p>
            <a:pPr algn="l" indent="0" marL="0">
              <a:buNone/>
            </a:pPr>
            <a:r>
              <a:rPr lang="en-US" sz="900" b="1" spc="80" kern="0" dirty="0">
                <a:solidFill>
                  <a:srgbClr val="FFFFFF"/>
                </a:solidFill>
                <a:latin typeface="Calibri" pitchFamily="34" charset="0"/>
                <a:ea typeface="Calibri" pitchFamily="34" charset="-122"/>
                <a:cs typeface="Calibri" pitchFamily="34" charset="-120"/>
              </a:rPr>
              <a:t>Main risk</a:t>
            </a:r>
            <a:endParaRPr lang="en-US" sz="900" dirty="0"/>
          </a:p>
        </p:txBody>
      </p:sp>
      <p:sp>
        <p:nvSpPr>
          <p:cNvPr id="11" name="Text 9"/>
          <p:cNvSpPr/>
          <p:nvPr/>
        </p:nvSpPr>
        <p:spPr>
          <a:xfrm>
            <a:off x="11155680" y="1444752"/>
            <a:ext cx="457200"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Fit</a:t>
            </a:r>
            <a:endParaRPr lang="en-US" sz="900" dirty="0"/>
          </a:p>
        </p:txBody>
      </p:sp>
      <p:sp>
        <p:nvSpPr>
          <p:cNvPr id="12" name="Shape 10"/>
          <p:cNvSpPr/>
          <p:nvPr/>
        </p:nvSpPr>
        <p:spPr>
          <a:xfrm>
            <a:off x="566928" y="1810512"/>
            <a:ext cx="11064240" cy="402336"/>
          </a:xfrm>
          <a:prstGeom prst="roundRect">
            <a:avLst>
              <a:gd name="adj" fmla="val 15909"/>
            </a:avLst>
          </a:prstGeom>
          <a:solidFill>
            <a:srgbClr val="F3F7F9"/>
          </a:solidFill>
          <a:ln/>
        </p:spPr>
      </p:sp>
      <p:sp>
        <p:nvSpPr>
          <p:cNvPr id="13" name="Text 11"/>
          <p:cNvSpPr/>
          <p:nvPr/>
        </p:nvSpPr>
        <p:spPr>
          <a:xfrm>
            <a:off x="566928" y="1901952"/>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1</a:t>
            </a:r>
            <a:endParaRPr lang="en-US" sz="950" dirty="0"/>
          </a:p>
        </p:txBody>
      </p:sp>
      <p:sp>
        <p:nvSpPr>
          <p:cNvPr id="14" name="Text 12"/>
          <p:cNvSpPr/>
          <p:nvPr/>
        </p:nvSpPr>
        <p:spPr>
          <a:xfrm>
            <a:off x="1005840" y="1901952"/>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Launch readiness assembly</a:t>
            </a:r>
            <a:endParaRPr lang="en-US" sz="950" dirty="0"/>
          </a:p>
        </p:txBody>
      </p:sp>
      <p:sp>
        <p:nvSpPr>
          <p:cNvPr id="15" name="Text 13"/>
          <p:cNvSpPr/>
          <p:nvPr/>
        </p:nvSpPr>
        <p:spPr>
          <a:xfrm>
            <a:off x="3886200" y="1911096"/>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Cross-func</a:t>
            </a:r>
            <a:endParaRPr lang="en-US" sz="900" dirty="0"/>
          </a:p>
        </p:txBody>
      </p:sp>
      <p:sp>
        <p:nvSpPr>
          <p:cNvPr id="16" name="Text 14"/>
          <p:cNvSpPr/>
          <p:nvPr/>
        </p:nvSpPr>
        <p:spPr>
          <a:xfrm>
            <a:off x="5440680" y="1911096"/>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Pre-launch</a:t>
            </a:r>
            <a:endParaRPr lang="en-US" sz="900" dirty="0"/>
          </a:p>
        </p:txBody>
      </p:sp>
      <p:sp>
        <p:nvSpPr>
          <p:cNvPr id="17" name="Text 15"/>
          <p:cNvSpPr/>
          <p:nvPr/>
        </p:nvSpPr>
        <p:spPr>
          <a:xfrm>
            <a:off x="6949440" y="1911096"/>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Time saved</a:t>
            </a:r>
            <a:endParaRPr lang="en-US" sz="900" dirty="0"/>
          </a:p>
        </p:txBody>
      </p:sp>
      <p:sp>
        <p:nvSpPr>
          <p:cNvPr id="18" name="Text 16"/>
          <p:cNvSpPr/>
          <p:nvPr/>
        </p:nvSpPr>
        <p:spPr>
          <a:xfrm>
            <a:off x="8366760" y="1911096"/>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Close to a dashboard</a:t>
            </a:r>
            <a:endParaRPr lang="en-US" sz="900" dirty="0"/>
          </a:p>
        </p:txBody>
      </p:sp>
      <p:sp>
        <p:nvSpPr>
          <p:cNvPr id="19" name="Shape 17"/>
          <p:cNvSpPr/>
          <p:nvPr/>
        </p:nvSpPr>
        <p:spPr>
          <a:xfrm>
            <a:off x="11247120" y="1874520"/>
            <a:ext cx="274320" cy="274320"/>
          </a:xfrm>
          <a:prstGeom prst="ellipse">
            <a:avLst/>
          </a:prstGeom>
          <a:solidFill>
            <a:srgbClr val="2C6E49"/>
          </a:solidFill>
          <a:ln/>
        </p:spPr>
      </p:sp>
      <p:sp>
        <p:nvSpPr>
          <p:cNvPr id="20" name="Text 18"/>
          <p:cNvSpPr/>
          <p:nvPr/>
        </p:nvSpPr>
        <p:spPr>
          <a:xfrm>
            <a:off x="11247120" y="187452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21" name="Text 19"/>
          <p:cNvSpPr/>
          <p:nvPr/>
        </p:nvSpPr>
        <p:spPr>
          <a:xfrm>
            <a:off x="566928" y="2322576"/>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2</a:t>
            </a:r>
            <a:endParaRPr lang="en-US" sz="950" dirty="0"/>
          </a:p>
        </p:txBody>
      </p:sp>
      <p:sp>
        <p:nvSpPr>
          <p:cNvPr id="22" name="Text 20"/>
          <p:cNvSpPr/>
          <p:nvPr/>
        </p:nvSpPr>
        <p:spPr>
          <a:xfrm>
            <a:off x="1005840" y="2322576"/>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Cross-brand launch learning</a:t>
            </a:r>
            <a:endParaRPr lang="en-US" sz="950" dirty="0"/>
          </a:p>
        </p:txBody>
      </p:sp>
      <p:sp>
        <p:nvSpPr>
          <p:cNvPr id="23" name="Text 21"/>
          <p:cNvSpPr/>
          <p:nvPr/>
        </p:nvSpPr>
        <p:spPr>
          <a:xfrm>
            <a:off x="3886200" y="2331720"/>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Marketing</a:t>
            </a:r>
            <a:endParaRPr lang="en-US" sz="900" dirty="0"/>
          </a:p>
        </p:txBody>
      </p:sp>
      <p:sp>
        <p:nvSpPr>
          <p:cNvPr id="24" name="Text 22"/>
          <p:cNvSpPr/>
          <p:nvPr/>
        </p:nvSpPr>
        <p:spPr>
          <a:xfrm>
            <a:off x="5440680" y="2331720"/>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Pre-launch</a:t>
            </a:r>
            <a:endParaRPr lang="en-US" sz="900" dirty="0"/>
          </a:p>
        </p:txBody>
      </p:sp>
      <p:sp>
        <p:nvSpPr>
          <p:cNvPr id="25" name="Text 23"/>
          <p:cNvSpPr/>
          <p:nvPr/>
        </p:nvSpPr>
        <p:spPr>
          <a:xfrm>
            <a:off x="6949440" y="2331720"/>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Strategic</a:t>
            </a:r>
            <a:endParaRPr lang="en-US" sz="900" dirty="0"/>
          </a:p>
        </p:txBody>
      </p:sp>
      <p:sp>
        <p:nvSpPr>
          <p:cNvPr id="26" name="Text 24"/>
          <p:cNvSpPr/>
          <p:nvPr/>
        </p:nvSpPr>
        <p:spPr>
          <a:xfrm>
            <a:off x="8366760" y="2331720"/>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Needs documented history</a:t>
            </a:r>
            <a:endParaRPr lang="en-US" sz="900" dirty="0"/>
          </a:p>
        </p:txBody>
      </p:sp>
      <p:sp>
        <p:nvSpPr>
          <p:cNvPr id="27" name="Shape 25"/>
          <p:cNvSpPr/>
          <p:nvPr/>
        </p:nvSpPr>
        <p:spPr>
          <a:xfrm>
            <a:off x="11247120" y="2295144"/>
            <a:ext cx="274320" cy="274320"/>
          </a:xfrm>
          <a:prstGeom prst="ellipse">
            <a:avLst/>
          </a:prstGeom>
          <a:solidFill>
            <a:srgbClr val="C8791E"/>
          </a:solidFill>
          <a:ln/>
        </p:spPr>
      </p:sp>
      <p:sp>
        <p:nvSpPr>
          <p:cNvPr id="28" name="Text 26"/>
          <p:cNvSpPr/>
          <p:nvPr/>
        </p:nvSpPr>
        <p:spPr>
          <a:xfrm>
            <a:off x="11247120" y="2295144"/>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
            </a:r>
            <a:endParaRPr lang="en-US" sz="900" dirty="0"/>
          </a:p>
        </p:txBody>
      </p:sp>
      <p:sp>
        <p:nvSpPr>
          <p:cNvPr id="29" name="Shape 27"/>
          <p:cNvSpPr/>
          <p:nvPr/>
        </p:nvSpPr>
        <p:spPr>
          <a:xfrm>
            <a:off x="566928" y="2651760"/>
            <a:ext cx="11064240" cy="402336"/>
          </a:xfrm>
          <a:prstGeom prst="roundRect">
            <a:avLst>
              <a:gd name="adj" fmla="val 15909"/>
            </a:avLst>
          </a:prstGeom>
          <a:solidFill>
            <a:srgbClr val="F3F7F9"/>
          </a:solidFill>
          <a:ln/>
        </p:spPr>
      </p:sp>
      <p:sp>
        <p:nvSpPr>
          <p:cNvPr id="30" name="Text 28"/>
          <p:cNvSpPr/>
          <p:nvPr/>
        </p:nvSpPr>
        <p:spPr>
          <a:xfrm>
            <a:off x="566928" y="2743200"/>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3</a:t>
            </a:r>
            <a:endParaRPr lang="en-US" sz="950" dirty="0"/>
          </a:p>
        </p:txBody>
      </p:sp>
      <p:sp>
        <p:nvSpPr>
          <p:cNvPr id="31" name="Text 29"/>
          <p:cNvSpPr/>
          <p:nvPr/>
        </p:nvSpPr>
        <p:spPr>
          <a:xfrm>
            <a:off x="1005840" y="2743200"/>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Forecast variance triage</a:t>
            </a:r>
            <a:endParaRPr lang="en-US" sz="950" dirty="0"/>
          </a:p>
        </p:txBody>
      </p:sp>
      <p:sp>
        <p:nvSpPr>
          <p:cNvPr id="32" name="Text 30"/>
          <p:cNvSpPr/>
          <p:nvPr/>
        </p:nvSpPr>
        <p:spPr>
          <a:xfrm>
            <a:off x="3886200" y="2752344"/>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Demand</a:t>
            </a:r>
            <a:endParaRPr lang="en-US" sz="900" dirty="0"/>
          </a:p>
        </p:txBody>
      </p:sp>
      <p:sp>
        <p:nvSpPr>
          <p:cNvPr id="33" name="Text 31"/>
          <p:cNvSpPr/>
          <p:nvPr/>
        </p:nvSpPr>
        <p:spPr>
          <a:xfrm>
            <a:off x="5440680" y="2752344"/>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Variance</a:t>
            </a:r>
            <a:endParaRPr lang="en-US" sz="900" dirty="0"/>
          </a:p>
        </p:txBody>
      </p:sp>
      <p:sp>
        <p:nvSpPr>
          <p:cNvPr id="34" name="Text 32"/>
          <p:cNvSpPr/>
          <p:nvPr/>
        </p:nvSpPr>
        <p:spPr>
          <a:xfrm>
            <a:off x="6949440" y="2752344"/>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Diagnosis</a:t>
            </a:r>
            <a:endParaRPr lang="en-US" sz="900" dirty="0"/>
          </a:p>
        </p:txBody>
      </p:sp>
      <p:sp>
        <p:nvSpPr>
          <p:cNvPr id="35" name="Text 33"/>
          <p:cNvSpPr/>
          <p:nvPr/>
        </p:nvSpPr>
        <p:spPr>
          <a:xfrm>
            <a:off x="8366760" y="2752344"/>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Adjacent to planning vendors</a:t>
            </a:r>
            <a:endParaRPr lang="en-US" sz="900" dirty="0"/>
          </a:p>
        </p:txBody>
      </p:sp>
      <p:sp>
        <p:nvSpPr>
          <p:cNvPr id="36" name="Shape 34"/>
          <p:cNvSpPr/>
          <p:nvPr/>
        </p:nvSpPr>
        <p:spPr>
          <a:xfrm>
            <a:off x="11247120" y="2715768"/>
            <a:ext cx="274320" cy="274320"/>
          </a:xfrm>
          <a:prstGeom prst="ellipse">
            <a:avLst/>
          </a:prstGeom>
          <a:solidFill>
            <a:srgbClr val="2C6E49"/>
          </a:solidFill>
          <a:ln/>
        </p:spPr>
      </p:sp>
      <p:sp>
        <p:nvSpPr>
          <p:cNvPr id="37" name="Text 35"/>
          <p:cNvSpPr/>
          <p:nvPr/>
        </p:nvSpPr>
        <p:spPr>
          <a:xfrm>
            <a:off x="11247120" y="271576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38" name="Text 36"/>
          <p:cNvSpPr/>
          <p:nvPr/>
        </p:nvSpPr>
        <p:spPr>
          <a:xfrm>
            <a:off x="566928" y="3163824"/>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4</a:t>
            </a:r>
            <a:endParaRPr lang="en-US" sz="950" dirty="0"/>
          </a:p>
        </p:txBody>
      </p:sp>
      <p:sp>
        <p:nvSpPr>
          <p:cNvPr id="39" name="Text 37"/>
          <p:cNvSpPr/>
          <p:nvPr/>
        </p:nvSpPr>
        <p:spPr>
          <a:xfrm>
            <a:off x="1005840" y="3163824"/>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Campaign-to-shelf reconciliation</a:t>
            </a:r>
            <a:endParaRPr lang="en-US" sz="950" dirty="0"/>
          </a:p>
        </p:txBody>
      </p:sp>
      <p:sp>
        <p:nvSpPr>
          <p:cNvPr id="40" name="Text 38"/>
          <p:cNvSpPr/>
          <p:nvPr/>
        </p:nvSpPr>
        <p:spPr>
          <a:xfrm>
            <a:off x="3886200" y="3172968"/>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Mktg + Ops</a:t>
            </a:r>
            <a:endParaRPr lang="en-US" sz="900" dirty="0"/>
          </a:p>
        </p:txBody>
      </p:sp>
      <p:sp>
        <p:nvSpPr>
          <p:cNvPr id="41" name="Text 39"/>
          <p:cNvSpPr/>
          <p:nvPr/>
        </p:nvSpPr>
        <p:spPr>
          <a:xfrm>
            <a:off x="5440680" y="3172968"/>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Social spike</a:t>
            </a:r>
            <a:endParaRPr lang="en-US" sz="900" dirty="0"/>
          </a:p>
        </p:txBody>
      </p:sp>
      <p:sp>
        <p:nvSpPr>
          <p:cNvPr id="42" name="Text 40"/>
          <p:cNvSpPr/>
          <p:nvPr/>
        </p:nvSpPr>
        <p:spPr>
          <a:xfrm>
            <a:off x="6949440" y="3172968"/>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Insight</a:t>
            </a:r>
            <a:endParaRPr lang="en-US" sz="900" dirty="0"/>
          </a:p>
        </p:txBody>
      </p:sp>
      <p:sp>
        <p:nvSpPr>
          <p:cNvPr id="43" name="Text 41"/>
          <p:cNvSpPr/>
          <p:nvPr/>
        </p:nvSpPr>
        <p:spPr>
          <a:xfrm>
            <a:off x="8366760" y="3172968"/>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Attribution is contested</a:t>
            </a:r>
            <a:endParaRPr lang="en-US" sz="900" dirty="0"/>
          </a:p>
        </p:txBody>
      </p:sp>
      <p:sp>
        <p:nvSpPr>
          <p:cNvPr id="44" name="Shape 42"/>
          <p:cNvSpPr/>
          <p:nvPr/>
        </p:nvSpPr>
        <p:spPr>
          <a:xfrm>
            <a:off x="11247120" y="3136392"/>
            <a:ext cx="274320" cy="274320"/>
          </a:xfrm>
          <a:prstGeom prst="ellipse">
            <a:avLst/>
          </a:prstGeom>
          <a:solidFill>
            <a:srgbClr val="C8791E"/>
          </a:solidFill>
          <a:ln/>
        </p:spPr>
      </p:sp>
      <p:sp>
        <p:nvSpPr>
          <p:cNvPr id="45" name="Text 43"/>
          <p:cNvSpPr/>
          <p:nvPr/>
        </p:nvSpPr>
        <p:spPr>
          <a:xfrm>
            <a:off x="11247120" y="313639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
            </a:r>
            <a:endParaRPr lang="en-US" sz="900" dirty="0"/>
          </a:p>
        </p:txBody>
      </p:sp>
      <p:sp>
        <p:nvSpPr>
          <p:cNvPr id="46" name="Shape 44"/>
          <p:cNvSpPr/>
          <p:nvPr/>
        </p:nvSpPr>
        <p:spPr>
          <a:xfrm>
            <a:off x="566928" y="3493008"/>
            <a:ext cx="11064240" cy="402336"/>
          </a:xfrm>
          <a:prstGeom prst="roundRect">
            <a:avLst>
              <a:gd name="adj" fmla="val 15909"/>
            </a:avLst>
          </a:prstGeom>
          <a:solidFill>
            <a:srgbClr val="F3F7F9"/>
          </a:solidFill>
          <a:ln/>
        </p:spPr>
      </p:sp>
      <p:sp>
        <p:nvSpPr>
          <p:cNvPr id="47" name="Text 45"/>
          <p:cNvSpPr/>
          <p:nvPr/>
        </p:nvSpPr>
        <p:spPr>
          <a:xfrm>
            <a:off x="566928" y="3584448"/>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5</a:t>
            </a:r>
            <a:endParaRPr lang="en-US" sz="950" dirty="0"/>
          </a:p>
        </p:txBody>
      </p:sp>
      <p:sp>
        <p:nvSpPr>
          <p:cNvPr id="48" name="Text 46"/>
          <p:cNvSpPr/>
          <p:nvPr/>
        </p:nvSpPr>
        <p:spPr>
          <a:xfrm>
            <a:off x="1005840" y="3584448"/>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Post-launch synthesis</a:t>
            </a:r>
            <a:endParaRPr lang="en-US" sz="950" dirty="0"/>
          </a:p>
        </p:txBody>
      </p:sp>
      <p:sp>
        <p:nvSpPr>
          <p:cNvPr id="49" name="Text 47"/>
          <p:cNvSpPr/>
          <p:nvPr/>
        </p:nvSpPr>
        <p:spPr>
          <a:xfrm>
            <a:off x="3886200" y="3593592"/>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Knowledge</a:t>
            </a:r>
            <a:endParaRPr lang="en-US" sz="900" dirty="0"/>
          </a:p>
        </p:txBody>
      </p:sp>
      <p:sp>
        <p:nvSpPr>
          <p:cNvPr id="50" name="Text 48"/>
          <p:cNvSpPr/>
          <p:nvPr/>
        </p:nvSpPr>
        <p:spPr>
          <a:xfrm>
            <a:off x="5440680" y="3593592"/>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Post-event</a:t>
            </a:r>
            <a:endParaRPr lang="en-US" sz="900" dirty="0"/>
          </a:p>
        </p:txBody>
      </p:sp>
      <p:sp>
        <p:nvSpPr>
          <p:cNvPr id="51" name="Text 49"/>
          <p:cNvSpPr/>
          <p:nvPr/>
        </p:nvSpPr>
        <p:spPr>
          <a:xfrm>
            <a:off x="6949440" y="3593592"/>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Institutional</a:t>
            </a:r>
            <a:endParaRPr lang="en-US" sz="900" dirty="0"/>
          </a:p>
        </p:txBody>
      </p:sp>
      <p:sp>
        <p:nvSpPr>
          <p:cNvPr id="52" name="Text 50"/>
          <p:cNvSpPr/>
          <p:nvPr/>
        </p:nvSpPr>
        <p:spPr>
          <a:xfrm>
            <a:off x="8366760" y="3593592"/>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ROI is a year out</a:t>
            </a:r>
            <a:endParaRPr lang="en-US" sz="900" dirty="0"/>
          </a:p>
        </p:txBody>
      </p:sp>
      <p:sp>
        <p:nvSpPr>
          <p:cNvPr id="53" name="Shape 51"/>
          <p:cNvSpPr/>
          <p:nvPr/>
        </p:nvSpPr>
        <p:spPr>
          <a:xfrm>
            <a:off x="11247120" y="3557016"/>
            <a:ext cx="274320" cy="274320"/>
          </a:xfrm>
          <a:prstGeom prst="ellipse">
            <a:avLst/>
          </a:prstGeom>
          <a:solidFill>
            <a:srgbClr val="C8791E"/>
          </a:solidFill>
          <a:ln/>
        </p:spPr>
      </p:sp>
      <p:sp>
        <p:nvSpPr>
          <p:cNvPr id="54" name="Text 52"/>
          <p:cNvSpPr/>
          <p:nvPr/>
        </p:nvSpPr>
        <p:spPr>
          <a:xfrm>
            <a:off x="11247120" y="355701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
            </a:r>
            <a:endParaRPr lang="en-US" sz="900" dirty="0"/>
          </a:p>
        </p:txBody>
      </p:sp>
      <p:sp>
        <p:nvSpPr>
          <p:cNvPr id="55" name="Text 53"/>
          <p:cNvSpPr/>
          <p:nvPr/>
        </p:nvSpPr>
        <p:spPr>
          <a:xfrm>
            <a:off x="566928" y="4005072"/>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6</a:t>
            </a:r>
            <a:endParaRPr lang="en-US" sz="950" dirty="0"/>
          </a:p>
        </p:txBody>
      </p:sp>
      <p:sp>
        <p:nvSpPr>
          <p:cNvPr id="56" name="Text 54"/>
          <p:cNvSpPr/>
          <p:nvPr/>
        </p:nvSpPr>
        <p:spPr>
          <a:xfrm>
            <a:off x="1005840" y="4005072"/>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Order exception triage</a:t>
            </a:r>
            <a:endParaRPr lang="en-US" sz="950" dirty="0"/>
          </a:p>
        </p:txBody>
      </p:sp>
      <p:sp>
        <p:nvSpPr>
          <p:cNvPr id="57" name="Text 55"/>
          <p:cNvSpPr/>
          <p:nvPr/>
        </p:nvSpPr>
        <p:spPr>
          <a:xfrm>
            <a:off x="3886200" y="4014216"/>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Order-to-cash</a:t>
            </a:r>
            <a:endParaRPr lang="en-US" sz="900" dirty="0"/>
          </a:p>
        </p:txBody>
      </p:sp>
      <p:sp>
        <p:nvSpPr>
          <p:cNvPr id="58" name="Text 56"/>
          <p:cNvSpPr/>
          <p:nvPr/>
        </p:nvSpPr>
        <p:spPr>
          <a:xfrm>
            <a:off x="5440680" y="4014216"/>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Exception</a:t>
            </a:r>
            <a:endParaRPr lang="en-US" sz="900" dirty="0"/>
          </a:p>
        </p:txBody>
      </p:sp>
      <p:sp>
        <p:nvSpPr>
          <p:cNvPr id="59" name="Text 57"/>
          <p:cNvSpPr/>
          <p:nvPr/>
        </p:nvSpPr>
        <p:spPr>
          <a:xfrm>
            <a:off x="6949440" y="4014216"/>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Efficiency</a:t>
            </a:r>
            <a:endParaRPr lang="en-US" sz="900" dirty="0"/>
          </a:p>
        </p:txBody>
      </p:sp>
      <p:sp>
        <p:nvSpPr>
          <p:cNvPr id="60" name="Text 58"/>
          <p:cNvSpPr/>
          <p:nvPr/>
        </p:nvSpPr>
        <p:spPr>
          <a:xfrm>
            <a:off x="8366760" y="4014216"/>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Low ceiling — efficiency only</a:t>
            </a:r>
            <a:endParaRPr lang="en-US" sz="900" dirty="0"/>
          </a:p>
        </p:txBody>
      </p:sp>
      <p:sp>
        <p:nvSpPr>
          <p:cNvPr id="61" name="Shape 59"/>
          <p:cNvSpPr/>
          <p:nvPr/>
        </p:nvSpPr>
        <p:spPr>
          <a:xfrm>
            <a:off x="11247120" y="3977640"/>
            <a:ext cx="274320" cy="274320"/>
          </a:xfrm>
          <a:prstGeom prst="ellipse">
            <a:avLst/>
          </a:prstGeom>
          <a:solidFill>
            <a:srgbClr val="2C6E49"/>
          </a:solidFill>
          <a:ln/>
        </p:spPr>
      </p:sp>
      <p:sp>
        <p:nvSpPr>
          <p:cNvPr id="62" name="Text 60"/>
          <p:cNvSpPr/>
          <p:nvPr/>
        </p:nvSpPr>
        <p:spPr>
          <a:xfrm>
            <a:off x="11247120" y="397764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63" name="Shape 61"/>
          <p:cNvSpPr/>
          <p:nvPr/>
        </p:nvSpPr>
        <p:spPr>
          <a:xfrm>
            <a:off x="566928" y="4334256"/>
            <a:ext cx="11064240" cy="402336"/>
          </a:xfrm>
          <a:prstGeom prst="roundRect">
            <a:avLst>
              <a:gd name="adj" fmla="val 15909"/>
            </a:avLst>
          </a:prstGeom>
          <a:solidFill>
            <a:srgbClr val="F3F7F9"/>
          </a:solidFill>
          <a:ln/>
        </p:spPr>
      </p:sp>
      <p:sp>
        <p:nvSpPr>
          <p:cNvPr id="64" name="Text 62"/>
          <p:cNvSpPr/>
          <p:nvPr/>
        </p:nvSpPr>
        <p:spPr>
          <a:xfrm>
            <a:off x="566928" y="4425696"/>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7</a:t>
            </a:r>
            <a:endParaRPr lang="en-US" sz="950" dirty="0"/>
          </a:p>
        </p:txBody>
      </p:sp>
      <p:sp>
        <p:nvSpPr>
          <p:cNvPr id="65" name="Text 63"/>
          <p:cNvSpPr/>
          <p:nvPr/>
        </p:nvSpPr>
        <p:spPr>
          <a:xfrm>
            <a:off x="1005840" y="4425696"/>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Deduction &amp; chargeback disposition</a:t>
            </a:r>
            <a:endParaRPr lang="en-US" sz="950" dirty="0"/>
          </a:p>
        </p:txBody>
      </p:sp>
      <p:sp>
        <p:nvSpPr>
          <p:cNvPr id="66" name="Text 64"/>
          <p:cNvSpPr/>
          <p:nvPr/>
        </p:nvSpPr>
        <p:spPr>
          <a:xfrm>
            <a:off x="3886200" y="4434840"/>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Finance + Trade</a:t>
            </a:r>
            <a:endParaRPr lang="en-US" sz="900" dirty="0"/>
          </a:p>
        </p:txBody>
      </p:sp>
      <p:sp>
        <p:nvSpPr>
          <p:cNvPr id="67" name="Text 65"/>
          <p:cNvSpPr/>
          <p:nvPr/>
        </p:nvSpPr>
        <p:spPr>
          <a:xfrm>
            <a:off x="5440680" y="4434840"/>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Deduction</a:t>
            </a:r>
            <a:endParaRPr lang="en-US" sz="900" dirty="0"/>
          </a:p>
        </p:txBody>
      </p:sp>
      <p:sp>
        <p:nvSpPr>
          <p:cNvPr id="68" name="Text 66"/>
          <p:cNvSpPr/>
          <p:nvPr/>
        </p:nvSpPr>
        <p:spPr>
          <a:xfrm>
            <a:off x="6949440" y="4434840"/>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Hard dollars</a:t>
            </a:r>
            <a:endParaRPr lang="en-US" sz="900" dirty="0"/>
          </a:p>
        </p:txBody>
      </p:sp>
      <p:sp>
        <p:nvSpPr>
          <p:cNvPr id="69" name="Text 67"/>
          <p:cNvSpPr/>
          <p:nvPr/>
        </p:nvSpPr>
        <p:spPr>
          <a:xfrm>
            <a:off x="8366760" y="4434840"/>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Needs clean trade data</a:t>
            </a:r>
            <a:endParaRPr lang="en-US" sz="900" dirty="0"/>
          </a:p>
        </p:txBody>
      </p:sp>
      <p:sp>
        <p:nvSpPr>
          <p:cNvPr id="70" name="Shape 68"/>
          <p:cNvSpPr/>
          <p:nvPr/>
        </p:nvSpPr>
        <p:spPr>
          <a:xfrm>
            <a:off x="11247120" y="4398264"/>
            <a:ext cx="274320" cy="274320"/>
          </a:xfrm>
          <a:prstGeom prst="ellipse">
            <a:avLst/>
          </a:prstGeom>
          <a:solidFill>
            <a:srgbClr val="2C6E49"/>
          </a:solidFill>
          <a:ln/>
        </p:spPr>
      </p:sp>
      <p:sp>
        <p:nvSpPr>
          <p:cNvPr id="71" name="Text 69"/>
          <p:cNvSpPr/>
          <p:nvPr/>
        </p:nvSpPr>
        <p:spPr>
          <a:xfrm>
            <a:off x="11247120" y="4398264"/>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72" name="Text 70"/>
          <p:cNvSpPr/>
          <p:nvPr/>
        </p:nvSpPr>
        <p:spPr>
          <a:xfrm>
            <a:off x="566928" y="4846320"/>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8</a:t>
            </a:r>
            <a:endParaRPr lang="en-US" sz="950" dirty="0"/>
          </a:p>
        </p:txBody>
      </p:sp>
      <p:sp>
        <p:nvSpPr>
          <p:cNvPr id="73" name="Text 71"/>
          <p:cNvSpPr/>
          <p:nvPr/>
        </p:nvSpPr>
        <p:spPr>
          <a:xfrm>
            <a:off x="1005840" y="4846320"/>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Retailer order-pattern anomaly</a:t>
            </a:r>
            <a:endParaRPr lang="en-US" sz="950" dirty="0"/>
          </a:p>
        </p:txBody>
      </p:sp>
      <p:sp>
        <p:nvSpPr>
          <p:cNvPr id="74" name="Text 72"/>
          <p:cNvSpPr/>
          <p:nvPr/>
        </p:nvSpPr>
        <p:spPr>
          <a:xfrm>
            <a:off x="3886200" y="4855464"/>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Sales</a:t>
            </a:r>
            <a:endParaRPr lang="en-US" sz="900" dirty="0"/>
          </a:p>
        </p:txBody>
      </p:sp>
      <p:sp>
        <p:nvSpPr>
          <p:cNvPr id="75" name="Text 73"/>
          <p:cNvSpPr/>
          <p:nvPr/>
        </p:nvSpPr>
        <p:spPr>
          <a:xfrm>
            <a:off x="5440680" y="4855464"/>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Order shift</a:t>
            </a:r>
            <a:endParaRPr lang="en-US" sz="900" dirty="0"/>
          </a:p>
        </p:txBody>
      </p:sp>
      <p:sp>
        <p:nvSpPr>
          <p:cNvPr id="76" name="Text 74"/>
          <p:cNvSpPr/>
          <p:nvPr/>
        </p:nvSpPr>
        <p:spPr>
          <a:xfrm>
            <a:off x="6949440" y="4855464"/>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Predictive</a:t>
            </a:r>
            <a:endParaRPr lang="en-US" sz="900" dirty="0"/>
          </a:p>
        </p:txBody>
      </p:sp>
      <p:sp>
        <p:nvSpPr>
          <p:cNvPr id="77" name="Text 75"/>
          <p:cNvSpPr/>
          <p:nvPr/>
        </p:nvSpPr>
        <p:spPr>
          <a:xfrm>
            <a:off x="8366760" y="4855464"/>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False positives burn credibility</a:t>
            </a:r>
            <a:endParaRPr lang="en-US" sz="900" dirty="0"/>
          </a:p>
        </p:txBody>
      </p:sp>
      <p:sp>
        <p:nvSpPr>
          <p:cNvPr id="78" name="Shape 76"/>
          <p:cNvSpPr/>
          <p:nvPr/>
        </p:nvSpPr>
        <p:spPr>
          <a:xfrm>
            <a:off x="11247120" y="4818888"/>
            <a:ext cx="274320" cy="274320"/>
          </a:xfrm>
          <a:prstGeom prst="ellipse">
            <a:avLst/>
          </a:prstGeom>
          <a:solidFill>
            <a:srgbClr val="2C6E49"/>
          </a:solidFill>
          <a:ln/>
        </p:spPr>
      </p:sp>
      <p:sp>
        <p:nvSpPr>
          <p:cNvPr id="79" name="Text 77"/>
          <p:cNvSpPr/>
          <p:nvPr/>
        </p:nvSpPr>
        <p:spPr>
          <a:xfrm>
            <a:off x="11247120" y="481888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80" name="Shape 78"/>
          <p:cNvSpPr/>
          <p:nvPr/>
        </p:nvSpPr>
        <p:spPr>
          <a:xfrm>
            <a:off x="566928" y="5175504"/>
            <a:ext cx="11064240" cy="402336"/>
          </a:xfrm>
          <a:prstGeom prst="roundRect">
            <a:avLst>
              <a:gd name="adj" fmla="val 15909"/>
            </a:avLst>
          </a:prstGeom>
          <a:solidFill>
            <a:srgbClr val="F3F7F9"/>
          </a:solidFill>
          <a:ln/>
        </p:spPr>
      </p:sp>
      <p:sp>
        <p:nvSpPr>
          <p:cNvPr id="81" name="Text 79"/>
          <p:cNvSpPr/>
          <p:nvPr/>
        </p:nvSpPr>
        <p:spPr>
          <a:xfrm>
            <a:off x="566928" y="5266944"/>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9</a:t>
            </a:r>
            <a:endParaRPr lang="en-US" sz="950" dirty="0"/>
          </a:p>
        </p:txBody>
      </p:sp>
      <p:sp>
        <p:nvSpPr>
          <p:cNvPr id="82" name="Text 80"/>
          <p:cNvSpPr/>
          <p:nvPr/>
        </p:nvSpPr>
        <p:spPr>
          <a:xfrm>
            <a:off x="1005840" y="5266944"/>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Trade promotion reconciliation</a:t>
            </a:r>
            <a:endParaRPr lang="en-US" sz="950" dirty="0"/>
          </a:p>
        </p:txBody>
      </p:sp>
      <p:sp>
        <p:nvSpPr>
          <p:cNvPr id="83" name="Text 81"/>
          <p:cNvSpPr/>
          <p:nvPr/>
        </p:nvSpPr>
        <p:spPr>
          <a:xfrm>
            <a:off x="3886200" y="5276088"/>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Trade</a:t>
            </a:r>
            <a:endParaRPr lang="en-US" sz="900" dirty="0"/>
          </a:p>
        </p:txBody>
      </p:sp>
      <p:sp>
        <p:nvSpPr>
          <p:cNvPr id="84" name="Text 82"/>
          <p:cNvSpPr/>
          <p:nvPr/>
        </p:nvSpPr>
        <p:spPr>
          <a:xfrm>
            <a:off x="5440680" y="5276088"/>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Post-promo</a:t>
            </a:r>
            <a:endParaRPr lang="en-US" sz="900" dirty="0"/>
          </a:p>
        </p:txBody>
      </p:sp>
      <p:sp>
        <p:nvSpPr>
          <p:cNvPr id="85" name="Text 83"/>
          <p:cNvSpPr/>
          <p:nvPr/>
        </p:nvSpPr>
        <p:spPr>
          <a:xfrm>
            <a:off x="6949440" y="5276088"/>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Diagnosis</a:t>
            </a:r>
            <a:endParaRPr lang="en-US" sz="900" dirty="0"/>
          </a:p>
        </p:txBody>
      </p:sp>
      <p:sp>
        <p:nvSpPr>
          <p:cNvPr id="86" name="Text 84"/>
          <p:cNvSpPr/>
          <p:nvPr/>
        </p:nvSpPr>
        <p:spPr>
          <a:xfrm>
            <a:off x="8366760" y="5276088"/>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Incrementality contested</a:t>
            </a:r>
            <a:endParaRPr lang="en-US" sz="900" dirty="0"/>
          </a:p>
        </p:txBody>
      </p:sp>
      <p:sp>
        <p:nvSpPr>
          <p:cNvPr id="87" name="Shape 85"/>
          <p:cNvSpPr/>
          <p:nvPr/>
        </p:nvSpPr>
        <p:spPr>
          <a:xfrm>
            <a:off x="11247120" y="5239512"/>
            <a:ext cx="274320" cy="274320"/>
          </a:xfrm>
          <a:prstGeom prst="ellipse">
            <a:avLst/>
          </a:prstGeom>
          <a:solidFill>
            <a:srgbClr val="C8791E"/>
          </a:solidFill>
          <a:ln/>
        </p:spPr>
      </p:sp>
      <p:sp>
        <p:nvSpPr>
          <p:cNvPr id="88" name="Text 86"/>
          <p:cNvSpPr/>
          <p:nvPr/>
        </p:nvSpPr>
        <p:spPr>
          <a:xfrm>
            <a:off x="11247120" y="523951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
            </a:r>
            <a:endParaRPr lang="en-US" sz="900" dirty="0"/>
          </a:p>
        </p:txBody>
      </p:sp>
      <p:sp>
        <p:nvSpPr>
          <p:cNvPr id="89" name="Text 87"/>
          <p:cNvSpPr/>
          <p:nvPr/>
        </p:nvSpPr>
        <p:spPr>
          <a:xfrm>
            <a:off x="566928" y="5687568"/>
            <a:ext cx="402336" cy="237744"/>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10</a:t>
            </a:r>
            <a:endParaRPr lang="en-US" sz="950" dirty="0"/>
          </a:p>
        </p:txBody>
      </p:sp>
      <p:sp>
        <p:nvSpPr>
          <p:cNvPr id="90" name="Text 88"/>
          <p:cNvSpPr/>
          <p:nvPr/>
        </p:nvSpPr>
        <p:spPr>
          <a:xfrm>
            <a:off x="1005840" y="5687568"/>
            <a:ext cx="2834640" cy="237744"/>
          </a:xfrm>
          <a:prstGeom prst="rect">
            <a:avLst/>
          </a:prstGeom>
          <a:noFill/>
          <a:ln/>
        </p:spPr>
        <p:txBody>
          <a:bodyPr wrap="square" lIns="0" tIns="0" rIns="0" bIns="0" rtlCol="0" anchor="ctr"/>
          <a:lstStyle/>
          <a:p>
            <a:pPr indent="0" marL="0">
              <a:buNone/>
            </a:pPr>
            <a:r>
              <a:rPr lang="en-US" sz="950" b="1" dirty="0">
                <a:solidFill>
                  <a:srgbClr val="16222B"/>
                </a:solidFill>
                <a:latin typeface="Calibri" pitchFamily="34" charset="0"/>
                <a:ea typeface="Calibri" pitchFamily="34" charset="-122"/>
                <a:cs typeface="Calibri" pitchFamily="34" charset="-120"/>
              </a:rPr>
              <a:t>New item setup readiness</a:t>
            </a:r>
            <a:endParaRPr lang="en-US" sz="950" dirty="0"/>
          </a:p>
        </p:txBody>
      </p:sp>
      <p:sp>
        <p:nvSpPr>
          <p:cNvPr id="91" name="Text 89"/>
          <p:cNvSpPr/>
          <p:nvPr/>
        </p:nvSpPr>
        <p:spPr>
          <a:xfrm>
            <a:off x="3886200" y="5696712"/>
            <a:ext cx="150876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Commercial ops</a:t>
            </a:r>
            <a:endParaRPr lang="en-US" sz="900" dirty="0"/>
          </a:p>
        </p:txBody>
      </p:sp>
      <p:sp>
        <p:nvSpPr>
          <p:cNvPr id="92" name="Text 90"/>
          <p:cNvSpPr/>
          <p:nvPr/>
        </p:nvSpPr>
        <p:spPr>
          <a:xfrm>
            <a:off x="5440680" y="5696712"/>
            <a:ext cx="146304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New SKU</a:t>
            </a:r>
            <a:endParaRPr lang="en-US" sz="900" dirty="0"/>
          </a:p>
        </p:txBody>
      </p:sp>
      <p:sp>
        <p:nvSpPr>
          <p:cNvPr id="93" name="Text 91"/>
          <p:cNvSpPr/>
          <p:nvPr/>
        </p:nvSpPr>
        <p:spPr>
          <a:xfrm>
            <a:off x="6949440" y="5696712"/>
            <a:ext cx="1371600" cy="237744"/>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Efficiency</a:t>
            </a:r>
            <a:endParaRPr lang="en-US" sz="900" dirty="0"/>
          </a:p>
        </p:txBody>
      </p:sp>
      <p:sp>
        <p:nvSpPr>
          <p:cNvPr id="94" name="Text 92"/>
          <p:cNvSpPr/>
          <p:nvPr/>
        </p:nvSpPr>
        <p:spPr>
          <a:xfrm>
            <a:off x="8366760" y="5696712"/>
            <a:ext cx="2743200" cy="237744"/>
          </a:xfrm>
          <a:prstGeom prst="rect">
            <a:avLst/>
          </a:prstGeom>
          <a:noFill/>
          <a:ln/>
        </p:spPr>
        <p:txBody>
          <a:bodyPr wrap="square" lIns="0" tIns="0" rIns="0" bIns="0" rtlCol="0" anchor="ctr"/>
          <a:lstStyle/>
          <a:p>
            <a:pPr indent="0" marL="0">
              <a:buNone/>
            </a:pPr>
            <a:r>
              <a:rPr lang="en-US" sz="900" dirty="0">
                <a:solidFill>
                  <a:srgbClr val="62757F"/>
                </a:solidFill>
                <a:latin typeface="Calibri" pitchFamily="34" charset="0"/>
                <a:ea typeface="Calibri" pitchFamily="34" charset="-122"/>
                <a:cs typeface="Calibri" pitchFamily="34" charset="-120"/>
              </a:rPr>
              <a:t>Mostly rules — likely a tool</a:t>
            </a:r>
            <a:endParaRPr lang="en-US" sz="900" dirty="0"/>
          </a:p>
        </p:txBody>
      </p:sp>
      <p:sp>
        <p:nvSpPr>
          <p:cNvPr id="95" name="Shape 93"/>
          <p:cNvSpPr/>
          <p:nvPr/>
        </p:nvSpPr>
        <p:spPr>
          <a:xfrm>
            <a:off x="11247120" y="5660136"/>
            <a:ext cx="274320" cy="274320"/>
          </a:xfrm>
          <a:prstGeom prst="ellipse">
            <a:avLst/>
          </a:prstGeom>
          <a:solidFill>
            <a:srgbClr val="9E3B32"/>
          </a:solidFill>
          <a:ln/>
        </p:spPr>
      </p:sp>
      <p:sp>
        <p:nvSpPr>
          <p:cNvPr id="96" name="Text 94"/>
          <p:cNvSpPr/>
          <p:nvPr/>
        </p:nvSpPr>
        <p:spPr>
          <a:xfrm>
            <a:off x="11247120" y="566013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t>
            </a:r>
            <a:endParaRPr lang="en-US" sz="900" dirty="0"/>
          </a:p>
        </p:txBody>
      </p:sp>
      <p:sp>
        <p:nvSpPr>
          <p:cNvPr id="97" name="Text 95"/>
          <p:cNvSpPr/>
          <p:nvPr/>
        </p:nvSpPr>
        <p:spPr>
          <a:xfrm>
            <a:off x="566928" y="6089904"/>
            <a:ext cx="11064240" cy="274320"/>
          </a:xfrm>
          <a:prstGeom prst="rect">
            <a:avLst/>
          </a:prstGeom>
          <a:noFill/>
          <a:ln/>
        </p:spPr>
        <p:txBody>
          <a:bodyPr wrap="square" lIns="0" tIns="0" rIns="0" bIns="0" rtlCol="0" anchor="ctr"/>
          <a:lstStyle/>
          <a:p>
            <a:pPr indent="0" marL="0">
              <a:buNone/>
            </a:pPr>
            <a:r>
              <a:rPr lang="en-US" sz="950" i="1" dirty="0">
                <a:solidFill>
                  <a:srgbClr val="62757F"/>
                </a:solidFill>
                <a:latin typeface="Calibri" pitchFamily="34" charset="0"/>
                <a:ea typeface="Calibri" pitchFamily="34" charset="-122"/>
                <a:cs typeface="Calibri" pitchFamily="34" charset="-120"/>
              </a:rPr>
              <a:t>Fit = how cleanly the option passes the five-part filter.   H = passes all five.   M = passes with a material caveat.   L = likely a tool rather than an agent.</a:t>
            </a:r>
            <a:endParaRPr lang="en-US" sz="950" dirty="0"/>
          </a:p>
        </p:txBody>
      </p:sp>
      <p:sp>
        <p:nvSpPr>
          <p:cNvPr id="98" name="Text 9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99" name="Text 9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1  ·  CROSS-FUNCTIONAL</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Launch readiness assembly</a:t>
            </a:r>
            <a:endParaRPr lang="en-US" sz="2800" dirty="0"/>
          </a:p>
        </p:txBody>
      </p:sp>
      <p:sp>
        <p:nvSpPr>
          <p:cNvPr id="4" name="Shape 2"/>
          <p:cNvSpPr/>
          <p:nvPr/>
        </p:nvSpPr>
        <p:spPr>
          <a:xfrm>
            <a:off x="9646920" y="402336"/>
            <a:ext cx="1984248" cy="384048"/>
          </a:xfrm>
          <a:prstGeom prst="roundRect">
            <a:avLst>
              <a:gd name="adj" fmla="val 16667"/>
            </a:avLst>
          </a:prstGeom>
          <a:solidFill>
            <a:srgbClr val="2C6E49"/>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ALL FIVE</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Before every launch, assemble the status of every dependency — formulation sign-off, claims and regulatory, packaging, retailer setup, content and assets, inventory position.</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A person chasing six functions on Slack for two days. The failure mode is a dependency nobody flagged until too late.</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Six genuinely independent lookups — the cleanest parallel fan-out of the ten</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Verifiable output: a dependency is either ready or it isn't, so evaluation is trivial</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Recurring ritual with an existing owner</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Closest of any option to being a dashboard. The agent value is in interpretation — 'packaging says approved but the artwork version doesn't match the claims doc' — not retrieval. If that judgment layer can't be articulated, build a dashboard and save the money.</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2  ·  MARKETING / PRODUCT</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Cross-brand launch learning</a:t>
            </a:r>
            <a:endParaRPr lang="en-US" sz="2800" dirty="0"/>
          </a:p>
        </p:txBody>
      </p:sp>
      <p:sp>
        <p:nvSpPr>
          <p:cNvPr id="4" name="Shape 2"/>
          <p:cNvSpPr/>
          <p:nvPr/>
        </p:nvSpPr>
        <p:spPr>
          <a:xfrm>
            <a:off x="9646920" y="402336"/>
            <a:ext cx="1984248" cy="384048"/>
          </a:xfrm>
          <a:prstGeom prst="roundRect">
            <a:avLst>
              <a:gd name="adj" fmla="val 16667"/>
            </a:avLst>
          </a:prstGeom>
          <a:solidFill>
            <a:srgbClr val="C8791E"/>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WITH CAVEAT</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Before a launch on one brand, surface what structurally similar launches on the other five brands learned — claim structures, sampling models, pricing, sell-through curve versus forecast.</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Institutional memory held by whoever ran the comparable launch, if they are still at the company.</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Genuinely parallel: each brand's history examined independently, then compared</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Directly addresses the tenure problem — ~2.75 year average US tenure</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No vendor equivalent exists, because nobody else has e.l.f.'s six-brand portfolio</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Requires launch history to be documented somewhere retrievable. If post-launch reviews live in people's heads, there is nothing to retrieve and this becomes a knowledge-capture project first. Worth checking what is actually written down before committing.</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3  ·  DEMAND PLANNING</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Forecast variance triage</a:t>
            </a:r>
            <a:endParaRPr lang="en-US" sz="2800" dirty="0"/>
          </a:p>
        </p:txBody>
      </p:sp>
      <p:sp>
        <p:nvSpPr>
          <p:cNvPr id="4" name="Shape 2"/>
          <p:cNvSpPr/>
          <p:nvPr/>
        </p:nvSpPr>
        <p:spPr>
          <a:xfrm>
            <a:off x="9646920" y="402336"/>
            <a:ext cx="1984248" cy="384048"/>
          </a:xfrm>
          <a:prstGeom prst="roundRect">
            <a:avLst>
              <a:gd name="adj" fmla="val 16667"/>
            </a:avLst>
          </a:prstGeom>
          <a:solidFill>
            <a:srgbClr val="2C6E49"/>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ALL FIVE</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When a SKU misses forecast materially, reconstruct why — promo timing, social spike, competitor move, retailer ordering pattern, supply constraint — and deliver it as a briefing.</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Hours of reconstruction per exception, so most exceptions get a shrug rather than a diagnosis.</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Deterministic trigger on a variance threshold — no LLM deciding what counts as anomalous</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Parallel hypothesis testing across marketing calendar, social, inventory, order history</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Named owner with a recurring cycle and an existing baseline</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Adjacent to what Kinaxis, o9 and Blue Yonder already sell. Needs to be clearly positioned as diagnosis-of-exceptions rather than forecasting, with the differentiation being the marketing and social context those tools do not hold.</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4  ·  MARKETING + OPS</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Campaign-to-shelf reconciliation</a:t>
            </a:r>
            <a:endParaRPr lang="en-US" sz="2800" dirty="0"/>
          </a:p>
        </p:txBody>
      </p:sp>
      <p:sp>
        <p:nvSpPr>
          <p:cNvPr id="4" name="Shape 2"/>
          <p:cNvSpPr/>
          <p:nvPr/>
        </p:nvSpPr>
        <p:spPr>
          <a:xfrm>
            <a:off x="9646920" y="402336"/>
            <a:ext cx="1984248" cy="384048"/>
          </a:xfrm>
          <a:prstGeom prst="roundRect">
            <a:avLst>
              <a:gd name="adj" fmla="val 16667"/>
            </a:avLst>
          </a:prstGeom>
          <a:solidFill>
            <a:srgbClr val="C8791E"/>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WITH CAVEAT</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When something spikes in social, establish whether it converted, where, for which SKU, and whether inventory can support it.</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Three teams looking at three dashboards and comparing notes in a meeting a week later.</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Genuinely cross-domain in a way nobody currently owns — this is the actual attention gap</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Fast signal, fast feedback loop</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Most on-brand for a company whose competitive edge is social velocity</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Attribution is genuinely hard and contested. The system will surface correlations that are not causal. If it overclaims once in front of a CMO, trust is gone. Must be framed as 'here is what moved together', never 'here is what caused what'.</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5  ·  KNOWLEDGE CAPTURE</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Post-launch synthesis</a:t>
            </a:r>
            <a:endParaRPr lang="en-US" sz="2800" dirty="0"/>
          </a:p>
        </p:txBody>
      </p:sp>
      <p:sp>
        <p:nvSpPr>
          <p:cNvPr id="4" name="Shape 2"/>
          <p:cNvSpPr/>
          <p:nvPr/>
        </p:nvSpPr>
        <p:spPr>
          <a:xfrm>
            <a:off x="9646920" y="402336"/>
            <a:ext cx="1984248" cy="384048"/>
          </a:xfrm>
          <a:prstGeom prst="roundRect">
            <a:avLst>
              <a:gd name="adj" fmla="val 16667"/>
            </a:avLst>
          </a:prstGeom>
          <a:solidFill>
            <a:srgbClr val="C8791E"/>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WITH CAVEAT</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After every launch or major campaign, assemble what happened and why into a structured, retrievable record — what was planned, what shipped, what the numbers did, what the team said in the retro.</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Largely undocumented. The record exists in Slack threads and people's memories.</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This is the mechanism that makes option 2 possible at all</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Highest value for institutional memory given e.l.f.'s tenure profile</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Gives the knowledge layer a job — the thing the system writes into, not a separate product</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No immediate decision improves, so ROI is a year out and it is hard to fund on its own merits. Also depends on humans contributing retro input, which is a behaviour change rather than a technical problem.</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6  ·  ORDER-TO-CASH</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Order exception triage</a:t>
            </a:r>
            <a:endParaRPr lang="en-US" sz="2800" dirty="0"/>
          </a:p>
        </p:txBody>
      </p:sp>
      <p:sp>
        <p:nvSpPr>
          <p:cNvPr id="4" name="Shape 2"/>
          <p:cNvSpPr/>
          <p:nvPr/>
        </p:nvSpPr>
        <p:spPr>
          <a:xfrm>
            <a:off x="9646920" y="402336"/>
            <a:ext cx="1984248" cy="384048"/>
          </a:xfrm>
          <a:prstGeom prst="roundRect">
            <a:avLst>
              <a:gd name="adj" fmla="val 16667"/>
            </a:avLst>
          </a:prstGeom>
          <a:solidFill>
            <a:srgbClr val="2C6E49"/>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ALL FIVE</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When an order fails or stalls — pricing mismatch against the trade agreement, credit hold, allocation shortfall, EDI validation error, missing item setup — assemble the full context before a human picks it up.</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A customer service rep picks up each exception cold and reconstructs context across ERP, pricing agreement, credit and inventory.</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Unambiguous trigger: an order is either in an exception state or it is not</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Parallel by nature — credit, pricing terms, inventory, order history, open disputes are independent</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Named owner with a queue and an existing SLA, so there is a baseline from day one</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High volume, so evaluation data accumulates fast</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Lowest ceiling of the ten. This is efficiency, not insight — compressing a twenty-minute reconstruction into two. Real money at volume, unexciting in a boardroom.</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7  ·  FINANCE + TRADE</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Deduction &amp; chargeback disposition</a:t>
            </a:r>
            <a:endParaRPr lang="en-US" sz="2800" dirty="0"/>
          </a:p>
        </p:txBody>
      </p:sp>
      <p:sp>
        <p:nvSpPr>
          <p:cNvPr id="4" name="Shape 2"/>
          <p:cNvSpPr/>
          <p:nvPr/>
        </p:nvSpPr>
        <p:spPr>
          <a:xfrm>
            <a:off x="9646920" y="402336"/>
            <a:ext cx="1984248" cy="384048"/>
          </a:xfrm>
          <a:prstGeom prst="roundRect">
            <a:avLst>
              <a:gd name="adj" fmla="val 16667"/>
            </a:avLst>
          </a:prstGeom>
          <a:solidFill>
            <a:srgbClr val="2C6E49"/>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ALL FIVE</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For each retailer deduction — shortage, compliance fine, unauthorised promo claim, price discrepancy — assemble the match against trade promotion record, shipment and proof of delivery, pricing agreement, and history of similar claims from that retailer.</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Each deduction needs an accept / dispute / investigate decision. Backlogs are notoriously written off because nobody had time to investigate.</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Genuinely cross-domain — spans finance, trade, supply chain and sales, with no single system holding the answer</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Hard dollar value attached to every single decision, so ROI is trivially measurable</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The baseline is often 'we lost the money by default', which is a low bar to beat</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Requires trade promotion data to be in reasonable shape. If TPM lives in spreadsheets, the matching step is unreliable and the whole case weakens.</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8  ·  SALES</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Retailer order-pattern anomaly</a:t>
            </a:r>
            <a:endParaRPr lang="en-US" sz="2800" dirty="0"/>
          </a:p>
        </p:txBody>
      </p:sp>
      <p:sp>
        <p:nvSpPr>
          <p:cNvPr id="4" name="Shape 2"/>
          <p:cNvSpPr/>
          <p:nvPr/>
        </p:nvSpPr>
        <p:spPr>
          <a:xfrm>
            <a:off x="9646920" y="402336"/>
            <a:ext cx="1984248" cy="384048"/>
          </a:xfrm>
          <a:prstGeom prst="roundRect">
            <a:avLst>
              <a:gd name="adj" fmla="val 16667"/>
            </a:avLst>
          </a:prstGeom>
          <a:solidFill>
            <a:srgbClr val="2C6E49"/>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ALL FIVE</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Detect when a retailer's ordering behaviour shifts — reorder frequency drops, a SKU disappears from replenishment, order sizes shrink — and assemble the context around it.</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Surfaces weeks later in a sales review, by which point it is too late to intervene.</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Deterministic trigger on order data e.l.f. fully owns — no external dependency</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Assembly pulls account history, item distribution, promo calendar, prior similar episodes</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Genuinely predictive rather than diagnostic, which differentiates it from most of the list</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Catching a delisting signal early is worth real money</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False positives are costly in a specific way: an account manager who calls a buyer about a phantom problem burns credibility that is hard to rebuild. Needs a deliberately high firing threshold.</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9  ·  TRADE</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Trade promotion reconciliation</a:t>
            </a:r>
            <a:endParaRPr lang="en-US" sz="2800" dirty="0"/>
          </a:p>
        </p:txBody>
      </p:sp>
      <p:sp>
        <p:nvSpPr>
          <p:cNvPr id="4" name="Shape 2"/>
          <p:cNvSpPr/>
          <p:nvPr/>
        </p:nvSpPr>
        <p:spPr>
          <a:xfrm>
            <a:off x="9646920" y="402336"/>
            <a:ext cx="1984248" cy="384048"/>
          </a:xfrm>
          <a:prstGeom prst="roundRect">
            <a:avLst>
              <a:gd name="adj" fmla="val 16667"/>
            </a:avLst>
          </a:prstGeom>
          <a:solidFill>
            <a:srgbClr val="C8791E"/>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PASSES WITH CAVEAT</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After a promotion, establish whether the lift was real, whether it was incremental or pull-forward, whether the retailer executed what was agreed, and the actual cost per incremental unit.</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Partially done, inconsistently, usually too late to inform the next negotiation.</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Recurring on a defined cycle</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Cross-domain by nature — joins promotion plan, shipment, consumption, pricing, inventory</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Directly informs the next joint business planning negotiation, so there is a decision downstream</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Incrementality is methodologically contested — the same credibility exposure as attribution in option 4. Also the most likely of the ten to overlap with existing trade promotion management vendors.</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OPTION 10  ·  COMMERCIAL OPS</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New item setup readiness</a:t>
            </a:r>
            <a:endParaRPr lang="en-US" sz="2800" dirty="0"/>
          </a:p>
        </p:txBody>
      </p:sp>
      <p:sp>
        <p:nvSpPr>
          <p:cNvPr id="4" name="Shape 2"/>
          <p:cNvSpPr/>
          <p:nvPr/>
        </p:nvSpPr>
        <p:spPr>
          <a:xfrm>
            <a:off x="9646920" y="402336"/>
            <a:ext cx="1984248" cy="384048"/>
          </a:xfrm>
          <a:prstGeom prst="roundRect">
            <a:avLst>
              <a:gd name="adj" fmla="val 16667"/>
            </a:avLst>
          </a:prstGeom>
          <a:solidFill>
            <a:srgbClr val="9E3B32"/>
          </a:solidFill>
          <a:ln/>
        </p:spPr>
      </p:sp>
      <p:sp>
        <p:nvSpPr>
          <p:cNvPr id="5" name="Text 3"/>
          <p:cNvSpPr/>
          <p:nvPr/>
        </p:nvSpPr>
        <p:spPr>
          <a:xfrm>
            <a:off x="9646920" y="484632"/>
            <a:ext cx="1984248" cy="237744"/>
          </a:xfrm>
          <a:prstGeom prst="rect">
            <a:avLst/>
          </a:prstGeom>
          <a:noFill/>
          <a:ln/>
        </p:spPr>
        <p:txBody>
          <a:bodyPr wrap="square" lIns="0" tIns="0" rIns="0" bIns="0" rtlCol="0" anchor="ctr"/>
          <a:lstStyle/>
          <a:p>
            <a:pPr algn="ctr" indent="0" marL="0">
              <a:buNone/>
            </a:pPr>
            <a:r>
              <a:rPr lang="en-US" sz="850" b="1" spc="80" kern="0" dirty="0">
                <a:solidFill>
                  <a:srgbClr val="FFFFFF"/>
                </a:solidFill>
                <a:latin typeface="Calibri" pitchFamily="34" charset="0"/>
                <a:ea typeface="Calibri" pitchFamily="34" charset="-122"/>
                <a:cs typeface="Calibri" pitchFamily="34" charset="-120"/>
              </a:rPr>
              <a:t>LIKELY A TOOL</a:t>
            </a:r>
            <a:endParaRPr lang="en-US" sz="850" dirty="0"/>
          </a:p>
        </p:txBody>
      </p:sp>
      <p:sp>
        <p:nvSpPr>
          <p:cNvPr id="6" name="Shape 4"/>
          <p:cNvSpPr/>
          <p:nvPr/>
        </p:nvSpPr>
        <p:spPr>
          <a:xfrm>
            <a:off x="566928" y="1481328"/>
            <a:ext cx="5486400" cy="1481328"/>
          </a:xfrm>
          <a:prstGeom prst="roundRect">
            <a:avLst>
              <a:gd name="adj" fmla="val 4321"/>
            </a:avLst>
          </a:prstGeom>
          <a:solidFill>
            <a:srgbClr val="F3F7F9"/>
          </a:solidFill>
          <a:ln/>
        </p:spPr>
      </p:sp>
      <p:sp>
        <p:nvSpPr>
          <p:cNvPr id="7" name="Text 5"/>
          <p:cNvSpPr/>
          <p:nvPr/>
        </p:nvSpPr>
        <p:spPr>
          <a:xfrm>
            <a:off x="822960" y="1645920"/>
            <a:ext cx="5029200" cy="256032"/>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What it does</a:t>
            </a:r>
            <a:endParaRPr lang="en-US" sz="1200" dirty="0"/>
          </a:p>
        </p:txBody>
      </p:sp>
      <p:sp>
        <p:nvSpPr>
          <p:cNvPr id="8" name="Text 6"/>
          <p:cNvSpPr/>
          <p:nvPr/>
        </p:nvSpPr>
        <p:spPr>
          <a:xfrm>
            <a:off x="822960" y="1938528"/>
            <a:ext cx="5029200" cy="914400"/>
          </a:xfrm>
          <a:prstGeom prst="rect">
            <a:avLst/>
          </a:prstGeom>
          <a:noFill/>
          <a:ln/>
        </p:spPr>
        <p:txBody>
          <a:bodyPr wrap="square" lIns="0" tIns="0" rIns="0" bIns="0" rtlCol="0" anchor="ctr"/>
          <a:lstStyle/>
          <a:p>
            <a:pPr indent="0" marL="0">
              <a:buNone/>
            </a:pPr>
            <a:r>
              <a:rPr lang="en-US" sz="1100" dirty="0">
                <a:solidFill>
                  <a:srgbClr val="16222B"/>
                </a:solidFill>
                <a:latin typeface="Calibri" pitchFamily="34" charset="0"/>
                <a:ea typeface="Calibri" pitchFamily="34" charset="-122"/>
                <a:cs typeface="Calibri" pitchFamily="34" charset="-120"/>
              </a:rPr>
              <a:t>Validate that every new SKU has complete and correct item setup data — GS1 attributes, dimensions, images, hierarchy, pricing, logistics attributes — before submission.</a:t>
            </a:r>
            <a:endParaRPr lang="en-US" sz="1100" dirty="0"/>
          </a:p>
        </p:txBody>
      </p:sp>
      <p:sp>
        <p:nvSpPr>
          <p:cNvPr id="9" name="Shape 7"/>
          <p:cNvSpPr/>
          <p:nvPr/>
        </p:nvSpPr>
        <p:spPr>
          <a:xfrm>
            <a:off x="6236208" y="1481328"/>
            <a:ext cx="5394960" cy="1481328"/>
          </a:xfrm>
          <a:prstGeom prst="roundRect">
            <a:avLst>
              <a:gd name="adj" fmla="val 4321"/>
            </a:avLst>
          </a:prstGeom>
          <a:solidFill>
            <a:srgbClr val="FFFFFF"/>
          </a:solidFill>
          <a:ln w="12700">
            <a:solidFill>
              <a:srgbClr val="CFDDE5"/>
            </a:solidFill>
            <a:prstDash val="solid"/>
          </a:ln>
        </p:spPr>
      </p:sp>
      <p:sp>
        <p:nvSpPr>
          <p:cNvPr id="10" name="Text 8"/>
          <p:cNvSpPr/>
          <p:nvPr/>
        </p:nvSpPr>
        <p:spPr>
          <a:xfrm>
            <a:off x="6492240" y="1645920"/>
            <a:ext cx="4937760" cy="256032"/>
          </a:xfrm>
          <a:prstGeom prst="rect">
            <a:avLst/>
          </a:prstGeom>
          <a:noFill/>
          <a:ln/>
        </p:spPr>
        <p:txBody>
          <a:bodyPr wrap="square" lIns="0" tIns="0" rIns="0" bIns="0" rtlCol="0" anchor="ctr"/>
          <a:lstStyle/>
          <a:p>
            <a:pPr indent="0" marL="0">
              <a:buNone/>
            </a:pPr>
            <a:r>
              <a:rPr lang="en-US" sz="1200" b="1" dirty="0">
                <a:solidFill>
                  <a:srgbClr val="62757F"/>
                </a:solidFill>
                <a:latin typeface="Calibri" pitchFamily="34" charset="0"/>
                <a:ea typeface="Calibri" pitchFamily="34" charset="-122"/>
                <a:cs typeface="Calibri" pitchFamily="34" charset="-120"/>
              </a:rPr>
              <a:t>How it works today</a:t>
            </a:r>
            <a:endParaRPr lang="en-US" sz="1200" dirty="0"/>
          </a:p>
        </p:txBody>
      </p:sp>
      <p:sp>
        <p:nvSpPr>
          <p:cNvPr id="11" name="Text 9"/>
          <p:cNvSpPr/>
          <p:nvPr/>
        </p:nvSpPr>
        <p:spPr>
          <a:xfrm>
            <a:off x="6492240" y="1938528"/>
            <a:ext cx="4937760" cy="914400"/>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Rejections cause launch delays that are invisible until they bite.</a:t>
            </a:r>
            <a:endParaRPr lang="en-US" sz="1100" dirty="0"/>
          </a:p>
        </p:txBody>
      </p:sp>
      <p:sp>
        <p:nvSpPr>
          <p:cNvPr id="12" name="Shape 10"/>
          <p:cNvSpPr/>
          <p:nvPr/>
        </p:nvSpPr>
        <p:spPr>
          <a:xfrm>
            <a:off x="566928" y="3163824"/>
            <a:ext cx="5486400" cy="2103120"/>
          </a:xfrm>
          <a:prstGeom prst="roundRect">
            <a:avLst>
              <a:gd name="adj" fmla="val 3043"/>
            </a:avLst>
          </a:prstGeom>
          <a:solidFill>
            <a:srgbClr val="21295C"/>
          </a:solidFill>
          <a:ln/>
        </p:spPr>
      </p:sp>
      <p:sp>
        <p:nvSpPr>
          <p:cNvPr id="13" name="Text 11"/>
          <p:cNvSpPr/>
          <p:nvPr/>
        </p:nvSpPr>
        <p:spPr>
          <a:xfrm>
            <a:off x="822960" y="3346704"/>
            <a:ext cx="50292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it fits the filter</a:t>
            </a:r>
            <a:endParaRPr lang="en-US" sz="1250" dirty="0"/>
          </a:p>
        </p:txBody>
      </p:sp>
      <p:sp>
        <p:nvSpPr>
          <p:cNvPr id="14" name="Text 12"/>
          <p:cNvSpPr/>
          <p:nvPr/>
        </p:nvSpPr>
        <p:spPr>
          <a:xfrm>
            <a:off x="841248" y="3675888"/>
            <a:ext cx="5029200" cy="1481328"/>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Highly parallel validation across many independent attribute checks</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Deterministic pass/fail, so evaluation is clean</a:t>
            </a:r>
            <a:endParaRPr lang="en-US" sz="1050" dirty="0"/>
          </a:p>
          <a:p>
            <a:pPr marL="342900" indent="-342900">
              <a:spcAft>
                <a:spcPts val="600"/>
              </a:spcAft>
              <a:buSzPct val="100000"/>
              <a:buChar char="•"/>
            </a:pPr>
            <a:r>
              <a:rPr lang="en-US" sz="1050" dirty="0">
                <a:solidFill>
                  <a:srgbClr val="D6E4EC"/>
                </a:solidFill>
                <a:latin typeface="Calibri" pitchFamily="34" charset="0"/>
                <a:ea typeface="Calibri" pitchFamily="34" charset="-122"/>
                <a:cs typeface="Calibri" pitchFamily="34" charset="-120"/>
              </a:rPr>
              <a:t>Real and quantifiable cost when it fails</a:t>
            </a:r>
            <a:endParaRPr lang="en-US" sz="1050" dirty="0"/>
          </a:p>
        </p:txBody>
      </p:sp>
      <p:sp>
        <p:nvSpPr>
          <p:cNvPr id="15" name="Shape 13"/>
          <p:cNvSpPr/>
          <p:nvPr/>
        </p:nvSpPr>
        <p:spPr>
          <a:xfrm>
            <a:off x="6236208" y="3163824"/>
            <a:ext cx="5394960" cy="2103120"/>
          </a:xfrm>
          <a:prstGeom prst="roundRect">
            <a:avLst>
              <a:gd name="adj" fmla="val 3043"/>
            </a:avLst>
          </a:prstGeom>
          <a:solidFill>
            <a:srgbClr val="F3F7F9"/>
          </a:solidFill>
          <a:ln/>
        </p:spPr>
      </p:sp>
      <p:sp>
        <p:nvSpPr>
          <p:cNvPr id="16" name="Text 14"/>
          <p:cNvSpPr/>
          <p:nvPr/>
        </p:nvSpPr>
        <p:spPr>
          <a:xfrm>
            <a:off x="6492240" y="3346704"/>
            <a:ext cx="4937760" cy="274320"/>
          </a:xfrm>
          <a:prstGeom prst="rect">
            <a:avLst/>
          </a:prstGeom>
          <a:noFill/>
          <a:ln/>
        </p:spPr>
        <p:txBody>
          <a:bodyPr wrap="square" lIns="0" tIns="0" rIns="0" bIns="0" rtlCol="0" anchor="ctr"/>
          <a:lstStyle/>
          <a:p>
            <a:pPr indent="0" marL="0">
              <a:buNone/>
            </a:pPr>
            <a:r>
              <a:rPr lang="en-US" sz="1250" b="1" dirty="0">
                <a:solidFill>
                  <a:srgbClr val="9E3B32"/>
                </a:solidFill>
                <a:latin typeface="Calibri" pitchFamily="34" charset="0"/>
                <a:ea typeface="Calibri" pitchFamily="34" charset="-122"/>
                <a:cs typeface="Calibri" pitchFamily="34" charset="-120"/>
              </a:rPr>
              <a:t>The risk</a:t>
            </a:r>
            <a:endParaRPr lang="en-US" sz="1250" dirty="0"/>
          </a:p>
        </p:txBody>
      </p:sp>
      <p:sp>
        <p:nvSpPr>
          <p:cNvPr id="17" name="Text 15"/>
          <p:cNvSpPr/>
          <p:nvPr/>
        </p:nvSpPr>
        <p:spPr>
          <a:xfrm>
            <a:off x="6492240" y="3675888"/>
            <a:ext cx="4937760" cy="1481328"/>
          </a:xfrm>
          <a:prstGeom prst="rect">
            <a:avLst/>
          </a:prstGeom>
          <a:noFill/>
          <a:ln/>
        </p:spPr>
        <p:txBody>
          <a:bodyPr wrap="square" lIns="0" tIns="0" rIns="0" bIns="0" rtlCol="0" anchor="ctr"/>
          <a:lstStyle/>
          <a:p>
            <a:pPr indent="0" marL="0">
              <a:buNone/>
            </a:pPr>
            <a:r>
              <a:rPr lang="en-US" sz="1050" dirty="0">
                <a:solidFill>
                  <a:srgbClr val="16222B"/>
                </a:solidFill>
                <a:latin typeface="Calibri" pitchFamily="34" charset="0"/>
                <a:ea typeface="Calibri" pitchFamily="34" charset="-122"/>
                <a:cs typeface="Calibri" pitchFamily="34" charset="-120"/>
              </a:rPr>
              <a:t>This is validation, not judgment. Most of it is rules. Genuinely a candidate for 'make it a tool, not an agent' — and probably best included as a component of option 1 rather than standing alone.</a:t>
            </a:r>
            <a:endParaRPr lang="en-US" sz="1050" dirty="0"/>
          </a:p>
        </p:txBody>
      </p:sp>
      <p:sp>
        <p:nvSpPr>
          <p:cNvPr id="18" name="Text 16"/>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9" name="Text 17"/>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065A82"/>
                </a:solidFill>
                <a:latin typeface="Calibri" pitchFamily="34" charset="0"/>
                <a:ea typeface="Calibri" pitchFamily="34" charset="-122"/>
                <a:cs typeface="Calibri" pitchFamily="34" charset="-120"/>
              </a:rPr>
              <a:t>EXCLUDED</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16222B"/>
                </a:solidFill>
                <a:latin typeface="Cambria" pitchFamily="34" charset="0"/>
                <a:ea typeface="Cambria" pitchFamily="34" charset="-122"/>
                <a:cs typeface="Cambria" pitchFamily="34" charset="-120"/>
              </a:rPr>
              <a:t>Two that fail the filter — and why they'll come up anyway</a:t>
            </a:r>
            <a:endParaRPr lang="en-US" sz="2800" dirty="0"/>
          </a:p>
        </p:txBody>
      </p:sp>
      <p:sp>
        <p:nvSpPr>
          <p:cNvPr id="4" name="Shape 2"/>
          <p:cNvSpPr/>
          <p:nvPr/>
        </p:nvSpPr>
        <p:spPr>
          <a:xfrm>
            <a:off x="566928" y="1554480"/>
            <a:ext cx="11064240" cy="1481328"/>
          </a:xfrm>
          <a:prstGeom prst="roundRect">
            <a:avLst>
              <a:gd name="adj" fmla="val 4321"/>
            </a:avLst>
          </a:prstGeom>
          <a:solidFill>
            <a:srgbClr val="F3F7F9"/>
          </a:solidFill>
          <a:ln/>
        </p:spPr>
      </p:sp>
      <p:sp>
        <p:nvSpPr>
          <p:cNvPr id="5" name="Shape 3"/>
          <p:cNvSpPr/>
          <p:nvPr/>
        </p:nvSpPr>
        <p:spPr>
          <a:xfrm>
            <a:off x="841248" y="1810512"/>
            <a:ext cx="402336" cy="402336"/>
          </a:xfrm>
          <a:prstGeom prst="ellipse">
            <a:avLst/>
          </a:prstGeom>
          <a:solidFill>
            <a:srgbClr val="9E3B32"/>
          </a:solidFill>
          <a:ln/>
        </p:spPr>
      </p:sp>
      <p:sp>
        <p:nvSpPr>
          <p:cNvPr id="6" name="Text 4"/>
          <p:cNvSpPr/>
          <p:nvPr/>
        </p:nvSpPr>
        <p:spPr>
          <a:xfrm>
            <a:off x="841248" y="18105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444752" y="1773936"/>
            <a:ext cx="3657600" cy="329184"/>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Dynamic pricing</a:t>
            </a:r>
            <a:endParaRPr lang="en-US" sz="1600" dirty="0"/>
          </a:p>
        </p:txBody>
      </p:sp>
      <p:sp>
        <p:nvSpPr>
          <p:cNvPr id="8" name="Text 6"/>
          <p:cNvSpPr/>
          <p:nvPr/>
        </p:nvSpPr>
        <p:spPr>
          <a:xfrm>
            <a:off x="1444752" y="2139696"/>
            <a:ext cx="9875520" cy="786384"/>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Cross-domain and high value — but it is an autonomous commitment with real legal exposure: channel conflict, minimum advertised price, price discrimination. Not a first use case, and arguably not a fifth. The moment a system changes a price without a human, the governance conversation changes completely.</a:t>
            </a:r>
            <a:endParaRPr lang="en-US" sz="1100" dirty="0"/>
          </a:p>
        </p:txBody>
      </p:sp>
      <p:sp>
        <p:nvSpPr>
          <p:cNvPr id="9" name="Shape 7"/>
          <p:cNvSpPr/>
          <p:nvPr/>
        </p:nvSpPr>
        <p:spPr>
          <a:xfrm>
            <a:off x="566928" y="3182112"/>
            <a:ext cx="11064240" cy="1481328"/>
          </a:xfrm>
          <a:prstGeom prst="roundRect">
            <a:avLst>
              <a:gd name="adj" fmla="val 4321"/>
            </a:avLst>
          </a:prstGeom>
          <a:solidFill>
            <a:srgbClr val="F3F7F9"/>
          </a:solidFill>
          <a:ln/>
        </p:spPr>
      </p:sp>
      <p:sp>
        <p:nvSpPr>
          <p:cNvPr id="10" name="Shape 8"/>
          <p:cNvSpPr/>
          <p:nvPr/>
        </p:nvSpPr>
        <p:spPr>
          <a:xfrm>
            <a:off x="841248" y="3438144"/>
            <a:ext cx="402336" cy="402336"/>
          </a:xfrm>
          <a:prstGeom prst="ellipse">
            <a:avLst/>
          </a:prstGeom>
          <a:solidFill>
            <a:srgbClr val="9E3B32"/>
          </a:solidFill>
          <a:ln/>
        </p:spPr>
      </p:sp>
      <p:sp>
        <p:nvSpPr>
          <p:cNvPr id="11" name="Text 9"/>
          <p:cNvSpPr/>
          <p:nvPr/>
        </p:nvSpPr>
        <p:spPr>
          <a:xfrm>
            <a:off x="841248" y="34381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444752" y="3401568"/>
            <a:ext cx="3657600" cy="329184"/>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Lead scoring / SDR agents</a:t>
            </a:r>
            <a:endParaRPr lang="en-US" sz="1600" dirty="0"/>
          </a:p>
        </p:txBody>
      </p:sp>
      <p:sp>
        <p:nvSpPr>
          <p:cNvPr id="13" name="Text 11"/>
          <p:cNvSpPr/>
          <p:nvPr/>
        </p:nvSpPr>
        <p:spPr>
          <a:xfrm>
            <a:off x="1444752" y="3767328"/>
            <a:ext cx="9875520" cy="786384"/>
          </a:xfrm>
          <a:prstGeom prst="rect">
            <a:avLst/>
          </a:prstGeom>
          <a:noFill/>
          <a:ln/>
        </p:spPr>
        <p:txBody>
          <a:bodyPr wrap="square" lIns="0" tIns="0" rIns="0" bIns="0" rtlCol="0" anchor="ctr"/>
          <a:lstStyle/>
          <a:p>
            <a:pPr indent="0" marL="0">
              <a:buNone/>
            </a:pPr>
            <a:r>
              <a:rPr lang="en-US" sz="1100" dirty="0">
                <a:solidFill>
                  <a:srgbClr val="62757F"/>
                </a:solidFill>
                <a:latin typeface="Calibri" pitchFamily="34" charset="0"/>
                <a:ea typeface="Calibri" pitchFamily="34" charset="-122"/>
                <a:cs typeface="Calibri" pitchFamily="34" charset="-120"/>
              </a:rPr>
              <a:t>The most common agentic use case in the market, and the wrong shape here. e.l.f. sells through a small number of large retail accounts, not a long tail of prospects. The volume that makes these systems work does not exist in this business model.</a:t>
            </a:r>
            <a:endParaRPr lang="en-US" sz="1100" dirty="0"/>
          </a:p>
        </p:txBody>
      </p:sp>
      <p:sp>
        <p:nvSpPr>
          <p:cNvPr id="14" name="Shape 12"/>
          <p:cNvSpPr/>
          <p:nvPr/>
        </p:nvSpPr>
        <p:spPr>
          <a:xfrm>
            <a:off x="566928" y="4882896"/>
            <a:ext cx="11064240" cy="1060704"/>
          </a:xfrm>
          <a:prstGeom prst="roundRect">
            <a:avLst>
              <a:gd name="adj" fmla="val 6034"/>
            </a:avLst>
          </a:prstGeom>
          <a:solidFill>
            <a:srgbClr val="21295C"/>
          </a:solidFill>
          <a:ln/>
        </p:spPr>
      </p:sp>
      <p:sp>
        <p:nvSpPr>
          <p:cNvPr id="15" name="Text 13"/>
          <p:cNvSpPr/>
          <p:nvPr/>
        </p:nvSpPr>
        <p:spPr>
          <a:xfrm>
            <a:off x="841248" y="5065776"/>
            <a:ext cx="3657600" cy="274320"/>
          </a:xfrm>
          <a:prstGeom prst="rect">
            <a:avLst/>
          </a:prstGeom>
          <a:noFill/>
          <a:ln/>
        </p:spPr>
        <p:txBody>
          <a:bodyPr wrap="square" lIns="0" tIns="0" rIns="0" bIns="0" rtlCol="0" anchor="ctr"/>
          <a:lstStyle/>
          <a:p>
            <a:pPr indent="0" marL="0">
              <a:buNone/>
            </a:pPr>
            <a:r>
              <a:rPr lang="en-US" sz="1250" b="1" dirty="0">
                <a:solidFill>
                  <a:srgbClr val="C8791E"/>
                </a:solidFill>
                <a:latin typeface="Calibri" pitchFamily="34" charset="0"/>
                <a:ea typeface="Calibri" pitchFamily="34" charset="-122"/>
                <a:cs typeface="Calibri" pitchFamily="34" charset="-120"/>
              </a:rPr>
              <a:t>Why include them at all</a:t>
            </a:r>
            <a:endParaRPr lang="en-US" sz="1250" dirty="0"/>
          </a:p>
        </p:txBody>
      </p:sp>
      <p:sp>
        <p:nvSpPr>
          <p:cNvPr id="16" name="Text 14"/>
          <p:cNvSpPr/>
          <p:nvPr/>
        </p:nvSpPr>
        <p:spPr>
          <a:xfrm>
            <a:off x="841248" y="5376672"/>
            <a:ext cx="10607040" cy="475488"/>
          </a:xfrm>
          <a:prstGeom prst="rect">
            <a:avLst/>
          </a:prstGeom>
          <a:noFill/>
          <a:ln/>
        </p:spPr>
        <p:txBody>
          <a:bodyPr wrap="square" lIns="0" tIns="0" rIns="0" bIns="0" rtlCol="0" anchor="ctr"/>
          <a:lstStyle/>
          <a:p>
            <a:pPr indent="0" marL="0">
              <a:buNone/>
            </a:pPr>
            <a:r>
              <a:rPr lang="en-US" sz="1100" dirty="0">
                <a:solidFill>
                  <a:srgbClr val="D6E4EC"/>
                </a:solidFill>
                <a:latin typeface="Calibri" pitchFamily="34" charset="0"/>
                <a:ea typeface="Calibri" pitchFamily="34" charset="-122"/>
                <a:cs typeface="Calibri" pitchFamily="34" charset="-120"/>
              </a:rPr>
              <a:t>Both are the ideas most likely to be proposed by someone else in the room — dynamic pricing because it sounds transformative, lead scoring because it is what every vendor demos. Having the reason they fail written down in advance is more useful than having to improvise it.</a:t>
            </a:r>
            <a:endParaRPr lang="en-US" sz="1100" dirty="0"/>
          </a:p>
        </p:txBody>
      </p:sp>
      <p:sp>
        <p:nvSpPr>
          <p:cNvPr id="17" name="Text 15"/>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62757F"/>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18" name="Text 16"/>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62757F"/>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66928" y="365760"/>
            <a:ext cx="10058400" cy="256032"/>
          </a:xfrm>
          <a:prstGeom prst="rect">
            <a:avLst/>
          </a:prstGeom>
          <a:noFill/>
          <a:ln/>
        </p:spPr>
        <p:txBody>
          <a:bodyPr wrap="square" lIns="0" tIns="0" rIns="0" bIns="0" rtlCol="0" anchor="ctr"/>
          <a:lstStyle/>
          <a:p>
            <a:pPr indent="0" marL="0">
              <a:buNone/>
            </a:pPr>
            <a:r>
              <a:rPr lang="en-US" sz="1100" b="1" spc="240" kern="0" dirty="0">
                <a:solidFill>
                  <a:srgbClr val="D6E4EC"/>
                </a:solidFill>
                <a:latin typeface="Calibri" pitchFamily="34" charset="0"/>
                <a:ea typeface="Calibri" pitchFamily="34" charset="-122"/>
                <a:cs typeface="Calibri" pitchFamily="34" charset="-120"/>
              </a:rPr>
              <a:t>NEXT</a:t>
            </a:r>
            <a:endParaRPr lang="en-US" sz="1100" dirty="0"/>
          </a:p>
        </p:txBody>
      </p:sp>
      <p:sp>
        <p:nvSpPr>
          <p:cNvPr id="3" name="Text 1"/>
          <p:cNvSpPr/>
          <p:nvPr/>
        </p:nvSpPr>
        <p:spPr>
          <a:xfrm>
            <a:off x="548640" y="640080"/>
            <a:ext cx="11064240" cy="65836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actually determines which one to pick</a:t>
            </a:r>
            <a:endParaRPr lang="en-US" sz="2800" dirty="0"/>
          </a:p>
        </p:txBody>
      </p:sp>
      <p:sp>
        <p:nvSpPr>
          <p:cNvPr id="4" name="Shape 2"/>
          <p:cNvSpPr/>
          <p:nvPr/>
        </p:nvSpPr>
        <p:spPr>
          <a:xfrm>
            <a:off x="566928" y="1536192"/>
            <a:ext cx="11064240" cy="1060704"/>
          </a:xfrm>
          <a:prstGeom prst="roundRect">
            <a:avLst>
              <a:gd name="adj" fmla="val 6034"/>
            </a:avLst>
          </a:prstGeom>
          <a:solidFill>
            <a:srgbClr val="2C3670"/>
          </a:solidFill>
          <a:ln/>
        </p:spPr>
      </p:sp>
      <p:sp>
        <p:nvSpPr>
          <p:cNvPr id="5" name="Shape 3"/>
          <p:cNvSpPr/>
          <p:nvPr/>
        </p:nvSpPr>
        <p:spPr>
          <a:xfrm>
            <a:off x="822960" y="1865376"/>
            <a:ext cx="402336" cy="402336"/>
          </a:xfrm>
          <a:prstGeom prst="ellipse">
            <a:avLst/>
          </a:prstGeom>
          <a:solidFill>
            <a:srgbClr val="C8791E"/>
          </a:solidFill>
          <a:ln/>
        </p:spPr>
      </p:sp>
      <p:sp>
        <p:nvSpPr>
          <p:cNvPr id="6" name="Text 4"/>
          <p:cNvSpPr/>
          <p:nvPr/>
        </p:nvSpPr>
        <p:spPr>
          <a:xfrm>
            <a:off x="822960" y="1865376"/>
            <a:ext cx="402336" cy="402336"/>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26464" y="1719072"/>
            <a:ext cx="45720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Who is the named owner?</a:t>
            </a:r>
            <a:endParaRPr lang="en-US" sz="1350" dirty="0"/>
          </a:p>
        </p:txBody>
      </p:sp>
      <p:sp>
        <p:nvSpPr>
          <p:cNvPr id="8" name="Text 6"/>
          <p:cNvSpPr/>
          <p:nvPr/>
        </p:nvSpPr>
        <p:spPr>
          <a:xfrm>
            <a:off x="1426464" y="2048256"/>
            <a:ext cx="9875520" cy="457200"/>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For each option, identify the specific person whose week gets worse when that decision goes badly. If you cannot name them, that option is not ready regardless of how good the concept is. This is the single most useful filter and the one most often skipped.</a:t>
            </a:r>
            <a:endParaRPr lang="en-US" sz="1050" dirty="0"/>
          </a:p>
        </p:txBody>
      </p:sp>
      <p:sp>
        <p:nvSpPr>
          <p:cNvPr id="9" name="Shape 7"/>
          <p:cNvSpPr/>
          <p:nvPr/>
        </p:nvSpPr>
        <p:spPr>
          <a:xfrm>
            <a:off x="566928" y="2688336"/>
            <a:ext cx="11064240" cy="1060704"/>
          </a:xfrm>
          <a:prstGeom prst="roundRect">
            <a:avLst>
              <a:gd name="adj" fmla="val 6034"/>
            </a:avLst>
          </a:prstGeom>
          <a:solidFill>
            <a:srgbClr val="2C3670"/>
          </a:solidFill>
          <a:ln/>
        </p:spPr>
      </p:sp>
      <p:sp>
        <p:nvSpPr>
          <p:cNvPr id="10" name="Shape 8"/>
          <p:cNvSpPr/>
          <p:nvPr/>
        </p:nvSpPr>
        <p:spPr>
          <a:xfrm>
            <a:off x="822960" y="3017520"/>
            <a:ext cx="402336" cy="402336"/>
          </a:xfrm>
          <a:prstGeom prst="ellipse">
            <a:avLst/>
          </a:prstGeom>
          <a:solidFill>
            <a:srgbClr val="C8791E"/>
          </a:solidFill>
          <a:ln/>
        </p:spPr>
      </p:sp>
      <p:sp>
        <p:nvSpPr>
          <p:cNvPr id="11" name="Text 9"/>
          <p:cNvSpPr/>
          <p:nvPr/>
        </p:nvSpPr>
        <p:spPr>
          <a:xfrm>
            <a:off x="822960" y="3017520"/>
            <a:ext cx="402336" cy="402336"/>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426464" y="2871216"/>
            <a:ext cx="45720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is already written down?</a:t>
            </a:r>
            <a:endParaRPr lang="en-US" sz="1350" dirty="0"/>
          </a:p>
        </p:txBody>
      </p:sp>
      <p:sp>
        <p:nvSpPr>
          <p:cNvPr id="13" name="Text 11"/>
          <p:cNvSpPr/>
          <p:nvPr/>
        </p:nvSpPr>
        <p:spPr>
          <a:xfrm>
            <a:off x="1426464" y="3200400"/>
            <a:ext cx="9875520" cy="457200"/>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Options 2 and 5 depend entirely on whether launch history and retro input exist in retrievable form. Options 7 and 9 depend on the state of trade promotion data. Worth checking before committing, not after.</a:t>
            </a:r>
            <a:endParaRPr lang="en-US" sz="1050" dirty="0"/>
          </a:p>
        </p:txBody>
      </p:sp>
      <p:sp>
        <p:nvSpPr>
          <p:cNvPr id="14" name="Shape 12"/>
          <p:cNvSpPr/>
          <p:nvPr/>
        </p:nvSpPr>
        <p:spPr>
          <a:xfrm>
            <a:off x="566928" y="3840480"/>
            <a:ext cx="11064240" cy="1060704"/>
          </a:xfrm>
          <a:prstGeom prst="roundRect">
            <a:avLst>
              <a:gd name="adj" fmla="val 6034"/>
            </a:avLst>
          </a:prstGeom>
          <a:solidFill>
            <a:srgbClr val="2C3670"/>
          </a:solidFill>
          <a:ln/>
        </p:spPr>
      </p:sp>
      <p:sp>
        <p:nvSpPr>
          <p:cNvPr id="15" name="Shape 13"/>
          <p:cNvSpPr/>
          <p:nvPr/>
        </p:nvSpPr>
        <p:spPr>
          <a:xfrm>
            <a:off x="822960" y="4169664"/>
            <a:ext cx="402336" cy="402336"/>
          </a:xfrm>
          <a:prstGeom prst="ellipse">
            <a:avLst/>
          </a:prstGeom>
          <a:solidFill>
            <a:srgbClr val="C8791E"/>
          </a:solidFill>
          <a:ln/>
        </p:spPr>
      </p:sp>
      <p:sp>
        <p:nvSpPr>
          <p:cNvPr id="16" name="Text 14"/>
          <p:cNvSpPr/>
          <p:nvPr/>
        </p:nvSpPr>
        <p:spPr>
          <a:xfrm>
            <a:off x="822960" y="4169664"/>
            <a:ext cx="402336" cy="402336"/>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26464" y="4023360"/>
            <a:ext cx="45720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Which audience is sponsoring?</a:t>
            </a:r>
            <a:endParaRPr lang="en-US" sz="1350" dirty="0"/>
          </a:p>
        </p:txBody>
      </p:sp>
      <p:sp>
        <p:nvSpPr>
          <p:cNvPr id="18" name="Text 16"/>
          <p:cNvSpPr/>
          <p:nvPr/>
        </p:nvSpPr>
        <p:spPr>
          <a:xfrm>
            <a:off x="1426464" y="4352544"/>
            <a:ext cx="9875520" cy="457200"/>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The order and finance options (6, 7, 8) carry hard-dollar measurement and a finance sponsor. The marketing options (2, 4, 5) carry strategic narrative but softer measurement. These are different pitches to different people.</a:t>
            </a:r>
            <a:endParaRPr lang="en-US" sz="1050" dirty="0"/>
          </a:p>
        </p:txBody>
      </p:sp>
      <p:sp>
        <p:nvSpPr>
          <p:cNvPr id="19" name="Shape 17"/>
          <p:cNvSpPr/>
          <p:nvPr/>
        </p:nvSpPr>
        <p:spPr>
          <a:xfrm>
            <a:off x="566928" y="4992624"/>
            <a:ext cx="11064240" cy="1060704"/>
          </a:xfrm>
          <a:prstGeom prst="roundRect">
            <a:avLst>
              <a:gd name="adj" fmla="val 6034"/>
            </a:avLst>
          </a:prstGeom>
          <a:solidFill>
            <a:srgbClr val="2C3670"/>
          </a:solidFill>
          <a:ln/>
        </p:spPr>
      </p:sp>
      <p:sp>
        <p:nvSpPr>
          <p:cNvPr id="20" name="Shape 18"/>
          <p:cNvSpPr/>
          <p:nvPr/>
        </p:nvSpPr>
        <p:spPr>
          <a:xfrm>
            <a:off x="822960" y="5321808"/>
            <a:ext cx="402336" cy="402336"/>
          </a:xfrm>
          <a:prstGeom prst="ellipse">
            <a:avLst/>
          </a:prstGeom>
          <a:solidFill>
            <a:srgbClr val="C8791E"/>
          </a:solidFill>
          <a:ln/>
        </p:spPr>
      </p:sp>
      <p:sp>
        <p:nvSpPr>
          <p:cNvPr id="21" name="Text 19"/>
          <p:cNvSpPr/>
          <p:nvPr/>
        </p:nvSpPr>
        <p:spPr>
          <a:xfrm>
            <a:off x="822960" y="5321808"/>
            <a:ext cx="402336" cy="402336"/>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426464" y="5175504"/>
            <a:ext cx="457200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does the ontology need to cover?</a:t>
            </a:r>
            <a:endParaRPr lang="en-US" sz="1350" dirty="0"/>
          </a:p>
        </p:txBody>
      </p:sp>
      <p:sp>
        <p:nvSpPr>
          <p:cNvPr id="23" name="Text 21"/>
          <p:cNvSpPr/>
          <p:nvPr/>
        </p:nvSpPr>
        <p:spPr>
          <a:xfrm>
            <a:off x="1426464" y="5504688"/>
            <a:ext cx="9875520" cy="457200"/>
          </a:xfrm>
          <a:prstGeom prst="rect">
            <a:avLst/>
          </a:prstGeom>
          <a:noFill/>
          <a:ln/>
        </p:spPr>
        <p:txBody>
          <a:bodyPr wrap="square" lIns="0" tIns="0" rIns="0" bIns="0" rtlCol="0" anchor="ctr"/>
          <a:lstStyle/>
          <a:p>
            <a:pPr indent="0" marL="0">
              <a:buNone/>
            </a:pPr>
            <a:r>
              <a:rPr lang="en-US" sz="1050" dirty="0">
                <a:solidFill>
                  <a:srgbClr val="D6E4EC"/>
                </a:solidFill>
                <a:latin typeface="Calibri" pitchFamily="34" charset="0"/>
                <a:ea typeface="Calibri" pitchFamily="34" charset="-122"/>
                <a:cs typeface="Calibri" pitchFamily="34" charset="-120"/>
              </a:rPr>
              <a:t>The choice determines the semantic layer scope. Options 6–9 imply customer hierarchy, item hierarchy, trade agreement and order lifecycle. Options 2, 4 and 5 imply a marketing and content vocabulary instead. Meaningfully different modelling exercises.</a:t>
            </a:r>
            <a:endParaRPr lang="en-US" sz="1050" dirty="0"/>
          </a:p>
        </p:txBody>
      </p:sp>
      <p:sp>
        <p:nvSpPr>
          <p:cNvPr id="24" name="Text 22"/>
          <p:cNvSpPr/>
          <p:nvPr/>
        </p:nvSpPr>
        <p:spPr>
          <a:xfrm>
            <a:off x="566928" y="5870448"/>
            <a:ext cx="11064240" cy="329184"/>
          </a:xfrm>
          <a:prstGeom prst="rect">
            <a:avLst/>
          </a:prstGeom>
          <a:noFill/>
          <a:ln/>
        </p:spPr>
        <p:txBody>
          <a:bodyPr wrap="square" lIns="0" tIns="0" rIns="0" bIns="0" rtlCol="0" anchor="ctr"/>
          <a:lstStyle/>
          <a:p>
            <a:pPr indent="0" marL="0">
              <a:buNone/>
            </a:pPr>
            <a:r>
              <a:rPr lang="en-US" sz="1150" i="1" dirty="0">
                <a:solidFill>
                  <a:srgbClr val="C8791E"/>
                </a:solidFill>
                <a:latin typeface="Calibri" pitchFamily="34" charset="0"/>
                <a:ea typeface="Calibri" pitchFamily="34" charset="-122"/>
                <a:cs typeface="Calibri" pitchFamily="34" charset="-120"/>
              </a:rPr>
              <a:t>The ontology work is the natural next step — but its scope depends on which cluster of use cases is chosen, so that decision comes first.</a:t>
            </a:r>
            <a:endParaRPr lang="en-US" sz="1150" dirty="0"/>
          </a:p>
        </p:txBody>
      </p:sp>
      <p:sp>
        <p:nvSpPr>
          <p:cNvPr id="25" name="Text 23"/>
          <p:cNvSpPr/>
          <p:nvPr/>
        </p:nvSpPr>
        <p:spPr>
          <a:xfrm>
            <a:off x="566928" y="6382512"/>
            <a:ext cx="8686800" cy="237744"/>
          </a:xfrm>
          <a:prstGeom prst="rect">
            <a:avLst/>
          </a:prstGeom>
          <a:noFill/>
          <a:ln/>
        </p:spPr>
        <p:txBody>
          <a:bodyPr wrap="square" lIns="0" tIns="0" rIns="0" bIns="0" rtlCol="0" anchor="ctr"/>
          <a:lstStyle/>
          <a:p>
            <a:pPr indent="0" marL="0">
              <a:buNone/>
            </a:pPr>
            <a:r>
              <a:rPr lang="en-US" sz="850" dirty="0">
                <a:solidFill>
                  <a:srgbClr val="8FA6B4"/>
                </a:solidFill>
                <a:latin typeface="Calibri" pitchFamily="34" charset="0"/>
                <a:ea typeface="Calibri" pitchFamily="34" charset="-122"/>
                <a:cs typeface="Calibri" pitchFamily="34" charset="-120"/>
              </a:rPr>
              <a:t>Agent mesh use case options  ·  e.l.f. Beauty  ·  Working document, July 2026</a:t>
            </a:r>
            <a:endParaRPr lang="en-US" sz="850" dirty="0"/>
          </a:p>
        </p:txBody>
      </p:sp>
      <p:sp>
        <p:nvSpPr>
          <p:cNvPr id="26" name="Text 24"/>
          <p:cNvSpPr/>
          <p:nvPr/>
        </p:nvSpPr>
        <p:spPr>
          <a:xfrm>
            <a:off x="11155680" y="6382512"/>
            <a:ext cx="457200" cy="237744"/>
          </a:xfrm>
          <a:prstGeom prst="rect">
            <a:avLst/>
          </a:prstGeom>
          <a:noFill/>
          <a:ln/>
        </p:spPr>
        <p:txBody>
          <a:bodyPr wrap="square" lIns="0" tIns="0" rIns="0" bIns="0" rtlCol="0" anchor="ctr"/>
          <a:lstStyle/>
          <a:p>
            <a:pPr algn="r" indent="0" marL="0">
              <a:buNone/>
            </a:pPr>
            <a:r>
              <a:rPr lang="en-US" sz="850" b="1" dirty="0">
                <a:solidFill>
                  <a:srgbClr val="8FA6B4"/>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2026-07-24T10:50:04Z</dcterms:created>
  <dcterms:modified xsi:type="dcterms:W3CDTF">2026-07-24T10:50:04Z</dcterms:modified>
</cp:coreProperties>
</file>